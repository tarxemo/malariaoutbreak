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300" r:id="rId3"/>
    <p:sldId id="385" r:id="rId4"/>
    <p:sldId id="376" r:id="rId5"/>
    <p:sldId id="4785" r:id="rId6"/>
    <p:sldId id="4786" r:id="rId7"/>
    <p:sldId id="403" r:id="rId8"/>
    <p:sldId id="402" r:id="rId9"/>
    <p:sldId id="404" r:id="rId10"/>
    <p:sldId id="4781" r:id="rId11"/>
    <p:sldId id="4780" r:id="rId12"/>
    <p:sldId id="394" r:id="rId13"/>
    <p:sldId id="399" r:id="rId14"/>
    <p:sldId id="395" r:id="rId15"/>
    <p:sldId id="328" r:id="rId16"/>
    <p:sldId id="314" r:id="rId17"/>
    <p:sldId id="397" r:id="rId18"/>
  </p:sldIdLst>
  <p:sldSz cx="12192000" cy="6858000"/>
  <p:notesSz cx="6858000" cy="9947275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369B62-ACEA-9271-7BE8-4D191C1086EF}" name="Deodatus Mwingizi" initials="DM" userId="S::deo.mwingizi@jhuccptz.org::540fae41-884d-4d50-9ebf-53e53d01954c" providerId="AD"/>
  <p188:author id="{6508CD9E-2423-B24E-98A2-881D24464FF7}" name="Jacqueline Anita Madundo" initials="JAM" userId="S::jacqueline.anita-madundo@jhuccptz.org::3236de2d-b655-405d-b4ac-ac29d0a72781" providerId="AD"/>
  <p188:author id="{30C452D1-3628-8081-BD68-8AD5F065743E}" name="Richmond Ato Selby" initials="RAS" userId="S::rselby3@jh.edu::e94a766f-08de-4b23-a6d6-9c6bfa01033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iza" initials="FA" lastIdx="4" clrIdx="0">
    <p:extLst>
      <p:ext uri="{19B8F6BF-5375-455C-9EA6-DF929625EA0E}">
        <p15:presenceInfo xmlns:p15="http://schemas.microsoft.com/office/powerpoint/2012/main" userId="Faiz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13" autoAdjust="0"/>
    <p:restoredTop sz="94660"/>
  </p:normalViewPr>
  <p:slideViewPr>
    <p:cSldViewPr snapToGrid="0">
      <p:cViewPr varScale="1">
        <p:scale>
          <a:sx n="73" d="100"/>
          <a:sy n="73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97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02-26T08:59:18.12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21729 17239 0,'50'0'390,"-26"0"-374,1 0-1,99 25 1,-74 0 0,99-25-1,-50 0 1,0 25 0,-74-1-16,198 1 15,50 25 1,-50-50-1,-74 0 1,-99 0-16,-26 0 47,26 0-31,0 25 15,-26-25-16,1 0 1,0 0 0,223 74 31,50-24-32,-199-25-15,0-1 16,124 1-1,-173-25 1,0 0 0,-26 25 77,26 0-77,-25-25 0,24 25-1,-24-25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02-26T08:59:20.687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24408 17140 0,'-25'-25'47,"25"0"-16,-25 25-15,0 0-1,-74-24 1,-50-51 0,75 50-16,-125-24 15,125 49 1,-124-75-1,-26 1 1,1 24 0,50 26-1,49 24 1,49 0 0,-99-50-1,26 25 1,-51 25-1,125 0-15,-1 0 16,1 0 0,0 0-16,-75 0 15,49 0 1,26 0 15,24 25-15,26 0-1,-1 0 1,-74 49 0,24 0-1,1 26 1,24 24 0,1-25-1,49-74-15,-25 49 31,0 0-15,25 50 0,0-74-1,0-25 17,0 49-17,0 1 1,0 24-1,0-25 17,50 50-17,-26-49 1,1-1 0,25 1-1,49 24 1,-25-25-1,1 1 1,24-26 0,-25 26-1,-49-75 1,99 49 0,50 1-1,0-25 1,-26 24-1,1-24 1,0 0 0,0-25-1,-25 0 17,0 0-17,-50 0 1,-49 0-1,0 0-15,25 0 16,247-25 0,-98-49-1,-26 49 1,-98-25 0,-50 1-1,24 24 1,50 0-1,-49-25 1,24 1 15,-24-1-31,24-24 32,-24 49-32,24-25 31,-74 26-16,25-1 1,-25-25 0,25-24-1,0 49 1,-25-25 0,0 1-1,0-26 1,0 51-1,0-1-15,0-50 16,0-24 0,0 74-1,0-49 1,0 24 0,0 1-1,-25-1 1,0 0-1,25 26 17,-25-1-32,25-25 31,0 25 0,0 1-15,-24-26 31,24 25 0,-25 0 187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3B79E-86C9-774E-86EB-1C5C67AD7A67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7900"/>
            <a:ext cx="5486400" cy="3916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9E812-0047-324A-9EF2-84A0EDA2DF70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70142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9E812-0047-324A-9EF2-84A0EDA2DF70}" type="slidenum">
              <a:rPr lang="en-TZ" smtClean="0"/>
              <a:t>4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663888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AB93-C97D-4B9F-905F-92F3FF4D5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7A479-D049-4CF1-A0A5-7B246D8A4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7E439-6FF5-4D60-BD94-0CBCBB89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447E3-1925-4C80-9315-F0B61EA5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8AA2E-50C1-47F4-8535-45E81168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74026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C07AF-384F-41C1-A1EC-FFFABF1D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3324C-AE9C-4F19-973B-A685EBAEB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9A4AC-69F8-404C-9C44-4423E6AD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0B515-A1A3-4155-8335-AEE13865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E2D2-BEB7-4300-B014-110DE992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5484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BFEA-1EBE-44FC-BE5C-6E86412A8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F0BD9-0202-443C-A1A0-54FD74D7E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F9295-B00F-4C73-B171-FC89DE61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E33C0-1EC8-484C-92D9-E696FE6F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B23BE-872C-4A4F-A9CE-125C111D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7334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255B-DECF-4CB5-BDB5-AD2040CC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6E520-0577-4DF4-9AE6-896B939A7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E5BAF-916D-425F-9710-843BAA9E8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A042C-A146-4A58-B025-CFE8C5B7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10736-4D57-4785-8809-B6D8947C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700A2-90F1-4E99-A687-6992976B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170653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E8C61-2AE8-4DAC-AD74-DFDAA575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2D6A5-A863-40A5-B3A1-59FF5BB0B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1497F-F0F9-4641-8DE2-B55B5CC25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D50F5-8162-4F3B-BE8E-706AE6174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EE22D-A22A-4AC2-880E-ECF415E6C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3546AF-3AF9-4F0E-B243-74BC97FEE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A4302-AFE3-4B05-8696-B96E599C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E78577-7A2E-43EC-864E-BAA26C37A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959531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6D9B-EE07-4D7E-948B-22D334EA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9C317D-36F0-4214-8FB1-0FA0FE56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43858-54D2-4BE7-91F8-6F9A4F5E7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D7F5D-3BAE-403C-A1C7-1B15A0EE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8554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A7BE1-F43E-4CEA-AA6F-E1C36F59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99389-3404-45FF-B58C-41390D25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4E13-5D65-4A15-AA72-D007525D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86801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CC7AC-B64A-4510-AF7E-9A09EA3A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7B752-FA9A-4F6D-A49D-6E5A5E79B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F7FED-0BB5-4D68-BB64-3D49A3215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ED767-EA76-4729-894D-79B601AFD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3D43A-E8FF-479F-A34F-B7AD278FF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6047E-12AC-4FF2-9A69-CA3D49A3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10613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7D65-CC85-473C-A6DB-FA214FD5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7DCF3D-BA7F-4E66-ACC3-B8A9E42EE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3F0D2-8DF2-457C-B3D8-C1BFA04A2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B17E9-49AD-4AA9-A54A-526F1193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F2CBB-40C9-4108-8890-38D319282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37739-967F-4587-9A44-4D480979E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63045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7625-8628-4F1D-8934-655A47E6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85B2D-6538-4754-B15D-D1B042292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3C46E-3FEE-49AB-AAD6-54182E3C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C1A2E-1E0B-4095-A1F0-6D4F6F7F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4B4BB-6719-4B61-BECA-246F5E7D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6438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3AFD0-87CE-4FA7-A347-690341F48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0435E-157D-46D2-AFE3-4D4CA7A27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A0428-1D11-41D0-AF37-813676F1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73B73-0F7B-43E3-A140-87D50DBC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104C4-CD33-4F92-A0D6-AD1B695E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99041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perBackingColor.jpg">
            <a:extLst>
              <a:ext uri="{FF2B5EF4-FFF2-40B4-BE49-F238E27FC236}">
                <a16:creationId xmlns:a16="http://schemas.microsoft.com/office/drawing/2014/main" id="{55ADC4CD-FEC6-427F-8B36-4F18DC8D6F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469" t="13915"/>
          <a:stretch>
            <a:fillRect/>
          </a:stretch>
        </p:blipFill>
        <p:spPr>
          <a:xfrm>
            <a:off x="-1" y="-1"/>
            <a:ext cx="12192001" cy="971266"/>
          </a:xfrm>
          <a:prstGeom prst="rect">
            <a:avLst/>
          </a:prstGeom>
          <a:solidFill>
            <a:srgbClr val="FFFFFF">
              <a:shade val="85000"/>
            </a:srgbClr>
          </a:solidFill>
          <a:ln w="22225" cap="sq">
            <a:solidFill>
              <a:srgbClr val="FDFDFD"/>
            </a:solidFill>
            <a:miter lim="800000"/>
          </a:ln>
          <a:effectLst>
            <a:outerShdw blurRad="57150" dist="37500" dir="7560000" sy="98000" kx="80000" ky="63000" algn="tl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3" name="Picture 1">
            <a:extLst>
              <a:ext uri="{FF2B5EF4-FFF2-40B4-BE49-F238E27FC236}">
                <a16:creationId xmlns:a16="http://schemas.microsoft.com/office/drawing/2014/main" id="{C8996555-C14B-4BCB-A112-1E5DFB46DD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918486"/>
            <a:ext cx="2638424" cy="971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726C9A50-D1D5-4E28-9B8E-C1C1222F25B6}"/>
              </a:ext>
            </a:extLst>
          </p:cNvPr>
          <p:cNvSpPr txBox="1">
            <a:spLocks/>
          </p:cNvSpPr>
          <p:nvPr userDrawn="1"/>
        </p:nvSpPr>
        <p:spPr>
          <a:xfrm>
            <a:off x="1701801" y="39689"/>
            <a:ext cx="8583084" cy="8842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Pct val="90000"/>
              <a:buFont typeface="Wingdings" pitchFamily="2" charset="2"/>
              <a:buNone/>
              <a:defRPr sz="2000" kern="120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12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1200"/>
              </a:spcBef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12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1200"/>
              </a:spcBef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000" b="1" dirty="0"/>
              <a:t>FY 2025, ZAMEP-PMI CONSULTATIVE MEETING March, 18</a:t>
            </a:r>
            <a:r>
              <a:rPr lang="en-US" sz="2000" b="1" baseline="30000" dirty="0"/>
              <a:t>th</a:t>
            </a:r>
            <a:r>
              <a:rPr lang="en-US" sz="2000" b="1" dirty="0"/>
              <a:t> -19</a:t>
            </a:r>
            <a:r>
              <a:rPr lang="en-US" sz="2000" b="1" baseline="30000" dirty="0"/>
              <a:t>th</a:t>
            </a:r>
            <a:r>
              <a:rPr lang="en-US" sz="2000" b="1" dirty="0"/>
              <a:t> 2024</a:t>
            </a:r>
          </a:p>
        </p:txBody>
      </p:sp>
      <p:pic>
        <p:nvPicPr>
          <p:cNvPr id="6" name="Picture 5" descr="paperBackingColor.jpg">
            <a:extLst>
              <a:ext uri="{FF2B5EF4-FFF2-40B4-BE49-F238E27FC236}">
                <a16:creationId xmlns:a16="http://schemas.microsoft.com/office/drawing/2014/main" id="{CACFA12E-8C87-4964-AA96-5D8E055436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469" t="13915"/>
          <a:stretch>
            <a:fillRect/>
          </a:stretch>
        </p:blipFill>
        <p:spPr>
          <a:xfrm>
            <a:off x="2556689" y="2843984"/>
            <a:ext cx="6989388" cy="2074600"/>
          </a:xfrm>
          <a:prstGeom prst="rect">
            <a:avLst/>
          </a:prstGeom>
          <a:solidFill>
            <a:srgbClr val="FFFFFF">
              <a:shade val="85000"/>
            </a:srgbClr>
          </a:solidFill>
          <a:ln w="22225" cap="sq">
            <a:solidFill>
              <a:srgbClr val="FDFDFD"/>
            </a:solidFill>
            <a:miter lim="800000"/>
          </a:ln>
          <a:effectLst>
            <a:outerShdw blurRad="57150" dist="37500" dir="7560000" sy="98000" kx="80000" ky="63000" algn="tl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7" name="Horizontal Scroll 11">
            <a:extLst>
              <a:ext uri="{FF2B5EF4-FFF2-40B4-BE49-F238E27FC236}">
                <a16:creationId xmlns:a16="http://schemas.microsoft.com/office/drawing/2014/main" id="{82AC8550-7E23-40E9-877A-3CC9C448E100}"/>
              </a:ext>
            </a:extLst>
          </p:cNvPr>
          <p:cNvSpPr/>
          <p:nvPr userDrawn="1"/>
        </p:nvSpPr>
        <p:spPr>
          <a:xfrm>
            <a:off x="7836035" y="5466475"/>
            <a:ext cx="4216923" cy="1295019"/>
          </a:xfrm>
          <a:prstGeom prst="horizont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D66604E-384C-4AF9-A18F-4352228ED022}"/>
              </a:ext>
            </a:extLst>
          </p:cNvPr>
          <p:cNvPicPr>
            <a:picLocks noChangeAspect="1" noChangeArrowheads="1" noCrop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3284" y="0"/>
            <a:ext cx="1979083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2C99CEB-8EFE-4BD4-BA8B-A684AD57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FDEA52-D214-4554-BC1C-690F79F71B5A}" type="datetimeFigureOut">
              <a:rPr lang="en-US"/>
              <a:pPr>
                <a:defRPr/>
              </a:pPr>
              <a:t>10/15/2024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E51C284-74A5-4C67-858E-818D2117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53F3BCF-683B-4B93-80DC-984035D0A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5E780D1-9281-4588-99CA-64817FF5E89E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289D2F-B6B5-4549-BC5F-C90660599DA0}"/>
              </a:ext>
            </a:extLst>
          </p:cNvPr>
          <p:cNvPicPr/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4" y="39689"/>
            <a:ext cx="1481667" cy="884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8461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2"/>
          <p:cNvSpPr txBox="1">
            <a:spLocks noGrp="1"/>
          </p:cNvSpPr>
          <p:nvPr>
            <p:ph type="title"/>
          </p:nvPr>
        </p:nvSpPr>
        <p:spPr>
          <a:xfrm>
            <a:off x="1043354" y="365125"/>
            <a:ext cx="1031044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2"/>
          <p:cNvSpPr txBox="1">
            <a:spLocks noGrp="1"/>
          </p:cNvSpPr>
          <p:nvPr>
            <p:ph type="body" idx="1"/>
          </p:nvPr>
        </p:nvSpPr>
        <p:spPr>
          <a:xfrm>
            <a:off x="1043352" y="2086707"/>
            <a:ext cx="10310447" cy="3704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Char char="•"/>
              <a:defRPr b="1">
                <a:solidFill>
                  <a:srgbClr val="7F7F7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36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2D60F1-0510-4E00-9822-569DCF38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81ADC-379C-494A-A5DE-57A9069D1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C904F-3EC8-4207-A19A-6994CDACC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80C9B-569F-4B87-B19A-1E5573ACACBD}" type="datetimeFigureOut">
              <a:rPr lang="en-TZ" smtClean="0"/>
              <a:t>10/15/2024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999D7-7606-4A13-9CFB-FED6A2965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6A49E-7808-4E76-97CA-819603108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B7DD2-47E1-4D91-89C4-BFFAF6C80C9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8857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8186BFF-61BB-4073-A985-972E7391C2EA}"/>
              </a:ext>
            </a:extLst>
          </p:cNvPr>
          <p:cNvSpPr txBox="1">
            <a:spLocks/>
          </p:cNvSpPr>
          <p:nvPr/>
        </p:nvSpPr>
        <p:spPr>
          <a:xfrm>
            <a:off x="3128781" y="2439738"/>
            <a:ext cx="5584825" cy="1838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Pct val="90000"/>
              <a:buFont typeface="Wingdings" pitchFamily="2" charset="2"/>
              <a:buNone/>
              <a:defRPr sz="3600" b="1" kern="1200">
                <a:solidFill>
                  <a:srgbClr val="8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E45692-0513-480D-BF57-6B2C0DCA70BA}"/>
              </a:ext>
            </a:extLst>
          </p:cNvPr>
          <p:cNvSpPr txBox="1">
            <a:spLocks/>
          </p:cNvSpPr>
          <p:nvPr/>
        </p:nvSpPr>
        <p:spPr>
          <a:xfrm>
            <a:off x="1508126" y="1404938"/>
            <a:ext cx="9159875" cy="723900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kern="1200" baseline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dirty="0">
                <a:solidFill>
                  <a:schemeClr val="bg1"/>
                </a:solidFill>
              </a:rPr>
              <a:t>Session: Prevention and Vector Control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766DDB2-DBD7-4A12-A423-1699F41BE702}"/>
              </a:ext>
            </a:extLst>
          </p:cNvPr>
          <p:cNvSpPr txBox="1">
            <a:spLocks/>
          </p:cNvSpPr>
          <p:nvPr/>
        </p:nvSpPr>
        <p:spPr>
          <a:xfrm>
            <a:off x="7832034" y="5629275"/>
            <a:ext cx="4240695" cy="94380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24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Shara Hemed </a:t>
            </a:r>
          </a:p>
          <a:p>
            <a:pPr>
              <a:spcBef>
                <a:spcPct val="20000"/>
              </a:spcBef>
              <a:defRPr/>
            </a:pPr>
            <a:r>
              <a:rPr lang="en-US" sz="24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ZAMEP</a:t>
            </a:r>
          </a:p>
        </p:txBody>
      </p:sp>
      <p:sp>
        <p:nvSpPr>
          <p:cNvPr id="7173" name="Rectangle 6">
            <a:extLst>
              <a:ext uri="{FF2B5EF4-FFF2-40B4-BE49-F238E27FC236}">
                <a16:creationId xmlns:a16="http://schemas.microsoft.com/office/drawing/2014/main" id="{B9C1E95C-6EA9-45B6-88C6-C0461AD72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976" y="2890391"/>
            <a:ext cx="691804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algn="ctr" fontAlgn="base"/>
            <a:r>
              <a:rPr lang="en-US" sz="2800" b="1" i="1" dirty="0">
                <a:solidFill>
                  <a:schemeClr val="bg1"/>
                </a:solidFill>
                <a:latin typeface="Calibri" panose="020F0502020204030204" pitchFamily="34" charset="0"/>
                <a:ea typeface="Candara" panose="020E0502030303020204" pitchFamily="34" charset="0"/>
                <a:cs typeface="Noto Sans Symbols"/>
              </a:rPr>
              <a:t>Up to date on 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ndara" panose="020E0502030303020204" pitchFamily="34" charset="0"/>
                <a:cs typeface="Noto Sans Symbols"/>
              </a:rPr>
              <a:t> ITN</a:t>
            </a:r>
            <a:r>
              <a:rPr lang="en-US" sz="2800" b="1" i="1" dirty="0">
                <a:solidFill>
                  <a:schemeClr val="bg1"/>
                </a:solidFill>
                <a:latin typeface="Calibri" panose="020F0502020204030204" pitchFamily="34" charset="0"/>
                <a:ea typeface="Candara" panose="020E0502030303020204" pitchFamily="34" charset="0"/>
                <a:cs typeface="Noto Sans Symbols"/>
              </a:rPr>
              <a:t> distribution through 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ndara" panose="020E0502030303020204" pitchFamily="34" charset="0"/>
                <a:cs typeface="Noto Sans Symbols"/>
              </a:rPr>
              <a:t> ANC and MRC Zanzibar</a:t>
            </a:r>
            <a:endParaRPr lang="en-TZ" sz="2800" b="1" dirty="0">
              <a:solidFill>
                <a:schemeClr val="bg1"/>
              </a:solidFill>
              <a:effectLst/>
              <a:latin typeface="Noto Sans Symbols"/>
              <a:ea typeface="Noto Sans Symbols"/>
              <a:cs typeface="Noto Sans Symbol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8335CBCE-C2EE-4EA0-9D18-3D5536AD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4" y="216684"/>
            <a:ext cx="11156576" cy="792966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1"/>
                </a:solidFill>
              </a:rPr>
              <a:t>Presentation outline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F186043C-0A28-4C93-9B99-B707A4708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84" y="1283094"/>
            <a:ext cx="11572406" cy="5122469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 distribution scheme</a:t>
            </a:r>
          </a:p>
          <a:p>
            <a:pPr lvl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ITNs issued through ANC in 2023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Mini MRC 2023 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 for upcoming MRC 2024</a:t>
            </a:r>
          </a:p>
          <a:p>
            <a:pPr lvl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line for MRC 2024 </a:t>
            </a:r>
          </a:p>
          <a:p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activities to support ANC distribution in 2022</a:t>
            </a:r>
          </a:p>
          <a:p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to date on upcoming MRC </a:t>
            </a:r>
          </a:p>
          <a:p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LLIN distribution operational challenges</a:t>
            </a:r>
          </a:p>
          <a:p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LLIN priority areas for 2024</a:t>
            </a:r>
          </a:p>
          <a:p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for 2023 priority 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6465-DFD9-50DA-9C75-EAFC13365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7" y="200025"/>
            <a:ext cx="11246224" cy="84772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Introduction</a:t>
            </a:r>
            <a:endParaRPr lang="en-TZ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D9432-FBD5-2750-9830-48909F09C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14426"/>
            <a:ext cx="11753850" cy="55435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Ministry of Health Zanzibar through ZAMEP is continuing to provide service of free ITNs  distribution through:  </a:t>
            </a:r>
          </a:p>
          <a:p>
            <a:pPr lvl="1"/>
            <a:r>
              <a:rPr lang="en-GB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 distribution scheme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Pregnant women during the 1</a:t>
            </a:r>
            <a:r>
              <a:rPr lang="en-GB" sz="2000" b="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GB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visit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Children at nine months when attending HFs for MR1 vaccination</a:t>
            </a:r>
          </a:p>
          <a:p>
            <a:r>
              <a:rPr lang="en-GB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MRC after every 2.5yrs</a:t>
            </a:r>
          </a:p>
          <a:p>
            <a:pPr marL="914400" lvl="2" indent="0">
              <a:buNone/>
            </a:pPr>
            <a:endParaRPr lang="en-GB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the distribution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maximizing ITNs ownership and usage at household level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people are prevented from getting malaria transmission by proper use of ITNs</a:t>
            </a:r>
          </a:p>
          <a:p>
            <a:pPr marL="457200" lvl="1" indent="0">
              <a:buNone/>
            </a:pPr>
            <a:r>
              <a:rPr lang="en-GB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throughout a year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distribution schemes are supported technically by USAID under TVCA project TZ </a:t>
            </a:r>
            <a:endParaRPr lang="en-US" sz="2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56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113A-BF11-7140-A68B-FD8E406A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71" y="287974"/>
            <a:ext cx="11342914" cy="65500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ANC distribution</a:t>
            </a:r>
            <a:endParaRPr lang="en-TZ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14D0D-8215-A44A-B843-8C6B2C3CD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976"/>
            <a:ext cx="12040961" cy="5767106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182 HFs are involving in ANC distribution scheme (Unguja109,  Pemba 73)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trend is monitored by using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Chandarua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Kliniki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Supervision visits are conducted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dashboard information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in quarterly basis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that are identified with challenges are given priority for supervision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integration distribution approach that involving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HMIS of MOH     - data mgt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ZAMEP                - overall coordinator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TVCA                   - provide TA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GHSC                   - monitoring distribution trend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LMU of MOH      - monitoring distribution trend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HFs		- net issuing to customers</a:t>
            </a:r>
          </a:p>
        </p:txBody>
      </p:sp>
    </p:spTree>
    <p:extLst>
      <p:ext uri="{BB962C8B-B14F-4D97-AF65-F5344CB8AC3E}">
        <p14:creationId xmlns:p14="http://schemas.microsoft.com/office/powerpoint/2010/main" val="38476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59" y="1"/>
            <a:ext cx="11317942" cy="99508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/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ANC ITNs issued Jan – Dec 2023 vs target groups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7216735"/>
              </p:ext>
            </p:extLst>
          </p:nvPr>
        </p:nvGraphicFramePr>
        <p:xfrm>
          <a:off x="219075" y="1075690"/>
          <a:ext cx="11753850" cy="495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8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1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42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3200" b="0">
                          <a:effectLst/>
                        </a:rPr>
                        <a:t>Target groups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0">
                          <a:effectLst/>
                        </a:rPr>
                        <a:t>Target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0">
                          <a:effectLst/>
                        </a:rPr>
                        <a:t>ITNs issued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0">
                          <a:effectLst/>
                        </a:rPr>
                        <a:t>Percentage</a:t>
                      </a: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42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3200" b="0">
                          <a:effectLst/>
                        </a:rPr>
                        <a:t>Pregnant women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0">
                          <a:effectLst/>
                        </a:rPr>
                        <a:t>          70,520 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0">
                          <a:effectLst/>
                        </a:rPr>
                        <a:t>68132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0">
                          <a:effectLst/>
                        </a:rPr>
                        <a:t>97</a:t>
                      </a: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42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3200" b="0">
                          <a:effectLst/>
                        </a:rPr>
                        <a:t>MR1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0" dirty="0">
                          <a:effectLst/>
                        </a:rPr>
                        <a:t>          70,520 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0">
                          <a:effectLst/>
                        </a:rPr>
                        <a:t>65194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0">
                          <a:effectLst/>
                        </a:rPr>
                        <a:t>92</a:t>
                      </a: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1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3200" b="1">
                          <a:effectLst/>
                        </a:rPr>
                        <a:t>Total</a:t>
                      </a:r>
                    </a:p>
                  </a:txBody>
                  <a:tcPr marL="12700" marR="12700" marT="127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1">
                          <a:effectLst/>
                        </a:rPr>
                        <a:t>       141,040 </a:t>
                      </a:r>
                    </a:p>
                  </a:txBody>
                  <a:tcPr marL="12700" marR="12700" marT="127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1" dirty="0">
                          <a:effectLst/>
                        </a:rPr>
                        <a:t>133,326</a:t>
                      </a:r>
                    </a:p>
                  </a:txBody>
                  <a:tcPr marL="12700" marR="12700" marT="127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1" dirty="0">
                          <a:effectLst/>
                        </a:rPr>
                        <a:t>95</a:t>
                      </a:r>
                    </a:p>
                  </a:txBody>
                  <a:tcPr marL="12700" marR="12700" marT="1270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219075" y="6029325"/>
            <a:ext cx="4064000" cy="448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/>
              <a:t>Source: DHIS2 - HMIS Zanzibar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918" y="-66674"/>
            <a:ext cx="11205882" cy="739028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ANC ITNs issued Jan – Dec 2023 vs contact and doses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80975" y="558800"/>
          <a:ext cx="11925300" cy="5687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6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6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540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it-IT" sz="1600" b="1" u="none" strike="noStrike" dirty="0">
                          <a:effectLst/>
                        </a:rPr>
                        <a:t>ANC ITNs distribution scheme</a:t>
                      </a:r>
                      <a:endParaRPr lang="it-IT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Districts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ANC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MR 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 1st contact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LLINs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%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 Dose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LLINs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43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Chakechake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5,083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5,376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105.8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6,204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6,204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100.0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Micheweni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5,308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4,957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93.4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5,511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5,511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100.0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Mkoani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4,441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4,441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100.0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4,673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4,581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98.0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Wete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5,574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5,568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99.9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6,341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6,341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100.0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Kaskazini 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6,254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6,250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99.9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5,892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5,777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98.0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Kaskazini 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3,427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3,388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98.9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3,607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3,365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93.3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Kati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5,818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5,062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87.0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5,032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4,660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92.6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Kusini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2,258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2,336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103.5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2,214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2,113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95.4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Magharibi 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9,402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8,622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91.7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10,637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8,670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81.5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Magharibi 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10,388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9,697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93.3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11,172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8,912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79.8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Mjini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12,286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12,435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101.2 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10,023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9,060</a:t>
                      </a: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effectLst/>
                        </a:rPr>
                        <a:t>90.4 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Total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 dirty="0" err="1">
                          <a:effectLst/>
                        </a:rPr>
                        <a:t>70,239</a:t>
                      </a:r>
                    </a:p>
                  </a:txBody>
                  <a:tcPr marL="12700" marR="12700" marT="12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 dirty="0" err="1">
                          <a:effectLst/>
                        </a:rPr>
                        <a:t>68,132</a:t>
                      </a:r>
                    </a:p>
                  </a:txBody>
                  <a:tcPr marL="12700" marR="12700" marT="12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 dirty="0" err="1">
                          <a:effectLst/>
                        </a:rPr>
                        <a:t>97.0 </a:t>
                      </a:r>
                    </a:p>
                  </a:txBody>
                  <a:tcPr marL="12700" marR="12700" marT="12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 dirty="0" err="1">
                          <a:effectLst/>
                        </a:rPr>
                        <a:t>71,306</a:t>
                      </a:r>
                    </a:p>
                  </a:txBody>
                  <a:tcPr marL="12700" marR="12700" marT="12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 dirty="0" err="1">
                          <a:effectLst/>
                        </a:rPr>
                        <a:t>65,194</a:t>
                      </a:r>
                    </a:p>
                  </a:txBody>
                  <a:tcPr marL="12700" marR="12700" marT="12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 dirty="0" err="1">
                          <a:effectLst/>
                        </a:rPr>
                        <a:t>91.4 </a:t>
                      </a:r>
                    </a:p>
                  </a:txBody>
                  <a:tcPr marL="12700" marR="12700" marT="1270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47955" y="6245860"/>
            <a:ext cx="4064000" cy="403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>
                <a:sym typeface="+mn-ea"/>
              </a:rPr>
              <a:t>Source: DHIS2 - HMIS Zanzibar</a:t>
            </a:r>
            <a:endParaRPr lang="en-U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C3E1-6039-43CD-AFBA-39D020316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94" y="147918"/>
            <a:ext cx="10871294" cy="753036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MRC 2023</a:t>
            </a:r>
            <a:endParaRPr lang="en-GB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6F593-2FE0-E362-9390-D7265FDDA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812" y="820272"/>
            <a:ext cx="11228294" cy="1035422"/>
          </a:xfrm>
        </p:spPr>
        <p:txBody>
          <a:bodyPr>
            <a:normAutofit fontScale="47500" lnSpcReduction="20000"/>
          </a:bodyPr>
          <a:lstStyle/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2023 a total of 75 </a:t>
            </a:r>
            <a:r>
              <a:rPr lang="en-GB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Shehia</a:t>
            </a:r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five districts have been given ITNs through min mass campaign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4A5E7-5D98-6227-521E-2FDF1A2B8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" y="1694329"/>
            <a:ext cx="4961965" cy="4867835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electronic registration was used at first for MRC Zanzibar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the 53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shehia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given ITNs in 2020 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identified to report abnormal number of cases by that time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22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shehia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given ITNs to reduce transmission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75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shehia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not be considered for 2024 MRC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998E58-4FA7-B17B-4908-4691E409B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360885"/>
              </p:ext>
            </p:extLst>
          </p:nvPr>
        </p:nvGraphicFramePr>
        <p:xfrm>
          <a:off x="5082990" y="1734674"/>
          <a:ext cx="6938683" cy="4891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786">
                  <a:extLst>
                    <a:ext uri="{9D8B030D-6E8A-4147-A177-3AD203B41FA5}">
                      <a16:colId xmlns:a16="http://schemas.microsoft.com/office/drawing/2014/main" val="3807737441"/>
                    </a:ext>
                  </a:extLst>
                </a:gridCol>
                <a:gridCol w="1048871">
                  <a:extLst>
                    <a:ext uri="{9D8B030D-6E8A-4147-A177-3AD203B41FA5}">
                      <a16:colId xmlns:a16="http://schemas.microsoft.com/office/drawing/2014/main" val="1492533289"/>
                    </a:ext>
                  </a:extLst>
                </a:gridCol>
                <a:gridCol w="1479177">
                  <a:extLst>
                    <a:ext uri="{9D8B030D-6E8A-4147-A177-3AD203B41FA5}">
                      <a16:colId xmlns:a16="http://schemas.microsoft.com/office/drawing/2014/main" val="4260378765"/>
                    </a:ext>
                  </a:extLst>
                </a:gridCol>
                <a:gridCol w="1479176">
                  <a:extLst>
                    <a:ext uri="{9D8B030D-6E8A-4147-A177-3AD203B41FA5}">
                      <a16:colId xmlns:a16="http://schemas.microsoft.com/office/drawing/2014/main" val="1481107293"/>
                    </a:ext>
                  </a:extLst>
                </a:gridCol>
                <a:gridCol w="1734673">
                  <a:extLst>
                    <a:ext uri="{9D8B030D-6E8A-4147-A177-3AD203B41FA5}">
                      <a16:colId xmlns:a16="http://schemas.microsoft.com/office/drawing/2014/main" val="2365753187"/>
                    </a:ext>
                  </a:extLst>
                </a:gridCol>
              </a:tblGrid>
              <a:tr h="990434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District</a:t>
                      </a:r>
                      <a:endParaRPr lang="en-GB" sz="220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Shehia covered</a:t>
                      </a:r>
                      <a:endParaRPr lang="en-GB" sz="220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/registration</a:t>
                      </a:r>
                      <a:endParaRPr lang="en-GB" sz="2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ITNs issued</a:t>
                      </a:r>
                      <a:endParaRPr lang="en-GB" sz="2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Proportion- attained</a:t>
                      </a:r>
                      <a:endParaRPr lang="en-GB" sz="2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8901760"/>
                  </a:ext>
                </a:extLst>
              </a:tr>
              <a:tr h="6501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76,286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67,662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5832488"/>
                  </a:ext>
                </a:extLst>
              </a:tr>
              <a:tr h="5647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West ‘B’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92,523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82,932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3925872"/>
                  </a:ext>
                </a:extLst>
              </a:tr>
              <a:tr h="66338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West ‘A’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77,673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71,089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0876707"/>
                  </a:ext>
                </a:extLst>
              </a:tr>
              <a:tr h="66338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33,008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29,819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3943705"/>
                  </a:ext>
                </a:extLst>
              </a:tr>
              <a:tr h="66338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 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679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653 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7657990"/>
                  </a:ext>
                </a:extLst>
              </a:tr>
              <a:tr h="654594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2400" b="1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  <a:endParaRPr lang="en-GB" sz="2400" b="1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400" b="1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GB" sz="2400" b="1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400" b="1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280,169 </a:t>
                      </a:r>
                      <a:endParaRPr lang="en-GB" sz="2400" b="1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400" b="1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252,155 </a:t>
                      </a:r>
                      <a:endParaRPr lang="en-GB" sz="2400" b="1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400" b="1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  <a:endParaRPr lang="en-GB" sz="2400" b="1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23563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58C69BB-1566-49A2-CBA9-33EFD911A7A2}"/>
                  </a:ext>
                </a:extLst>
              </p14:cNvPr>
              <p14:cNvContentPartPr/>
              <p14:nvPr/>
            </p14:nvContentPartPr>
            <p14:xfrm>
              <a:off x="7822440" y="6206040"/>
              <a:ext cx="1080720" cy="170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58C69BB-1566-49A2-CBA9-33EFD911A7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06600" y="6142680"/>
                <a:ext cx="11120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F21B7F6-948F-27F4-88ED-E1B3D788AC4C}"/>
                  </a:ext>
                </a:extLst>
              </p14:cNvPr>
              <p14:cNvContentPartPr/>
              <p14:nvPr/>
            </p14:nvContentPartPr>
            <p14:xfrm>
              <a:off x="7590240" y="5982840"/>
              <a:ext cx="1241640" cy="786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F21B7F6-948F-27F4-88ED-E1B3D788AC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4400" y="5919480"/>
                <a:ext cx="1272960" cy="91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2821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B780-5013-22AD-15AB-C6E26EBF6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25" y="201705"/>
            <a:ext cx="11232776" cy="954741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Preparation for MRC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F1FDA-A4BA-352A-BAA4-8C0664AD9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471" y="1196788"/>
            <a:ext cx="6010835" cy="5351929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MRC for 2024 is planned to take place on 27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April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MRC launching will take place on 25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April during the CWMD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313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shehia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(129-Pemba) will be benefited from the campaign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electronic registration system shall continue to be used for entire registration process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on the number of ITNs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provide ID number for HH member</a:t>
            </a:r>
          </a:p>
        </p:txBody>
      </p:sp>
      <p:pic>
        <p:nvPicPr>
          <p:cNvPr id="5" name="Content Placeholder 12" descr="A screenshot of a report&#10;&#10;Description automatically generated">
            <a:extLst>
              <a:ext uri="{FF2B5EF4-FFF2-40B4-BE49-F238E27FC236}">
                <a16:creationId xmlns:a16="http://schemas.microsoft.com/office/drawing/2014/main" id="{11B0A83E-7C66-C5A1-E301-D1A40C367A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04211" y="1358151"/>
            <a:ext cx="5404559" cy="506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0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B780-5013-22AD-15AB-C6E26EBF6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25" y="201705"/>
            <a:ext cx="11232776" cy="954741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Preparation for MRC 2024 </a:t>
            </a:r>
            <a:r>
              <a:rPr lang="en-GB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F1FDA-A4BA-352A-BAA4-8C0664AD9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471" y="1210235"/>
            <a:ext cx="6172200" cy="5459505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far the MRC task force established and continuing to meet for planning periodically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plan has been developed and started to be used for direction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total of 782,000LLINs is estimated to be distributed Unguja and Pemba at the end of campaign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GHSC the ITNs consignment shall arrive Zanzibar on the last week of March 2024 for the campaign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37C353F-2CC5-8AF8-EC29-325855DF7F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976" y="1263650"/>
            <a:ext cx="5455024" cy="537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67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B672-6B6C-03F7-9EF4-4E69E9B5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09" y="293916"/>
            <a:ext cx="10795822" cy="653938"/>
          </a:xfrm>
        </p:spPr>
        <p:txBody>
          <a:bodyPr/>
          <a:lstStyle/>
          <a:p>
            <a:pPr algn="ctr"/>
            <a:r>
              <a:rPr lang="en-TZ" sz="3750" dirty="0">
                <a:solidFill>
                  <a:srgbClr val="0070C0"/>
                </a:solidFill>
                <a:latin typeface="+mn-lt"/>
              </a:rPr>
              <a:t>MRC Timelines Summary</a:t>
            </a:r>
            <a:r>
              <a:rPr lang="en-GB" sz="3750" dirty="0">
                <a:solidFill>
                  <a:srgbClr val="0070C0"/>
                </a:solidFill>
                <a:latin typeface="+mn-lt"/>
              </a:rPr>
              <a:t>- 2024</a:t>
            </a:r>
            <a:endParaRPr lang="en-TZ" sz="3750" dirty="0">
              <a:solidFill>
                <a:srgbClr val="0070C0"/>
              </a:solidFill>
              <a:latin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49D99B-A9B8-2DB3-81FA-F8D0B9A9D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221719"/>
              </p:ext>
            </p:extLst>
          </p:nvPr>
        </p:nvGraphicFramePr>
        <p:xfrm>
          <a:off x="134472" y="1207625"/>
          <a:ext cx="10771096" cy="5458597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746810">
                  <a:extLst>
                    <a:ext uri="{9D8B030D-6E8A-4147-A177-3AD203B41FA5}">
                      <a16:colId xmlns:a16="http://schemas.microsoft.com/office/drawing/2014/main" val="1775448994"/>
                    </a:ext>
                  </a:extLst>
                </a:gridCol>
                <a:gridCol w="3079377">
                  <a:extLst>
                    <a:ext uri="{9D8B030D-6E8A-4147-A177-3AD203B41FA5}">
                      <a16:colId xmlns:a16="http://schemas.microsoft.com/office/drawing/2014/main" val="2576677600"/>
                    </a:ext>
                  </a:extLst>
                </a:gridCol>
                <a:gridCol w="2944909">
                  <a:extLst>
                    <a:ext uri="{9D8B030D-6E8A-4147-A177-3AD203B41FA5}">
                      <a16:colId xmlns:a16="http://schemas.microsoft.com/office/drawing/2014/main" val="2179176123"/>
                    </a:ext>
                  </a:extLst>
                </a:gridCol>
              </a:tblGrid>
              <a:tr h="514872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o.</a:t>
                      </a:r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913845"/>
                  </a:ext>
                </a:extLst>
              </a:tr>
              <a:tr h="568161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Advocacy meeting – National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14th March 2024</a:t>
                      </a:r>
                      <a:endParaRPr lang="en-TZ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099862"/>
                  </a:ext>
                </a:extLst>
              </a:tr>
              <a:tr h="568161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Advocacy Meetings – District &amp; Shehia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22nd - 28th March 2024</a:t>
                      </a:r>
                      <a:endParaRPr lang="en-TZ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517339"/>
                  </a:ext>
                </a:extLst>
              </a:tr>
              <a:tr h="354663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 Level Trainings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19th - 20th March 2024</a:t>
                      </a:r>
                      <a:endParaRPr lang="en-TZ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139935"/>
                  </a:ext>
                </a:extLst>
              </a:tr>
              <a:tr h="354663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District level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2nd – 9th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133440"/>
                  </a:ext>
                </a:extLst>
              </a:tr>
              <a:tr h="354663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SBC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6th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966039"/>
                  </a:ext>
                </a:extLst>
              </a:tr>
              <a:tr h="342151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HouseHold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12th – 16th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483870"/>
                  </a:ext>
                </a:extLst>
              </a:tr>
              <a:tr h="807388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&amp; Validation of Household data &amp; Share final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17th – 23rd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560875"/>
                  </a:ext>
                </a:extLst>
              </a:tr>
              <a:tr h="354663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Launch Event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25th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572867"/>
                  </a:ext>
                </a:extLst>
              </a:tr>
              <a:tr h="489696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Distribution &amp; Net Issuing to the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27th April – 4th May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825477"/>
                  </a:ext>
                </a:extLst>
              </a:tr>
              <a:tr h="354663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of SBC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10th May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97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6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B672-6B6C-03F7-9EF4-4E69E9B5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09" y="293916"/>
            <a:ext cx="10795822" cy="653938"/>
          </a:xfrm>
        </p:spPr>
        <p:txBody>
          <a:bodyPr/>
          <a:lstStyle/>
          <a:p>
            <a:pPr algn="ctr"/>
            <a:r>
              <a:rPr lang="en-TZ" sz="3750" dirty="0">
                <a:latin typeface="+mn-lt"/>
              </a:rPr>
              <a:t>MRC Timelines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49D99B-A9B8-2DB3-81FA-F8D0B9A9D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74570"/>
              </p:ext>
            </p:extLst>
          </p:nvPr>
        </p:nvGraphicFramePr>
        <p:xfrm>
          <a:off x="215153" y="1207624"/>
          <a:ext cx="11196278" cy="529985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775448994"/>
                    </a:ext>
                  </a:extLst>
                </a:gridCol>
                <a:gridCol w="2674346">
                  <a:extLst>
                    <a:ext uri="{9D8B030D-6E8A-4147-A177-3AD203B41FA5}">
                      <a16:colId xmlns:a16="http://schemas.microsoft.com/office/drawing/2014/main" val="2576677600"/>
                    </a:ext>
                  </a:extLst>
                </a:gridCol>
                <a:gridCol w="3492732">
                  <a:extLst>
                    <a:ext uri="{9D8B030D-6E8A-4147-A177-3AD203B41FA5}">
                      <a16:colId xmlns:a16="http://schemas.microsoft.com/office/drawing/2014/main" val="2179176123"/>
                    </a:ext>
                  </a:extLst>
                </a:gridCol>
              </a:tblGrid>
              <a:tr h="577426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913845"/>
                  </a:ext>
                </a:extLst>
              </a:tr>
              <a:tr h="415962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Advocacy meeting – National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14th March 2024</a:t>
                      </a:r>
                      <a:endParaRPr lang="en-TZ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099862"/>
                  </a:ext>
                </a:extLst>
              </a:tr>
              <a:tr h="415962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Advocacy Meetings – District &amp; Shehia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22nd - 28th March 2024</a:t>
                      </a:r>
                      <a:endParaRPr lang="en-TZ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517339"/>
                  </a:ext>
                </a:extLst>
              </a:tr>
              <a:tr h="415962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 Level Trainings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19th - 20th March 2024</a:t>
                      </a:r>
                      <a:endParaRPr lang="en-TZ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139935"/>
                  </a:ext>
                </a:extLst>
              </a:tr>
              <a:tr h="415962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District level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2nd – 9th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133440"/>
                  </a:ext>
                </a:extLst>
              </a:tr>
              <a:tr h="415962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SBC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6th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966039"/>
                  </a:ext>
                </a:extLst>
              </a:tr>
              <a:tr h="408615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HouseHold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12th – 16th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483870"/>
                  </a:ext>
                </a:extLst>
              </a:tr>
              <a:tr h="603862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&amp; Validation of Household data &amp; Share final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17th – 23rd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560875"/>
                  </a:ext>
                </a:extLst>
              </a:tr>
              <a:tr h="415962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Launch Event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25th April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572867"/>
                  </a:ext>
                </a:extLst>
              </a:tr>
              <a:tr h="603862">
                <a:tc>
                  <a:txBody>
                    <a:bodyPr/>
                    <a:lstStyle/>
                    <a:p>
                      <a:r>
                        <a:rPr lang="en-TZ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Distribution &amp; Net Issuing to the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Z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27th April – 4th May</a:t>
                      </a:r>
                    </a:p>
                    <a:p>
                      <a:pPr algn="l"/>
                      <a:endParaRPr lang="en-TZ" sz="20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825477"/>
                  </a:ext>
                </a:extLst>
              </a:tr>
              <a:tr h="415962">
                <a:tc>
                  <a:txBody>
                    <a:bodyPr/>
                    <a:lstStyle/>
                    <a:p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of SBC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Z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10th May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97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482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B05E-35B1-864D-D804-82D4300ED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365125"/>
            <a:ext cx="11229975" cy="91122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Capacity building to New ANC workers</a:t>
            </a:r>
            <a:endParaRPr lang="en-TZ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1839-6D61-326F-269A-C38E7FDA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1276350"/>
            <a:ext cx="11458575" cy="5216525"/>
          </a:xfrm>
          <a:ln>
            <a:solidFill>
              <a:srgbClr val="FFFFFF"/>
            </a:solidFill>
          </a:ln>
        </p:spPr>
        <p:txBody>
          <a:bodyPr/>
          <a:lstStyle/>
          <a:p>
            <a:r>
              <a:rPr lang="en-US" dirty="0"/>
              <a:t>A total of</a:t>
            </a:r>
            <a:r>
              <a:rPr lang="en-US" dirty="0">
                <a:solidFill>
                  <a:srgbClr val="FF0000"/>
                </a:solidFill>
              </a:rPr>
              <a:t> 250 </a:t>
            </a:r>
            <a:r>
              <a:rPr lang="en-US" dirty="0"/>
              <a:t>new health workers have been trained on the distribution scheme</a:t>
            </a:r>
          </a:p>
          <a:p>
            <a:pPr lvl="1"/>
            <a:r>
              <a:rPr lang="en-US" dirty="0"/>
              <a:t>Requesting net through R&amp;R</a:t>
            </a:r>
          </a:p>
          <a:p>
            <a:pPr lvl="1"/>
            <a:r>
              <a:rPr lang="en-US" dirty="0"/>
              <a:t>Filling net registration ledger</a:t>
            </a:r>
          </a:p>
          <a:p>
            <a:pPr lvl="1"/>
            <a:r>
              <a:rPr lang="en-US" dirty="0"/>
              <a:t>Proper storage of nets at HFs level</a:t>
            </a:r>
          </a:p>
          <a:p>
            <a:pPr lvl="1"/>
            <a:r>
              <a:rPr lang="en-US" dirty="0"/>
              <a:t>Importance of redistribution in case of serious shortage of nets</a:t>
            </a:r>
          </a:p>
          <a:p>
            <a:pPr lvl="1"/>
            <a:endParaRPr lang="en-US" dirty="0"/>
          </a:p>
          <a:p>
            <a:r>
              <a:rPr lang="en-US" dirty="0"/>
              <a:t>Feedback meeting with integrated unit</a:t>
            </a:r>
          </a:p>
          <a:p>
            <a:pPr lvl="1"/>
            <a:r>
              <a:rPr lang="en-US" dirty="0"/>
              <a:t>This was quarterly basis meeting invite a total 25participants in each quarter</a:t>
            </a:r>
          </a:p>
          <a:p>
            <a:pPr lvl="1"/>
            <a:r>
              <a:rPr lang="en-US" dirty="0"/>
              <a:t>Discussed operational challenges and find out remedial measures to improve the ANC distribution</a:t>
            </a:r>
          </a:p>
        </p:txBody>
      </p:sp>
    </p:spTree>
    <p:extLst>
      <p:ext uri="{BB962C8B-B14F-4D97-AF65-F5344CB8AC3E}">
        <p14:creationId xmlns:p14="http://schemas.microsoft.com/office/powerpoint/2010/main" val="254721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41EF-4812-FF6F-9D02-AE800844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1"/>
            <a:ext cx="11249025" cy="103822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Monitoring and supervision of LLIN distribution</a:t>
            </a:r>
            <a:endParaRPr lang="en-TZ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ED29-7E80-CFC9-E22C-119977098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75" y="1209674"/>
            <a:ext cx="5915025" cy="552730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supervision was conducted to evaluate the progress of the distribution at HFs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 operational challenges, and take action to improve implementation quality</a:t>
            </a:r>
          </a:p>
          <a:p>
            <a:pPr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Chandarua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Kliniki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was used to monitor and determine poor performing districts and health facilities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Supervision visits were conducted to districts and health facilities each quarter to identified ITNs distribution operational challenges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M&amp; S visits were involved ZAMEP, CMS, HMIS, LMU, DHMTs, and TVCA</a:t>
            </a:r>
            <a:endParaRPr lang="en-T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TVCA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tprovided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technical support for the entire ANC distribution scheme and MRC</a:t>
            </a:r>
          </a:p>
          <a:p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E00B0-DF15-4D7B-063B-A95980CBF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1859" y="1196228"/>
            <a:ext cx="5181600" cy="4967288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Pls Weka </a:t>
            </a:r>
            <a:r>
              <a:rPr lang="en-US" dirty="0" err="1"/>
              <a:t>picha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dash board hap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634010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914F-7B27-18F4-88E9-C28690B0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76200"/>
            <a:ext cx="11115675" cy="7429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Workout comments from monitoring supervisor's</a:t>
            </a:r>
            <a:endParaRPr lang="en-TZ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013BD-E80F-223A-BF81-FDBB1A070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49" y="647701"/>
            <a:ext cx="11115675" cy="621030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quality to be strengthen including provision of training to health workers and improve data collection tools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Strengthen Monitoring and Supervision to all health facilities identified with challenges</a:t>
            </a:r>
            <a:endParaRPr lang="en-TZ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plan for ITNs re-distribution data to be shared to all stakeholders before the distribution started </a:t>
            </a:r>
            <a:r>
              <a:rPr lang="en-US" sz="24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Simba logistics or Central Medical Store,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this will avoid duplicate for the information collected at ANC level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ITNs re-distribution should be conducted timely to all HFs identified with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overstock of nets</a:t>
            </a:r>
            <a:endParaRPr lang="en-GB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Mentorship to new ANC workers should be highly considered, this will improve distribution scheme to the most of HFs identified with the shortage of untrained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HWs</a:t>
            </a:r>
            <a:endParaRPr lang="en-T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endParaRPr lang="en-TZ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013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62B20A2F-B800-464E-B2F3-9E8C2822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274638"/>
            <a:ext cx="10535478" cy="868362"/>
          </a:xfrm>
        </p:spPr>
        <p:txBody>
          <a:bodyPr/>
          <a:lstStyle/>
          <a:p>
            <a:pPr algn="ctr"/>
            <a:r>
              <a:rPr lang="en-US" altLang="en-US" sz="3800" b="1" dirty="0">
                <a:solidFill>
                  <a:schemeClr val="accent1"/>
                </a:solidFill>
              </a:rPr>
              <a:t>Priority areas for 2025 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CEA6F751-E8AC-4BA5-898A-72BAF408C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22" y="1143001"/>
            <a:ext cx="11741425" cy="48985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 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(dual) generation nets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 ANC and MRC distribution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LLINs to all health facilities as needed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 all new health workers on ANC distribution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schemev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to Print some revised ANC HMIS Registers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and supervise LLIN distribution activities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feedback meetings with other integration units (CMS, LMU, HMIS) and DHMTs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Intensify SBCC campaign for increasing LLIN use country wide</a:t>
            </a:r>
          </a:p>
          <a:p>
            <a:pPr marL="971550" lvl="1" indent="-51435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32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95DF892-20B4-46D4-924F-B9BF4E919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0"/>
            <a:ext cx="10049435" cy="63610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Budget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74D013-1AC3-47F7-8D87-97F508BE9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065248"/>
              </p:ext>
            </p:extLst>
          </p:nvPr>
        </p:nvGraphicFramePr>
        <p:xfrm>
          <a:off x="161365" y="647701"/>
          <a:ext cx="11871609" cy="6100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5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878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Activity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0000"/>
                          </a:solidFill>
                          <a:latin typeface="+mn-lt"/>
                        </a:rPr>
                        <a:t>Usd</a:t>
                      </a:r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Remarks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081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1.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514350" indent="-514350" algn="just" eaLnBrk="1" hangingPunct="1">
                        <a:buFont typeface="Calibri" pitchFamily="34" charset="0"/>
                        <a:buNone/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  <a:ea typeface="ＭＳ Ｐゴシック" pitchFamily="34" charset="-128"/>
                        </a:rPr>
                        <a:t>Procure of PBO or new generation nets, 144,607pcs for ANC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000,000 LLINs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ZAMEP will receive nets from USAID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081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FF0000"/>
                          </a:solidFill>
                          <a:latin typeface="+mn-lt"/>
                        </a:rPr>
                        <a:t>2</a:t>
                      </a:r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  <a:ea typeface="ＭＳ Ｐゴシック" pitchFamily="34" charset="-128"/>
                        </a:rPr>
                        <a:t>Procurement of PBO or new generation nets,  781,991 pcs for MRC 2024 in 335 </a:t>
                      </a:r>
                      <a:r>
                        <a:rPr lang="en-US" sz="2200" dirty="0" err="1">
                          <a:solidFill>
                            <a:srgbClr val="FF0000"/>
                          </a:solidFill>
                          <a:latin typeface="+mn-lt"/>
                          <a:ea typeface="ＭＳ Ｐゴシック" pitchFamily="34" charset="-128"/>
                        </a:rPr>
                        <a:t>Shehia</a:t>
                      </a:r>
                      <a:endParaRPr lang="en-US" sz="2200" dirty="0">
                        <a:solidFill>
                          <a:srgbClr val="FF0000"/>
                        </a:solidFill>
                        <a:latin typeface="+mn-lt"/>
                        <a:ea typeface="ＭＳ Ｐゴシック" pitchFamily="34" charset="-128"/>
                      </a:endParaRPr>
                    </a:p>
                  </a:txBody>
                  <a:tcPr marT="45711" marB="4571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000,000 LLINs</a:t>
                      </a:r>
                    </a:p>
                    <a:p>
                      <a:pPr algn="ctr" rtl="0" fontAlgn="t"/>
                      <a:endParaRPr lang="en-TZ" sz="2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latin typeface="+mn-lt"/>
                        </a:rPr>
                        <a:t>ZAMEP will receive nets from USAID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878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FF0000"/>
                          </a:solidFill>
                          <a:latin typeface="+mn-lt"/>
                        </a:rPr>
                        <a:t>3.</a:t>
                      </a:r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Operational cost for MRC in 335 </a:t>
                      </a:r>
                      <a:r>
                        <a:rPr lang="en-US" sz="2200" dirty="0" err="1">
                          <a:solidFill>
                            <a:srgbClr val="FF0000"/>
                          </a:solidFill>
                          <a:latin typeface="+mn-lt"/>
                        </a:rPr>
                        <a:t>Shehia</a:t>
                      </a:r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150,000</a:t>
                      </a:r>
                      <a:endParaRPr lang="en-TZ" sz="2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878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FF0000"/>
                          </a:solidFill>
                          <a:latin typeface="+mn-lt"/>
                        </a:rPr>
                        <a:t>4</a:t>
                      </a:r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  <a:ea typeface="ＭＳ Ｐゴシック" pitchFamily="34" charset="-128"/>
                        </a:rPr>
                        <a:t> 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Nets re-distribution to the Health facilities 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TZ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27,675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213781530"/>
                  </a:ext>
                </a:extLst>
              </a:tr>
              <a:tr h="413878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FF0000"/>
                          </a:solidFill>
                          <a:latin typeface="+mn-lt"/>
                        </a:rPr>
                        <a:t>5.</a:t>
                      </a:r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Orientation training to new ANC workers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TZ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47,675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895502354"/>
                  </a:ext>
                </a:extLst>
              </a:tr>
              <a:tr h="341102"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rgbClr val="FF0000"/>
                          </a:solidFill>
                          <a:latin typeface="+mn-lt"/>
                        </a:rPr>
                        <a:t>6</a:t>
                      </a:r>
                      <a:endParaRPr lang="en-US" sz="22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514350" marR="0" lvl="0" indent="-5143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alibri" pitchFamily="34" charset="0"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Quarterly monitoring and supervision of distribution at ANC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TZ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55,342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3499912420"/>
                  </a:ext>
                </a:extLst>
              </a:tr>
              <a:tr h="739081"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rgbClr val="FF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514350" marR="0" lvl="0" indent="-5143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alibri" pitchFamily="34" charset="0"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Quarterly advocacy and feedback meetings with integration units  (CMS,LMU, HMIS,ZAMEP)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TZ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43,348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3425454578"/>
                  </a:ext>
                </a:extLst>
              </a:tr>
              <a:tr h="413878"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rgbClr val="FF0000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Quarterly feedback meeting with head of ANC and DHMTS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en-TZ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6,734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327540445"/>
                  </a:ext>
                </a:extLst>
              </a:tr>
              <a:tr h="462516"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rgbClr val="FF0000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Procure 4 motorcycles (Trailers 110) to support quick monitoring of ANC 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TZ" sz="22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+mn-lt"/>
                        </a:rPr>
                        <a:t>ZAMEP to receive motorcycles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417985657"/>
                  </a:ext>
                </a:extLst>
              </a:tr>
              <a:tr h="492280">
                <a:tc>
                  <a:txBody>
                    <a:bodyPr/>
                    <a:lstStyle/>
                    <a:p>
                      <a:endParaRPr lang="en-US" sz="2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Total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2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370,774</a:t>
                      </a:r>
                      <a:endParaRPr lang="en-TZ" sz="22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 sz="2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666266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808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3269CD-52DA-C95A-2574-040063633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849" y="1752601"/>
            <a:ext cx="11039475" cy="4486274"/>
          </a:xfrm>
        </p:spPr>
        <p:txBody>
          <a:bodyPr>
            <a:normAutofit/>
          </a:bodyPr>
          <a:lstStyle/>
          <a:p>
            <a:endParaRPr lang="en-US" sz="4800" dirty="0">
              <a:solidFill>
                <a:srgbClr val="0070C0"/>
              </a:solidFill>
            </a:endParaRPr>
          </a:p>
          <a:p>
            <a:endParaRPr lang="en-US" sz="4800" dirty="0">
              <a:solidFill>
                <a:srgbClr val="0070C0"/>
              </a:solidFill>
            </a:endParaRPr>
          </a:p>
          <a:p>
            <a:r>
              <a:rPr lang="en-US" sz="4800" dirty="0">
                <a:solidFill>
                  <a:srgbClr val="0070C0"/>
                </a:solidFill>
              </a:rPr>
              <a:t>THANK YOU VERY MUCH</a:t>
            </a:r>
            <a:endParaRPr lang="en-TZ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85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Venture">
    <a:dk1>
      <a:sysClr val="windowText" lastClr="000000"/>
    </a:dk1>
    <a:lt1>
      <a:sysClr val="window" lastClr="FFFFFF"/>
    </a:lt1>
    <a:dk2>
      <a:srgbClr val="738450"/>
    </a:dk2>
    <a:lt2>
      <a:srgbClr val="E8E9D1"/>
    </a:lt2>
    <a:accent1>
      <a:srgbClr val="9EB060"/>
    </a:accent1>
    <a:accent2>
      <a:srgbClr val="D09A08"/>
    </a:accent2>
    <a:accent3>
      <a:srgbClr val="F2EC86"/>
    </a:accent3>
    <a:accent4>
      <a:srgbClr val="824F1C"/>
    </a:accent4>
    <a:accent5>
      <a:srgbClr val="511818"/>
    </a:accent5>
    <a:accent6>
      <a:srgbClr val="553876"/>
    </a:accent6>
    <a:hlink>
      <a:srgbClr val="929547"/>
    </a:hlink>
    <a:folHlink>
      <a:srgbClr val="56633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22864</TotalTime>
  <Words>1385</Words>
  <Application>Microsoft Office PowerPoint</Application>
  <PresentationFormat>Widescreen</PresentationFormat>
  <Paragraphs>353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Arial</vt:lpstr>
      <vt:lpstr>Calibri</vt:lpstr>
      <vt:lpstr>Calibri Light</vt:lpstr>
      <vt:lpstr>Candara</vt:lpstr>
      <vt:lpstr>Noto Sans Symbols</vt:lpstr>
      <vt:lpstr>Times New Roman</vt:lpstr>
      <vt:lpstr>Wingdings</vt:lpstr>
      <vt:lpstr>Office Theme</vt:lpstr>
      <vt:lpstr>PowerPoint Presentation</vt:lpstr>
      <vt:lpstr>Presentation outline</vt:lpstr>
      <vt:lpstr>Introduction</vt:lpstr>
      <vt:lpstr>ANC distribution</vt:lpstr>
      <vt:lpstr> ANC ITNs issued Jan – Dec 2023 vs target groups </vt:lpstr>
      <vt:lpstr>ANC ITNs issued Jan – Dec 2023 vs contact and doses</vt:lpstr>
      <vt:lpstr>Results from MRC 2023</vt:lpstr>
      <vt:lpstr>Preparation for MRC 2024</vt:lpstr>
      <vt:lpstr>Preparation for MRC 2024 cont…</vt:lpstr>
      <vt:lpstr>MRC Timelines Summary- 2024</vt:lpstr>
      <vt:lpstr>MRC Timelines Summary</vt:lpstr>
      <vt:lpstr>Capacity building to New ANC workers</vt:lpstr>
      <vt:lpstr>Monitoring and supervision of LLIN distribution</vt:lpstr>
      <vt:lpstr>Workout comments from monitoring supervisor's</vt:lpstr>
      <vt:lpstr>Priority areas for 2025 </vt:lpstr>
      <vt:lpstr>Budget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DAWA</cp:lastModifiedBy>
  <cp:revision>33</cp:revision>
  <dcterms:modified xsi:type="dcterms:W3CDTF">2024-10-15T07:24:05Z</dcterms:modified>
</cp:coreProperties>
</file>