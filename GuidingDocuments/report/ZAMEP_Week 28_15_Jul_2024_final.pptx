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7" r:id="rId5"/>
    <p:sldId id="622" r:id="rId6"/>
    <p:sldId id="640" r:id="rId7"/>
    <p:sldId id="653" r:id="rId8"/>
    <p:sldId id="295" r:id="rId9"/>
    <p:sldId id="276" r:id="rId10"/>
    <p:sldId id="669" r:id="rId11"/>
    <p:sldId id="667" r:id="rId12"/>
    <p:sldId id="665" r:id="rId13"/>
    <p:sldId id="656" r:id="rId14"/>
    <p:sldId id="657" r:id="rId15"/>
    <p:sldId id="658" r:id="rId16"/>
    <p:sldId id="654" r:id="rId17"/>
    <p:sldId id="649" r:id="rId18"/>
    <p:sldId id="659" r:id="rId19"/>
    <p:sldId id="660" r:id="rId20"/>
    <p:sldId id="661" r:id="rId21"/>
    <p:sldId id="642" r:id="rId22"/>
    <p:sldId id="643" r:id="rId23"/>
    <p:sldId id="644" r:id="rId24"/>
    <p:sldId id="645" r:id="rId25"/>
    <p:sldId id="646" r:id="rId26"/>
    <p:sldId id="647" r:id="rId27"/>
    <p:sldId id="648" r:id="rId28"/>
    <p:sldId id="668" r:id="rId29"/>
    <p:sldId id="662" r:id="rId30"/>
    <p:sldId id="663" r:id="rId31"/>
    <p:sldId id="66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adija zubeir" initials="kz" lastIdx="1" clrIdx="0">
    <p:extLst>
      <p:ext uri="{19B8F6BF-5375-455C-9EA6-DF929625EA0E}">
        <p15:presenceInfo xmlns:p15="http://schemas.microsoft.com/office/powerpoint/2012/main" userId="080acdf1c6c191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724" autoAdjust="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BC53A-8B07-4864-B79C-A35892AF4EB6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7B28D-F785-40BC-8C7F-FCBE0DCB1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B28D-F785-40BC-8C7F-FCBE0DCB1E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38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weekly disaggregate into local and imported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B28D-F785-40BC-8C7F-FCBE0DCB1E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5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weekly per month, remove the ratio but add thresholds lines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B28D-F785-40BC-8C7F-FCBE0DCB1E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age in order from &lt;5 to adults…</a:t>
            </a:r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7B28D-F785-40BC-8C7F-FCBE0DCB1E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7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9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3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3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8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0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4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01D98E-BD26-4EC7-B885-CFF522AE4CB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743A0-DECF-4BF0-BE21-5373E362E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21042"/>
            <a:ext cx="10374629" cy="947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374629" cy="4089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C272B-B9CA-48E5-85A3-19201F817DCB}"/>
              </a:ext>
            </a:extLst>
          </p:cNvPr>
          <p:cNvPicPr/>
          <p:nvPr userDrawn="1"/>
        </p:nvPicPr>
        <p:blipFill>
          <a:blip r:embed="rId13"/>
          <a:stretch>
            <a:fillRect/>
          </a:stretch>
        </p:blipFill>
        <p:spPr>
          <a:xfrm>
            <a:off x="3719512" y="6208395"/>
            <a:ext cx="4352925" cy="649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87A17D-8813-444F-B69A-476718B94240}"/>
              </a:ext>
            </a:extLst>
          </p:cNvPr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830" y="71755"/>
            <a:ext cx="891540" cy="83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878A01-48B8-47E8-A2DA-ED1FED2DED6C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27266" cy="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2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Malaria Situation in Zanzibar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5718"/>
            <a:ext cx="9144000" cy="1655762"/>
          </a:xfrm>
        </p:spPr>
        <p:txBody>
          <a:bodyPr/>
          <a:lstStyle/>
          <a:p>
            <a:r>
              <a:rPr lang="en-US" dirty="0"/>
              <a:t>Weekly updates as of  15</a:t>
            </a:r>
            <a:r>
              <a:rPr lang="en-US" baseline="30000" dirty="0"/>
              <a:t>th</a:t>
            </a:r>
            <a:r>
              <a:rPr lang="en-US" dirty="0"/>
              <a:t> July, 2024</a:t>
            </a:r>
          </a:p>
          <a:p>
            <a:r>
              <a:rPr lang="en-US" u="sng" dirty="0"/>
              <a:t>Week 28</a:t>
            </a:r>
          </a:p>
        </p:txBody>
      </p:sp>
    </p:spTree>
    <p:extLst>
      <p:ext uri="{BB962C8B-B14F-4D97-AF65-F5344CB8AC3E}">
        <p14:creationId xmlns:p14="http://schemas.microsoft.com/office/powerpoint/2010/main" val="3502999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9B3166-FFC8-4B3E-B383-4249F3C2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report deliberations</a:t>
            </a:r>
            <a:endParaRPr lang="en-TZ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DA8DB-E0C3-4CFF-A575-09CFCD461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“Week 27”</a:t>
            </a:r>
            <a:endParaRPr lang="en-TZ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76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ZANZIBAR, WEEK 27, 2024</a:t>
            </a:r>
            <a:endParaRPr lang="en-TZ" sz="25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15BA00-6610-1D65-F8CA-3465A9DF0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61" y="963548"/>
            <a:ext cx="10704478" cy="521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1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330" y="144532"/>
            <a:ext cx="9839034" cy="585851"/>
          </a:xfrm>
        </p:spPr>
        <p:txBody>
          <a:bodyPr>
            <a:normAutofit fontScale="90000"/>
          </a:bodyPr>
          <a:lstStyle/>
          <a:p>
            <a:r>
              <a:rPr lang="en-US" sz="2500" b="1" dirty="0"/>
              <a:t>DISTRIBUTION OF LOCAL CASES IN ZANZIBAR - WEEK 27, 2024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9E3B8-BF06-48B8-AD35-94F9707B47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t="38788" r="77592" b="43030"/>
          <a:stretch/>
        </p:blipFill>
        <p:spPr>
          <a:xfrm>
            <a:off x="177281" y="5552184"/>
            <a:ext cx="1643716" cy="93799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8E4EB8B-8BF0-2BC5-4C7E-DABC023B7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289" y="845910"/>
            <a:ext cx="3076558" cy="4706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C5D58-2527-BB93-29E1-904D76B2B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847" y="626146"/>
            <a:ext cx="3316511" cy="5553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E020BA-A5A7-4159-9F16-CD9913ECA7E8}"/>
              </a:ext>
            </a:extLst>
          </p:cNvPr>
          <p:cNvSpPr/>
          <p:nvPr/>
        </p:nvSpPr>
        <p:spPr>
          <a:xfrm>
            <a:off x="4395629" y="636625"/>
            <a:ext cx="662473" cy="633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9874AC-8790-4403-BEE2-170A5FEE3AE6}"/>
              </a:ext>
            </a:extLst>
          </p:cNvPr>
          <p:cNvCxnSpPr>
            <a:cxnSpLocks/>
          </p:cNvCxnSpPr>
          <p:nvPr/>
        </p:nvCxnSpPr>
        <p:spPr>
          <a:xfrm>
            <a:off x="5187202" y="1154995"/>
            <a:ext cx="2610736" cy="6999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29FCDEE-4830-42E9-D803-FCD51B04E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038" y="171450"/>
            <a:ext cx="3060050" cy="30904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2268C5-ED52-845E-CF44-1EAFB3EF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037" y="3302855"/>
            <a:ext cx="2092174" cy="295857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264469-F61C-5C50-4467-63DE7280F051}"/>
              </a:ext>
            </a:extLst>
          </p:cNvPr>
          <p:cNvCxnSpPr>
            <a:cxnSpLocks/>
          </p:cNvCxnSpPr>
          <p:nvPr/>
        </p:nvCxnSpPr>
        <p:spPr>
          <a:xfrm>
            <a:off x="4264964" y="4194287"/>
            <a:ext cx="3662073" cy="80878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AD3F0B5-657F-6D55-A5EF-9F1680D2F2C2}"/>
              </a:ext>
            </a:extLst>
          </p:cNvPr>
          <p:cNvSpPr/>
          <p:nvPr/>
        </p:nvSpPr>
        <p:spPr>
          <a:xfrm>
            <a:off x="3631051" y="3877743"/>
            <a:ext cx="662473" cy="633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0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INTERVENTIONS CONDUCTED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548E88-ACBE-7090-2168-A465DAC769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27, 2024</a:t>
            </a:r>
          </a:p>
        </p:txBody>
      </p:sp>
    </p:spTree>
    <p:extLst>
      <p:ext uri="{BB962C8B-B14F-4D97-AF65-F5344CB8AC3E}">
        <p14:creationId xmlns:p14="http://schemas.microsoft.com/office/powerpoint/2010/main" val="259577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A81C-C7EB-DE9A-BAD7-F65388B9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94" y="342268"/>
            <a:ext cx="9206011" cy="712937"/>
          </a:xfrm>
        </p:spPr>
        <p:txBody>
          <a:bodyPr>
            <a:noAutofit/>
          </a:bodyPr>
          <a:lstStyle/>
          <a:p>
            <a:pPr algn="ctr"/>
            <a:r>
              <a:rPr lang="en-T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Larvae</a:t>
            </a:r>
            <a:r>
              <a:rPr lang="en-GB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quality check </a:t>
            </a:r>
            <a:r>
              <a:rPr lang="en-TZ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Magharib</a:t>
            </a:r>
            <a:r>
              <a:rPr lang="en-GB" sz="3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endParaRPr lang="en-TZ" sz="3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E102A2F-3772-26BE-5B40-86FDEF064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80337"/>
              </p:ext>
            </p:extLst>
          </p:nvPr>
        </p:nvGraphicFramePr>
        <p:xfrm>
          <a:off x="121920" y="1515292"/>
          <a:ext cx="11819704" cy="21553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7463">
                  <a:extLst>
                    <a:ext uri="{9D8B030D-6E8A-4147-A177-3AD203B41FA5}">
                      <a16:colId xmlns:a16="http://schemas.microsoft.com/office/drawing/2014/main" val="1046187666"/>
                    </a:ext>
                  </a:extLst>
                </a:gridCol>
                <a:gridCol w="1477463">
                  <a:extLst>
                    <a:ext uri="{9D8B030D-6E8A-4147-A177-3AD203B41FA5}">
                      <a16:colId xmlns:a16="http://schemas.microsoft.com/office/drawing/2014/main" val="3577895367"/>
                    </a:ext>
                  </a:extLst>
                </a:gridCol>
                <a:gridCol w="1477463">
                  <a:extLst>
                    <a:ext uri="{9D8B030D-6E8A-4147-A177-3AD203B41FA5}">
                      <a16:colId xmlns:a16="http://schemas.microsoft.com/office/drawing/2014/main" val="3078632543"/>
                    </a:ext>
                  </a:extLst>
                </a:gridCol>
                <a:gridCol w="1477463">
                  <a:extLst>
                    <a:ext uri="{9D8B030D-6E8A-4147-A177-3AD203B41FA5}">
                      <a16:colId xmlns:a16="http://schemas.microsoft.com/office/drawing/2014/main" val="43024600"/>
                    </a:ext>
                  </a:extLst>
                </a:gridCol>
                <a:gridCol w="1477463">
                  <a:extLst>
                    <a:ext uri="{9D8B030D-6E8A-4147-A177-3AD203B41FA5}">
                      <a16:colId xmlns:a16="http://schemas.microsoft.com/office/drawing/2014/main" val="2032227844"/>
                    </a:ext>
                  </a:extLst>
                </a:gridCol>
                <a:gridCol w="1477463">
                  <a:extLst>
                    <a:ext uri="{9D8B030D-6E8A-4147-A177-3AD203B41FA5}">
                      <a16:colId xmlns:a16="http://schemas.microsoft.com/office/drawing/2014/main" val="2453469275"/>
                    </a:ext>
                  </a:extLst>
                </a:gridCol>
                <a:gridCol w="1147902">
                  <a:extLst>
                    <a:ext uri="{9D8B030D-6E8A-4147-A177-3AD203B41FA5}">
                      <a16:colId xmlns:a16="http://schemas.microsoft.com/office/drawing/2014/main" val="107707139"/>
                    </a:ext>
                  </a:extLst>
                </a:gridCol>
                <a:gridCol w="1807024">
                  <a:extLst>
                    <a:ext uri="{9D8B030D-6E8A-4147-A177-3AD203B41FA5}">
                      <a16:colId xmlns:a16="http://schemas.microsoft.com/office/drawing/2014/main" val="2789739026"/>
                    </a:ext>
                  </a:extLst>
                </a:gridCol>
              </a:tblGrid>
              <a:tr h="4797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Shehia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Village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Habitat #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Type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Size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# Anopheles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# Culex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implementation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extLst>
                  <a:ext uri="{0D108BD9-81ED-4DB2-BD59-A6C34878D82A}">
                    <a16:rowId xmlns:a16="http://schemas.microsoft.com/office/drawing/2014/main" val="1535239048"/>
                  </a:ext>
                </a:extLst>
              </a:tr>
              <a:tr h="16756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  <a:highlight>
                            <a:srgbClr val="5B9BD5"/>
                          </a:highlight>
                          <a:latin typeface="Gill Sans MT" panose="020B0502020104020203" pitchFamily="34" charset="0"/>
                        </a:rPr>
                        <a:t>Mbweni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Kisima</a:t>
                      </a:r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mbaazi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Car tires, Water storage (</a:t>
                      </a:r>
                      <a:r>
                        <a:rPr lang="en-GB" sz="1800" u="none" strike="noStrike" dirty="0" err="1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Dumu</a:t>
                      </a:r>
                      <a:r>
                        <a:rPr lang="en-GB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), pond, </a:t>
                      </a:r>
                      <a:r>
                        <a:rPr lang="en-GB" sz="1800" u="none" strike="noStrike" dirty="0" err="1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Dranage</a:t>
                      </a:r>
                      <a:r>
                        <a:rPr lang="en-GB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, </a:t>
                      </a:r>
                      <a:r>
                        <a:rPr lang="en-GB" sz="1800" u="none" strike="noStrike" dirty="0" err="1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Hodhi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10m˃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33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D2DEEF"/>
                          </a:highlight>
                          <a:latin typeface="Gill Sans MT" panose="020B0502020104020203" pitchFamily="34" charset="0"/>
                        </a:rPr>
                        <a:t>SBC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D2DEEF"/>
                        </a:highlight>
                        <a:latin typeface="Gill Sans MT" panose="020B0502020104020203" pitchFamily="34" charset="0"/>
                      </a:endParaRPr>
                    </a:p>
                  </a:txBody>
                  <a:tcPr marL="4634" marR="4634" marT="4634" marB="0" anchor="ctr"/>
                </a:tc>
                <a:extLst>
                  <a:ext uri="{0D108BD9-81ED-4DB2-BD59-A6C34878D82A}">
                    <a16:rowId xmlns:a16="http://schemas.microsoft.com/office/drawing/2014/main" val="1047518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93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C9F5-D7EF-42A3-919C-BC854EA9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1" y="340042"/>
            <a:ext cx="9723120" cy="75723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Net Assessment in </a:t>
            </a:r>
            <a:r>
              <a:rPr lang="en-US" b="1" dirty="0" err="1"/>
              <a:t>Magharibi</a:t>
            </a:r>
            <a:r>
              <a:rPr lang="en-US" b="1" dirty="0"/>
              <a:t> B</a:t>
            </a:r>
            <a:endParaRPr lang="en-TZ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E47C6085-B994-48A0-B9E3-25969E085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00085"/>
              </p:ext>
            </p:extLst>
          </p:nvPr>
        </p:nvGraphicFramePr>
        <p:xfrm>
          <a:off x="144237" y="1417156"/>
          <a:ext cx="11903525" cy="2510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9363">
                  <a:extLst>
                    <a:ext uri="{9D8B030D-6E8A-4147-A177-3AD203B41FA5}">
                      <a16:colId xmlns:a16="http://schemas.microsoft.com/office/drawing/2014/main" val="1046187666"/>
                    </a:ext>
                  </a:extLst>
                </a:gridCol>
                <a:gridCol w="1299363">
                  <a:extLst>
                    <a:ext uri="{9D8B030D-6E8A-4147-A177-3AD203B41FA5}">
                      <a16:colId xmlns:a16="http://schemas.microsoft.com/office/drawing/2014/main" val="3577895367"/>
                    </a:ext>
                  </a:extLst>
                </a:gridCol>
                <a:gridCol w="1299363">
                  <a:extLst>
                    <a:ext uri="{9D8B030D-6E8A-4147-A177-3AD203B41FA5}">
                      <a16:colId xmlns:a16="http://schemas.microsoft.com/office/drawing/2014/main" val="3078632543"/>
                    </a:ext>
                  </a:extLst>
                </a:gridCol>
                <a:gridCol w="1299363">
                  <a:extLst>
                    <a:ext uri="{9D8B030D-6E8A-4147-A177-3AD203B41FA5}">
                      <a16:colId xmlns:a16="http://schemas.microsoft.com/office/drawing/2014/main" val="43024600"/>
                    </a:ext>
                  </a:extLst>
                </a:gridCol>
                <a:gridCol w="1299363">
                  <a:extLst>
                    <a:ext uri="{9D8B030D-6E8A-4147-A177-3AD203B41FA5}">
                      <a16:colId xmlns:a16="http://schemas.microsoft.com/office/drawing/2014/main" val="2032227844"/>
                    </a:ext>
                  </a:extLst>
                </a:gridCol>
                <a:gridCol w="1299363">
                  <a:extLst>
                    <a:ext uri="{9D8B030D-6E8A-4147-A177-3AD203B41FA5}">
                      <a16:colId xmlns:a16="http://schemas.microsoft.com/office/drawing/2014/main" val="2453469275"/>
                    </a:ext>
                  </a:extLst>
                </a:gridCol>
                <a:gridCol w="1600768">
                  <a:extLst>
                    <a:ext uri="{9D8B030D-6E8A-4147-A177-3AD203B41FA5}">
                      <a16:colId xmlns:a16="http://schemas.microsoft.com/office/drawing/2014/main" val="107707139"/>
                    </a:ext>
                  </a:extLst>
                </a:gridCol>
                <a:gridCol w="1403370">
                  <a:extLst>
                    <a:ext uri="{9D8B030D-6E8A-4147-A177-3AD203B41FA5}">
                      <a16:colId xmlns:a16="http://schemas.microsoft.com/office/drawing/2014/main" val="2709402398"/>
                    </a:ext>
                  </a:extLst>
                </a:gridCol>
                <a:gridCol w="1103209">
                  <a:extLst>
                    <a:ext uri="{9D8B030D-6E8A-4147-A177-3AD203B41FA5}">
                      <a16:colId xmlns:a16="http://schemas.microsoft.com/office/drawing/2014/main" val="2789739026"/>
                    </a:ext>
                  </a:extLst>
                </a:gridCol>
              </a:tblGrid>
              <a:tr h="1151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</a:rPr>
                        <a:t>Shehia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  <a:highlight>
                            <a:srgbClr val="5B9BD5"/>
                          </a:highlight>
                        </a:rPr>
                        <a:t>Village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# house visited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# of people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# LLINs/PBO found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% coverage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% of people reported to sleep under nets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% population access to LLINs/PBO (threshold 80%)</a:t>
                      </a:r>
                    </a:p>
                    <a:p>
                      <a:pPr marL="0" algn="ctr" defTabSz="914400" rtl="0" eaLnBrk="1" fontAlgn="ctr" latinLnBrk="0" hangingPunct="1"/>
                      <a:endParaRPr lang="en-US" sz="1800" b="1" u="none" strike="noStrike" kern="1200" dirty="0">
                        <a:solidFill>
                          <a:schemeClr val="lt1"/>
                        </a:solidFill>
                        <a:effectLst/>
                        <a:highlight>
                          <a:srgbClr val="5B9BD5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highlight>
                            <a:srgbClr val="5B9BD5"/>
                          </a:highlight>
                          <a:latin typeface="+mn-lt"/>
                          <a:ea typeface="+mn-ea"/>
                          <a:cs typeface="+mn-cs"/>
                        </a:rPr>
                        <a:t>% LLINs fit for use</a:t>
                      </a:r>
                    </a:p>
                  </a:txBody>
                  <a:tcPr marL="4634" marR="4634" marT="4634" marB="0" anchor="ctr"/>
                </a:tc>
                <a:extLst>
                  <a:ext uri="{0D108BD9-81ED-4DB2-BD59-A6C34878D82A}">
                    <a16:rowId xmlns:a16="http://schemas.microsoft.com/office/drawing/2014/main" val="1535239048"/>
                  </a:ext>
                </a:extLst>
              </a:tr>
              <a:tr h="11337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  <a:highlight>
                            <a:srgbClr val="5B9BD5"/>
                          </a:highlight>
                        </a:rPr>
                        <a:t>Mbweni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</a:rPr>
                        <a:t>Kisima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</a:rPr>
                        <a:t> </a:t>
                      </a:r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</a:rPr>
                        <a:t>mbaazi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126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62.2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98.4</a:t>
                      </a:r>
                    </a:p>
                  </a:txBody>
                  <a:tcPr marL="4634" marR="4634" marT="463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D2DEEF"/>
                          </a:highlight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4634" marR="4634" marT="4634" marB="0" anchor="ctr"/>
                </a:tc>
                <a:extLst>
                  <a:ext uri="{0D108BD9-81ED-4DB2-BD59-A6C34878D82A}">
                    <a16:rowId xmlns:a16="http://schemas.microsoft.com/office/drawing/2014/main" val="1047518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6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92B7-4301-B56C-88E6-22625938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1" y="121186"/>
            <a:ext cx="9738360" cy="672028"/>
          </a:xfrm>
        </p:spPr>
        <p:txBody>
          <a:bodyPr/>
          <a:lstStyle/>
          <a:p>
            <a:pPr algn="ctr"/>
            <a:r>
              <a:rPr lang="en-US" b="1" dirty="0" err="1"/>
              <a:t>Kaskazini</a:t>
            </a:r>
            <a:r>
              <a:rPr lang="en-US" b="1" dirty="0"/>
              <a:t> A District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8D8F-FE06-274D-B79C-53B7A6B51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607" y="944880"/>
            <a:ext cx="11545677" cy="4970145"/>
          </a:xfrm>
        </p:spPr>
        <p:txBody>
          <a:bodyPr>
            <a:normAutofit/>
          </a:bodyPr>
          <a:lstStyle/>
          <a:p>
            <a:r>
              <a:rPr lang="en-US" sz="2800" dirty="0"/>
              <a:t>Conducted meeting with </a:t>
            </a:r>
            <a:r>
              <a:rPr lang="en-US" sz="2800" dirty="0" err="1"/>
              <a:t>Shehia</a:t>
            </a:r>
            <a:r>
              <a:rPr lang="en-US" sz="2800" dirty="0"/>
              <a:t> leaders to discuss the implementation modalities to address population risk groups (Masai, tour guides) of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Bandakuu</a:t>
            </a:r>
            <a:r>
              <a:rPr lang="en-US" sz="2800" dirty="0"/>
              <a:t> and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Kiungani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lvl="1"/>
            <a:r>
              <a:rPr lang="en-US" sz="2800" dirty="0"/>
              <a:t>DRTs are waiting </a:t>
            </a:r>
            <a:r>
              <a:rPr lang="en-US" sz="2800" dirty="0" err="1"/>
              <a:t>Shehia</a:t>
            </a:r>
            <a:r>
              <a:rPr lang="en-US" sz="2800" dirty="0"/>
              <a:t> leaders to organize the groups in order to respond.</a:t>
            </a:r>
          </a:p>
          <a:p>
            <a:endParaRPr lang="en-US" sz="2800" dirty="0"/>
          </a:p>
          <a:p>
            <a:r>
              <a:rPr lang="en-US" sz="2800" dirty="0"/>
              <a:t>Sensitization meetings to the community of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Kiungani</a:t>
            </a:r>
            <a:r>
              <a:rPr lang="en-US" sz="2800" dirty="0"/>
              <a:t> and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banda</a:t>
            </a:r>
            <a:r>
              <a:rPr lang="en-US" sz="2800" dirty="0"/>
              <a:t> </a:t>
            </a:r>
            <a:r>
              <a:rPr lang="en-US" sz="2800" dirty="0" err="1"/>
              <a:t>kuu</a:t>
            </a:r>
            <a:r>
              <a:rPr lang="en-US" sz="2800" dirty="0"/>
              <a:t> on malaria prevention and importance of early seeking behavior. </a:t>
            </a:r>
          </a:p>
        </p:txBody>
      </p:sp>
    </p:spTree>
    <p:extLst>
      <p:ext uri="{BB962C8B-B14F-4D97-AF65-F5344CB8AC3E}">
        <p14:creationId xmlns:p14="http://schemas.microsoft.com/office/powerpoint/2010/main" val="2577232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936"/>
            <a:ext cx="10515600" cy="80138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         CASE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6320"/>
            <a:ext cx="10515600" cy="5190643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Follow up of malaria commodities, admission and deaths to health facilities.</a:t>
            </a:r>
          </a:p>
          <a:p>
            <a:pPr lvl="1"/>
            <a:r>
              <a:rPr lang="en-US" sz="2800" dirty="0"/>
              <a:t>No health facilities reported antimalaria stock out.</a:t>
            </a:r>
          </a:p>
          <a:p>
            <a:pPr lvl="1"/>
            <a:r>
              <a:rPr lang="en-US" sz="2800" dirty="0"/>
              <a:t>Admission. 11 cases were reported.</a:t>
            </a:r>
          </a:p>
          <a:p>
            <a:pPr lvl="2"/>
            <a:r>
              <a:rPr lang="en-US" sz="2800" dirty="0"/>
              <a:t>4 cases admitted from MMH, among of them:</a:t>
            </a:r>
          </a:p>
          <a:p>
            <a:pPr lvl="3"/>
            <a:r>
              <a:rPr lang="en-US" sz="2800" dirty="0"/>
              <a:t>1 patient was referred from KMKM </a:t>
            </a:r>
          </a:p>
          <a:p>
            <a:pPr lvl="3"/>
            <a:r>
              <a:rPr lang="en-US" sz="2800" dirty="0"/>
              <a:t>3 cases were self referral. </a:t>
            </a:r>
          </a:p>
          <a:p>
            <a:pPr lvl="2"/>
            <a:r>
              <a:rPr lang="en-US" sz="2800" dirty="0"/>
              <a:t>2 patients admitted at </a:t>
            </a:r>
            <a:r>
              <a:rPr lang="en-US" sz="2800" dirty="0" err="1"/>
              <a:t>Ijitimai</a:t>
            </a:r>
            <a:r>
              <a:rPr lang="en-US" sz="2800" dirty="0"/>
              <a:t>, </a:t>
            </a:r>
          </a:p>
          <a:p>
            <a:pPr lvl="2"/>
            <a:r>
              <a:rPr lang="en-US" sz="2800" dirty="0"/>
              <a:t>3 patients were admitted at </a:t>
            </a:r>
            <a:r>
              <a:rPr lang="en-US" sz="2800" dirty="0" err="1"/>
              <a:t>Kivunge</a:t>
            </a:r>
            <a:r>
              <a:rPr lang="en-US" sz="2800" dirty="0"/>
              <a:t> and </a:t>
            </a:r>
          </a:p>
          <a:p>
            <a:pPr lvl="2"/>
            <a:r>
              <a:rPr lang="en-US" sz="2800" dirty="0"/>
              <a:t>2 patients from </a:t>
            </a:r>
            <a:r>
              <a:rPr lang="en-US" sz="2800" dirty="0" err="1"/>
              <a:t>Kitogani</a:t>
            </a:r>
            <a:r>
              <a:rPr lang="en-US" sz="2800" dirty="0"/>
              <a:t> district hospital. </a:t>
            </a:r>
          </a:p>
          <a:p>
            <a:pPr lvl="1"/>
            <a:endParaRPr lang="en-US" sz="2800" dirty="0"/>
          </a:p>
          <a:p>
            <a:r>
              <a:rPr lang="en-US" sz="2800" dirty="0"/>
              <a:t>DEATH: One (1) suspected malaria death reported at MMH in ICU, it was referred from KMKM</a:t>
            </a:r>
          </a:p>
        </p:txBody>
      </p:sp>
    </p:spTree>
    <p:extLst>
      <p:ext uri="{BB962C8B-B14F-4D97-AF65-F5344CB8AC3E}">
        <p14:creationId xmlns:p14="http://schemas.microsoft.com/office/powerpoint/2010/main" val="382934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9B3166-FFC8-4B3E-B383-4249F3C2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>Week 28 situation and response plan</a:t>
            </a:r>
            <a:endParaRPr lang="en-TZ" sz="5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0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ZANZIBAR, WEEK 28, 2024</a:t>
            </a:r>
            <a:endParaRPr lang="en-TZ" sz="2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14ADB-F3B3-0BD9-A136-10AA7EFE1EE5}"/>
              </a:ext>
            </a:extLst>
          </p:cNvPr>
          <p:cNvSpPr txBox="1"/>
          <p:nvPr/>
        </p:nvSpPr>
        <p:spPr>
          <a:xfrm>
            <a:off x="381629" y="5452082"/>
            <a:ext cx="10763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week 28, there was a decrease of 15 cases notified from the 220 cases that was reported last week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NB: In week 27, it shows an increase of 19 cases that were lately notified from facilities i.e. from 201 to 220 cases</a:t>
            </a:r>
            <a:endParaRPr lang="en-TZ" dirty="0">
              <a:latin typeface="Gill Sans MT" panose="020B05020201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9B03E-DE9F-67CC-A2E2-F36902598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690" y="808894"/>
            <a:ext cx="9589802" cy="467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6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KASKAZINI A, WEEK 28, 2024</a:t>
            </a:r>
            <a:endParaRPr lang="en-TZ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4076E-77D5-056A-9050-6BCAE2D8B3CF}"/>
              </a:ext>
            </a:extLst>
          </p:cNvPr>
          <p:cNvSpPr txBox="1"/>
          <p:nvPr/>
        </p:nvSpPr>
        <p:spPr>
          <a:xfrm>
            <a:off x="84723" y="1131583"/>
            <a:ext cx="395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Weekly epidemic threshold </a:t>
            </a:r>
            <a:endParaRPr lang="en-TZ" b="1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8AA8F-A2FE-7DE0-3403-F0660898C348}"/>
              </a:ext>
            </a:extLst>
          </p:cNvPr>
          <p:cNvSpPr txBox="1"/>
          <p:nvPr/>
        </p:nvSpPr>
        <p:spPr>
          <a:xfrm>
            <a:off x="6655339" y="999164"/>
            <a:ext cx="395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Gill Sans MT" panose="020B0502020104020203" pitchFamily="34" charset="0"/>
              </a:rPr>
              <a:t>Shehia</a:t>
            </a:r>
            <a:r>
              <a:rPr lang="en-US" b="1" dirty="0">
                <a:latin typeface="Gill Sans MT" panose="020B0502020104020203" pitchFamily="34" charset="0"/>
              </a:rPr>
              <a:t> with ≥ 5 cases</a:t>
            </a:r>
            <a:endParaRPr lang="en-TZ" b="1" dirty="0">
              <a:latin typeface="Gill Sans MT" panose="020B0502020104020203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8BFCD2-D509-4F99-0E7A-6E9CAF072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03" y="1500916"/>
            <a:ext cx="6180864" cy="2664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F26D87-8700-9F86-5395-BEA1FA67D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68" y="1525687"/>
            <a:ext cx="4391060" cy="263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8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71015-BF6F-4F76-A37F-3A4E9250C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Deepdive</a:t>
            </a:r>
            <a:endParaRPr lang="en-TZ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C311B2-D6D4-46CF-B6FB-6C2AD9A17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160" y="3602038"/>
            <a:ext cx="10378440" cy="878522"/>
          </a:xfrm>
        </p:spPr>
        <p:txBody>
          <a:bodyPr/>
          <a:lstStyle/>
          <a:p>
            <a:r>
              <a:rPr lang="en-US" dirty="0"/>
              <a:t>(We use one of the priority </a:t>
            </a:r>
            <a:r>
              <a:rPr lang="en-US" dirty="0" err="1"/>
              <a:t>shehia</a:t>
            </a:r>
            <a:r>
              <a:rPr lang="en-US" dirty="0"/>
              <a:t>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Nungwi</a:t>
            </a:r>
            <a:r>
              <a:rPr lang="en-US" dirty="0"/>
              <a:t> </a:t>
            </a:r>
            <a:r>
              <a:rPr lang="en-US" dirty="0" err="1"/>
              <a:t>bandakuu</a:t>
            </a:r>
            <a:r>
              <a:rPr lang="en-US" dirty="0"/>
              <a:t> and </a:t>
            </a:r>
            <a:r>
              <a:rPr lang="en-US" dirty="0" err="1"/>
              <a:t>Nungwi</a:t>
            </a:r>
            <a:r>
              <a:rPr lang="en-US" dirty="0"/>
              <a:t> </a:t>
            </a:r>
            <a:r>
              <a:rPr lang="en-US" dirty="0" err="1"/>
              <a:t>kiungani</a:t>
            </a:r>
            <a:r>
              <a:rPr lang="en-US" dirty="0"/>
              <a:t>  to understand further)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689287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977A0-269F-6B22-D00D-BC4E250F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2" y="0"/>
            <a:ext cx="10003971" cy="947738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Demographics characteristics in </a:t>
            </a:r>
            <a:r>
              <a:rPr lang="en-US" sz="2800" dirty="0" err="1"/>
              <a:t>Kilindi</a:t>
            </a:r>
            <a:r>
              <a:rPr lang="en-US" sz="2800" dirty="0"/>
              <a:t>,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bandakuu</a:t>
            </a:r>
            <a:r>
              <a:rPr lang="en-US" sz="2800" dirty="0"/>
              <a:t> and </a:t>
            </a:r>
            <a:r>
              <a:rPr lang="en-US" sz="2800" dirty="0" err="1"/>
              <a:t>Nungwi</a:t>
            </a:r>
            <a:r>
              <a:rPr lang="en-US" sz="2800" dirty="0"/>
              <a:t> </a:t>
            </a:r>
            <a:r>
              <a:rPr lang="en-US" sz="2800" dirty="0" err="1"/>
              <a:t>kiungani</a:t>
            </a:r>
            <a:r>
              <a:rPr lang="en-US" sz="2800" dirty="0"/>
              <a:t>, Kaskazini A, week 28</a:t>
            </a:r>
            <a:endParaRPr lang="en-TZ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01E7D-84FD-C5A8-955C-7E4B7974F711}"/>
              </a:ext>
            </a:extLst>
          </p:cNvPr>
          <p:cNvSpPr txBox="1"/>
          <p:nvPr/>
        </p:nvSpPr>
        <p:spPr>
          <a:xfrm>
            <a:off x="8373291" y="1606731"/>
            <a:ext cx="33597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A total of 40 cases were notified, 29 (72.5%) were male.</a:t>
            </a:r>
          </a:p>
          <a:p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Age group: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&lt;5 years – 7 (17.5%)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5-15 years - 4 (10.0%)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15-25 years – 16 (40.0%)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25-35 years – 9 (22.5%)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35-45 years -  3 (7.5%)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45+ years – 1 (2.5%)</a:t>
            </a:r>
          </a:p>
          <a:p>
            <a:endParaRPr lang="en-US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Case classification- 35 (87.5 %) were local cases</a:t>
            </a:r>
            <a:endParaRPr lang="en-TZ" dirty="0">
              <a:latin typeface="Gill Sans MT" panose="020B05020201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AEEA1C-23EF-CA79-AC9B-8F043A3E1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2915" y="934668"/>
            <a:ext cx="3749902" cy="529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MAGHARIBI A, WEEK 28, 2024</a:t>
            </a:r>
            <a:endParaRPr lang="en-TZ" sz="2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94933-43B1-E1C0-9CB2-06E8565F7060}"/>
              </a:ext>
            </a:extLst>
          </p:cNvPr>
          <p:cNvSpPr txBox="1"/>
          <p:nvPr/>
        </p:nvSpPr>
        <p:spPr>
          <a:xfrm>
            <a:off x="440679" y="5812188"/>
            <a:ext cx="741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week 28, no </a:t>
            </a:r>
            <a:r>
              <a:rPr lang="en-US" dirty="0" err="1">
                <a:latin typeface="Gill Sans MT" panose="020B0502020104020203" pitchFamily="34" charset="0"/>
              </a:rPr>
              <a:t>shehia</a:t>
            </a:r>
            <a:r>
              <a:rPr lang="en-US" dirty="0">
                <a:latin typeface="Gill Sans MT" panose="020B0502020104020203" pitchFamily="34" charset="0"/>
              </a:rPr>
              <a:t> had 5 or more malaria cases </a:t>
            </a:r>
            <a:endParaRPr lang="en-TZ" dirty="0">
              <a:latin typeface="Gill Sans MT" panose="020B05020201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EA717-95D1-1300-E060-A1D099B42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620" y="808894"/>
            <a:ext cx="10571308" cy="489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01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MAGHARIBI B, WEEK 28, 2024</a:t>
            </a:r>
            <a:endParaRPr lang="en-TZ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B8214-243D-5729-8071-A54362A1AE71}"/>
              </a:ext>
            </a:extLst>
          </p:cNvPr>
          <p:cNvSpPr txBox="1"/>
          <p:nvPr/>
        </p:nvSpPr>
        <p:spPr>
          <a:xfrm>
            <a:off x="257800" y="802027"/>
            <a:ext cx="395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ill Sans MT" panose="020B0502020104020203" pitchFamily="34" charset="0"/>
              </a:rPr>
              <a:t>Weekly epidemic threshold </a:t>
            </a:r>
            <a:endParaRPr lang="en-TZ" b="1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E87AC-3BD9-105F-0B3B-905D21781632}"/>
              </a:ext>
            </a:extLst>
          </p:cNvPr>
          <p:cNvSpPr txBox="1"/>
          <p:nvPr/>
        </p:nvSpPr>
        <p:spPr>
          <a:xfrm>
            <a:off x="6655339" y="933849"/>
            <a:ext cx="395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Gill Sans MT" panose="020B0502020104020203" pitchFamily="34" charset="0"/>
              </a:rPr>
              <a:t>Shehia</a:t>
            </a:r>
            <a:r>
              <a:rPr lang="en-US" b="1" dirty="0">
                <a:latin typeface="Gill Sans MT" panose="020B0502020104020203" pitchFamily="34" charset="0"/>
              </a:rPr>
              <a:t> with ≥ 5 cases</a:t>
            </a:r>
            <a:endParaRPr lang="en-TZ" b="1" dirty="0">
              <a:latin typeface="Gill Sans MT" panose="020B05020201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9ED9E9-54DC-CFDD-05F9-BC018A308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800" y="1448358"/>
            <a:ext cx="5838200" cy="2719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9D72B5-931C-A197-12D1-E0FFEBDD4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23" y="1448360"/>
            <a:ext cx="4460305" cy="26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44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3D7C-0591-16E4-0E51-59C12B31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254" y="162562"/>
            <a:ext cx="10068674" cy="646332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WEEKLY MALARIA CASES IN MJINI, WEEK 28, 2024</a:t>
            </a:r>
            <a:endParaRPr lang="en-TZ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D835A-64D4-05BD-E3CA-0DBF225D6D99}"/>
              </a:ext>
            </a:extLst>
          </p:cNvPr>
          <p:cNvSpPr txBox="1"/>
          <p:nvPr/>
        </p:nvSpPr>
        <p:spPr>
          <a:xfrm>
            <a:off x="588752" y="5679774"/>
            <a:ext cx="633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In week 28, no </a:t>
            </a:r>
            <a:r>
              <a:rPr lang="en-US" dirty="0" err="1">
                <a:latin typeface="Gill Sans MT" panose="020B0502020104020203" pitchFamily="34" charset="0"/>
              </a:rPr>
              <a:t>shehia</a:t>
            </a:r>
            <a:r>
              <a:rPr lang="en-US" dirty="0">
                <a:latin typeface="Gill Sans MT" panose="020B0502020104020203" pitchFamily="34" charset="0"/>
              </a:rPr>
              <a:t> had 5 or more malaria cases</a:t>
            </a:r>
            <a:endParaRPr lang="en-TZ" dirty="0">
              <a:latin typeface="Gill Sans MT" panose="020B05020201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0923B9-0DF6-24B6-1392-CEE05EA00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072" y="808894"/>
            <a:ext cx="9723437" cy="478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22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4F62-B641-0790-328B-A06FA94F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980" y="104627"/>
            <a:ext cx="9924836" cy="483952"/>
          </a:xfrm>
        </p:spPr>
        <p:txBody>
          <a:bodyPr>
            <a:noAutofit/>
          </a:bodyPr>
          <a:lstStyle/>
          <a:p>
            <a:pPr algn="ctr"/>
            <a:r>
              <a:rPr lang="en-US" sz="2500" b="1" dirty="0"/>
              <a:t>WEEKLY MALARIA CASES IN ZANZIBAR, WEEK 28,2024</a:t>
            </a:r>
            <a:endParaRPr 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C174EA-EB4C-B33C-4999-0058C2393441}"/>
              </a:ext>
            </a:extLst>
          </p:cNvPr>
          <p:cNvSpPr txBox="1"/>
          <p:nvPr/>
        </p:nvSpPr>
        <p:spPr>
          <a:xfrm>
            <a:off x="165254" y="4887565"/>
            <a:ext cx="1182109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Gill Sans MT" panose="020B0502020104020203" pitchFamily="34" charset="0"/>
              </a:rPr>
              <a:t>Of </a:t>
            </a:r>
            <a:r>
              <a:rPr lang="en-US" sz="1700" b="1" dirty="0">
                <a:latin typeface="Gill Sans MT" panose="020B0502020104020203" pitchFamily="34" charset="0"/>
              </a:rPr>
              <a:t>797</a:t>
            </a:r>
            <a:r>
              <a:rPr lang="en-US" sz="1700" dirty="0">
                <a:latin typeface="Gill Sans MT" panose="020B0502020104020203" pitchFamily="34" charset="0"/>
              </a:rPr>
              <a:t> cases notified in Pemba zone from week 1-28, </a:t>
            </a:r>
            <a:r>
              <a:rPr lang="en-US" sz="1700" b="1" dirty="0">
                <a:latin typeface="Gill Sans MT" panose="020B0502020104020203" pitchFamily="34" charset="0"/>
              </a:rPr>
              <a:t>251 (31.5%) </a:t>
            </a:r>
            <a:r>
              <a:rPr lang="en-US" sz="1700" dirty="0">
                <a:latin typeface="Gill Sans MT" panose="020B0502020104020203" pitchFamily="34" charset="0"/>
              </a:rPr>
              <a:t>are in Wete, </a:t>
            </a:r>
            <a:r>
              <a:rPr lang="en-US" sz="1700" b="1" dirty="0">
                <a:latin typeface="Gill Sans MT" panose="020B0502020104020203" pitchFamily="34" charset="0"/>
              </a:rPr>
              <a:t>242 (30.4%) </a:t>
            </a:r>
            <a:r>
              <a:rPr lang="en-US" sz="1700" dirty="0">
                <a:latin typeface="Gill Sans MT" panose="020B0502020104020203" pitchFamily="34" charset="0"/>
              </a:rPr>
              <a:t>in Chakechake, </a:t>
            </a:r>
            <a:r>
              <a:rPr lang="en-US" sz="1700" b="1" dirty="0">
                <a:latin typeface="Gill Sans MT" panose="020B0502020104020203" pitchFamily="34" charset="0"/>
              </a:rPr>
              <a:t>208</a:t>
            </a:r>
            <a:r>
              <a:rPr lang="en-US" sz="1700" dirty="0">
                <a:latin typeface="Gill Sans MT" panose="020B0502020104020203" pitchFamily="34" charset="0"/>
              </a:rPr>
              <a:t> </a:t>
            </a:r>
            <a:r>
              <a:rPr lang="en-US" sz="1700" b="1" dirty="0">
                <a:latin typeface="Gill Sans MT" panose="020B0502020104020203" pitchFamily="34" charset="0"/>
              </a:rPr>
              <a:t>(26.1%) </a:t>
            </a:r>
            <a:r>
              <a:rPr lang="en-US" sz="1700" dirty="0">
                <a:latin typeface="Gill Sans MT" panose="020B0502020104020203" pitchFamily="34" charset="0"/>
              </a:rPr>
              <a:t>in Micheweni and 96 </a:t>
            </a:r>
            <a:r>
              <a:rPr lang="en-US" sz="1700" b="1" dirty="0">
                <a:latin typeface="Gill Sans MT" panose="020B0502020104020203" pitchFamily="34" charset="0"/>
              </a:rPr>
              <a:t>(12.0%) </a:t>
            </a:r>
            <a:r>
              <a:rPr lang="en-US" sz="1700" dirty="0">
                <a:latin typeface="Gill Sans MT" panose="020B0502020104020203" pitchFamily="34" charset="0"/>
              </a:rPr>
              <a:t>in Mkoani districts.</a:t>
            </a:r>
          </a:p>
          <a:p>
            <a:pPr algn="just"/>
            <a:endParaRPr lang="en-US" sz="1700" dirty="0">
              <a:latin typeface="Gill Sans MT" panose="020B05020201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Gill Sans MT" panose="020B0502020104020203" pitchFamily="34" charset="0"/>
              </a:rPr>
              <a:t>Of </a:t>
            </a:r>
            <a:r>
              <a:rPr lang="en-US" sz="1700" b="1" dirty="0">
                <a:latin typeface="Gill Sans MT" panose="020B0502020104020203" pitchFamily="34" charset="0"/>
              </a:rPr>
              <a:t>15,188</a:t>
            </a:r>
            <a:r>
              <a:rPr lang="en-US" sz="1700" dirty="0">
                <a:latin typeface="Gill Sans MT" panose="020B0502020104020203" pitchFamily="34" charset="0"/>
              </a:rPr>
              <a:t> cases notified in Unguja zone from week 1-28, </a:t>
            </a:r>
            <a:r>
              <a:rPr lang="en-US" sz="1700" b="1" dirty="0">
                <a:latin typeface="Gill Sans MT" panose="020B0502020104020203" pitchFamily="34" charset="0"/>
              </a:rPr>
              <a:t>6,217 (40.9%) </a:t>
            </a:r>
            <a:r>
              <a:rPr lang="en-US" sz="1700" dirty="0">
                <a:latin typeface="Gill Sans MT" panose="020B0502020104020203" pitchFamily="34" charset="0"/>
              </a:rPr>
              <a:t>are in Mjini, </a:t>
            </a:r>
            <a:r>
              <a:rPr lang="en-US" sz="1700" b="1" dirty="0">
                <a:latin typeface="Gill Sans MT" panose="020B0502020104020203" pitchFamily="34" charset="0"/>
              </a:rPr>
              <a:t>4,195 (27.6%) </a:t>
            </a:r>
            <a:r>
              <a:rPr lang="en-US" sz="1700" dirty="0">
                <a:latin typeface="Gill Sans MT" panose="020B0502020104020203" pitchFamily="34" charset="0"/>
              </a:rPr>
              <a:t>in Magharibi B, </a:t>
            </a:r>
            <a:r>
              <a:rPr lang="en-US" sz="1700" b="1" dirty="0">
                <a:latin typeface="Gill Sans MT" panose="020B0502020104020203" pitchFamily="34" charset="0"/>
              </a:rPr>
              <a:t>1,961 (12.9%) </a:t>
            </a:r>
            <a:r>
              <a:rPr lang="en-US" sz="1700" dirty="0">
                <a:latin typeface="Gill Sans MT" panose="020B0502020104020203" pitchFamily="34" charset="0"/>
              </a:rPr>
              <a:t>in Magharibi A, </a:t>
            </a:r>
            <a:r>
              <a:rPr lang="en-US" sz="1700" b="1" dirty="0">
                <a:latin typeface="Gill Sans MT" panose="020B0502020104020203" pitchFamily="34" charset="0"/>
              </a:rPr>
              <a:t>930 (6.1%) </a:t>
            </a:r>
            <a:r>
              <a:rPr lang="en-US" sz="1700" dirty="0">
                <a:latin typeface="Gill Sans MT" panose="020B0502020104020203" pitchFamily="34" charset="0"/>
              </a:rPr>
              <a:t>in Kati, </a:t>
            </a:r>
            <a:r>
              <a:rPr lang="en-US" sz="1700" b="1" dirty="0">
                <a:latin typeface="Gill Sans MT" panose="020B0502020104020203" pitchFamily="34" charset="0"/>
              </a:rPr>
              <a:t>820 (5.4%) </a:t>
            </a:r>
            <a:r>
              <a:rPr lang="en-US" sz="1700" dirty="0">
                <a:latin typeface="Gill Sans MT" panose="020B0502020104020203" pitchFamily="34" charset="0"/>
              </a:rPr>
              <a:t>in Kaskazini A, </a:t>
            </a:r>
            <a:r>
              <a:rPr lang="en-US" sz="1700" b="1" dirty="0">
                <a:latin typeface="Gill Sans MT" panose="020B0502020104020203" pitchFamily="34" charset="0"/>
              </a:rPr>
              <a:t>609 (4.0%) </a:t>
            </a:r>
            <a:r>
              <a:rPr lang="en-US" sz="1700" dirty="0">
                <a:latin typeface="Gill Sans MT" panose="020B0502020104020203" pitchFamily="34" charset="0"/>
              </a:rPr>
              <a:t>in Kaskazini B and </a:t>
            </a:r>
            <a:r>
              <a:rPr lang="en-US" sz="1700" b="1" dirty="0">
                <a:latin typeface="Gill Sans MT" panose="020B0502020104020203" pitchFamily="34" charset="0"/>
              </a:rPr>
              <a:t>456 (3.0%) </a:t>
            </a:r>
            <a:r>
              <a:rPr lang="en-US" sz="1700" dirty="0">
                <a:latin typeface="Gill Sans MT" panose="020B0502020104020203" pitchFamily="34" charset="0"/>
              </a:rPr>
              <a:t>in Kusini districts.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E1258F-D371-1881-350F-D299B3124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473" y="883152"/>
            <a:ext cx="10981850" cy="391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61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BD09-6C15-7EC5-5027-1B58A668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15" y="138135"/>
            <a:ext cx="9957371" cy="900149"/>
          </a:xfrm>
        </p:spPr>
        <p:txBody>
          <a:bodyPr>
            <a:noAutofit/>
          </a:bodyPr>
          <a:lstStyle/>
          <a:p>
            <a:pPr algn="ctr"/>
            <a:r>
              <a:rPr lang="en-US" sz="2500" b="1" dirty="0"/>
              <a:t>MALARIA CASES IN PEMBA DISTRICTS, 1</a:t>
            </a:r>
            <a:r>
              <a:rPr lang="en-US" sz="2500" b="1" baseline="30000" dirty="0"/>
              <a:t>st</a:t>
            </a:r>
            <a:r>
              <a:rPr lang="en-US" sz="2500" b="1" dirty="0"/>
              <a:t> Jan – 15</a:t>
            </a:r>
            <a:r>
              <a:rPr lang="en-US" sz="2500" b="1" baseline="30000" dirty="0"/>
              <a:t>th</a:t>
            </a:r>
            <a:r>
              <a:rPr lang="en-US" sz="2500" b="1" dirty="0"/>
              <a:t> July, 2024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A12168-F99F-6992-8EC3-48B836D74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048299"/>
              </p:ext>
            </p:extLst>
          </p:nvPr>
        </p:nvGraphicFramePr>
        <p:xfrm>
          <a:off x="563880" y="1377878"/>
          <a:ext cx="11064238" cy="38646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1007660708"/>
                    </a:ext>
                  </a:extLst>
                </a:gridCol>
                <a:gridCol w="2214390">
                  <a:extLst>
                    <a:ext uri="{9D8B030D-6E8A-4147-A177-3AD203B41FA5}">
                      <a16:colId xmlns:a16="http://schemas.microsoft.com/office/drawing/2014/main" val="908443087"/>
                    </a:ext>
                  </a:extLst>
                </a:gridCol>
                <a:gridCol w="1476261">
                  <a:extLst>
                    <a:ext uri="{9D8B030D-6E8A-4147-A177-3AD203B41FA5}">
                      <a16:colId xmlns:a16="http://schemas.microsoft.com/office/drawing/2014/main" val="1693898558"/>
                    </a:ext>
                  </a:extLst>
                </a:gridCol>
                <a:gridCol w="1641513">
                  <a:extLst>
                    <a:ext uri="{9D8B030D-6E8A-4147-A177-3AD203B41FA5}">
                      <a16:colId xmlns:a16="http://schemas.microsoft.com/office/drawing/2014/main" val="382500169"/>
                    </a:ext>
                  </a:extLst>
                </a:gridCol>
                <a:gridCol w="1894901">
                  <a:extLst>
                    <a:ext uri="{9D8B030D-6E8A-4147-A177-3AD203B41FA5}">
                      <a16:colId xmlns:a16="http://schemas.microsoft.com/office/drawing/2014/main" val="628772846"/>
                    </a:ext>
                  </a:extLst>
                </a:gridCol>
                <a:gridCol w="1657853">
                  <a:extLst>
                    <a:ext uri="{9D8B030D-6E8A-4147-A177-3AD203B41FA5}">
                      <a16:colId xmlns:a16="http://schemas.microsoft.com/office/drawing/2014/main" val="1367954353"/>
                    </a:ext>
                  </a:extLst>
                </a:gridCol>
              </a:tblGrid>
              <a:tr h="340753">
                <a:tc rowSpan="2">
                  <a:txBody>
                    <a:bodyPr/>
                    <a:lstStyle/>
                    <a:p>
                      <a:pPr marL="0" indent="404813" algn="ctr" fontAlgn="b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District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Total Number of cases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# of cases in last 4 weeks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36274660"/>
                  </a:ext>
                </a:extLst>
              </a:tr>
              <a:tr h="579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wk26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wk28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47619260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CHAKECHAKE</a:t>
                      </a:r>
                    </a:p>
                  </a:txBody>
                  <a:tcPr marL="952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954377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MICHEWENI</a:t>
                      </a:r>
                    </a:p>
                  </a:txBody>
                  <a:tcPr marL="952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1960777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MKOANI</a:t>
                      </a:r>
                    </a:p>
                  </a:txBody>
                  <a:tcPr marL="952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646603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WETE</a:t>
                      </a:r>
                    </a:p>
                  </a:txBody>
                  <a:tcPr marL="952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6698860"/>
                  </a:ext>
                </a:extLst>
              </a:tr>
              <a:tr h="588776">
                <a:tc>
                  <a:txBody>
                    <a:bodyPr/>
                    <a:lstStyle/>
                    <a:p>
                      <a:pPr marL="0" indent="404813" algn="ctr" defTabSz="914400" rtl="0" eaLnBrk="1" fontAlgn="b" latinLnBrk="0" hangingPunct="1"/>
                      <a:r>
                        <a:rPr 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Grand Total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776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42106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72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BD09-6C15-7EC5-5027-1B58A668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258" y="86765"/>
            <a:ext cx="10090222" cy="900149"/>
          </a:xfrm>
        </p:spPr>
        <p:txBody>
          <a:bodyPr>
            <a:noAutofit/>
          </a:bodyPr>
          <a:lstStyle/>
          <a:p>
            <a:r>
              <a:rPr lang="en-US" sz="2400" b="1" dirty="0"/>
              <a:t>MALARIA CASES IN UNGUJA DISTRICTS, 1</a:t>
            </a:r>
            <a:r>
              <a:rPr lang="en-US" sz="2400" b="1" baseline="30000" dirty="0"/>
              <a:t>st</a:t>
            </a:r>
            <a:r>
              <a:rPr lang="en-US" sz="2400" b="1" dirty="0"/>
              <a:t> Jan to 15</a:t>
            </a:r>
            <a:r>
              <a:rPr lang="en-US" sz="2400" b="1" baseline="30000" dirty="0"/>
              <a:t>th</a:t>
            </a:r>
            <a:r>
              <a:rPr lang="en-US" sz="2400" b="1" dirty="0"/>
              <a:t> July, 2024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A12168-F99F-6992-8EC3-48B836D74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97502"/>
              </p:ext>
            </p:extLst>
          </p:nvPr>
        </p:nvGraphicFramePr>
        <p:xfrm>
          <a:off x="701040" y="986914"/>
          <a:ext cx="10505442" cy="50380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5277">
                  <a:extLst>
                    <a:ext uri="{9D8B030D-6E8A-4147-A177-3AD203B41FA5}">
                      <a16:colId xmlns:a16="http://schemas.microsoft.com/office/drawing/2014/main" val="1007660708"/>
                    </a:ext>
                  </a:extLst>
                </a:gridCol>
                <a:gridCol w="2091617">
                  <a:extLst>
                    <a:ext uri="{9D8B030D-6E8A-4147-A177-3AD203B41FA5}">
                      <a16:colId xmlns:a16="http://schemas.microsoft.com/office/drawing/2014/main" val="200360216"/>
                    </a:ext>
                  </a:extLst>
                </a:gridCol>
                <a:gridCol w="1326940">
                  <a:extLst>
                    <a:ext uri="{9D8B030D-6E8A-4147-A177-3AD203B41FA5}">
                      <a16:colId xmlns:a16="http://schemas.microsoft.com/office/drawing/2014/main" val="1633391563"/>
                    </a:ext>
                  </a:extLst>
                </a:gridCol>
                <a:gridCol w="1698033">
                  <a:extLst>
                    <a:ext uri="{9D8B030D-6E8A-4147-A177-3AD203B41FA5}">
                      <a16:colId xmlns:a16="http://schemas.microsoft.com/office/drawing/2014/main" val="2856845986"/>
                    </a:ext>
                  </a:extLst>
                </a:gridCol>
                <a:gridCol w="1720523">
                  <a:extLst>
                    <a:ext uri="{9D8B030D-6E8A-4147-A177-3AD203B41FA5}">
                      <a16:colId xmlns:a16="http://schemas.microsoft.com/office/drawing/2014/main" val="3157364332"/>
                    </a:ext>
                  </a:extLst>
                </a:gridCol>
                <a:gridCol w="1363052">
                  <a:extLst>
                    <a:ext uri="{9D8B030D-6E8A-4147-A177-3AD203B41FA5}">
                      <a16:colId xmlns:a16="http://schemas.microsoft.com/office/drawing/2014/main" val="571301034"/>
                    </a:ext>
                  </a:extLst>
                </a:gridCol>
              </a:tblGrid>
              <a:tr h="288940">
                <a:tc rowSpan="2">
                  <a:txBody>
                    <a:bodyPr/>
                    <a:lstStyle/>
                    <a:p>
                      <a:pPr marL="0" indent="404813" algn="ctr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District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Total # of Cases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# of cases last 4 weeks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36274660"/>
                  </a:ext>
                </a:extLst>
              </a:tr>
              <a:tr h="5309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wk25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wk26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wk27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wk28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48616610"/>
                  </a:ext>
                </a:extLst>
              </a:tr>
              <a:tr h="6067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C00000"/>
                          </a:solidFill>
                          <a:effectLst/>
                          <a:latin typeface="Gill Sans MT" panose="020B0502020104020203" pitchFamily="34" charset="0"/>
                        </a:rPr>
                        <a:t>KASKAZINI 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820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954377"/>
                  </a:ext>
                </a:extLst>
              </a:tr>
              <a:tr h="6067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</a:rPr>
                        <a:t>KASKAZINI 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609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1960777"/>
                  </a:ext>
                </a:extLst>
              </a:tr>
              <a:tr h="45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</a:rPr>
                        <a:t>KATI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646603"/>
                  </a:ext>
                </a:extLst>
              </a:tr>
              <a:tr h="45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MT" panose="020B0502020104020203" pitchFamily="34" charset="0"/>
                        </a:rPr>
                        <a:t>KUSINI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76698860"/>
                  </a:ext>
                </a:extLst>
              </a:tr>
              <a:tr h="6067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MAGHARIBI 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1,961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88472823"/>
                  </a:ext>
                </a:extLst>
              </a:tr>
              <a:tr h="6067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MAGHARIBI 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4,195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53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1447887"/>
                  </a:ext>
                </a:extLst>
              </a:tr>
              <a:tr h="45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MJINI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6,217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67727653"/>
                  </a:ext>
                </a:extLst>
              </a:tr>
              <a:tr h="421056">
                <a:tc>
                  <a:txBody>
                    <a:bodyPr/>
                    <a:lstStyle/>
                    <a:p>
                      <a:pPr marL="0" indent="404813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Grand Total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15,188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230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205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en-US" sz="24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  <a:ea typeface="+mn-ea"/>
                          <a:cs typeface="+mn-cs"/>
                        </a:rPr>
                        <a:t>187</a:t>
                      </a:r>
                    </a:p>
                  </a:txBody>
                  <a:tcPr marL="6350" marR="6350" marT="635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42106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057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DE7D-1822-B997-C007-ABD0A9CB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430" y="162562"/>
            <a:ext cx="10027579" cy="619588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DAILY MALARIA CASES IN ZANZIBAR, 2024</a:t>
            </a:r>
            <a:endParaRPr lang="en-TZ" sz="25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00554D-46C9-5505-50F7-EDEE3CD05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4624" y="1035781"/>
            <a:ext cx="11022752" cy="450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6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D8D5E2-E0A6-3DB5-BBBF-04CC8DC9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362" y="64266"/>
            <a:ext cx="9916275" cy="94773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DEMOGRAPHIC SUMMARY BY AGE GROUP -  WEEK 28, 2024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01E4C-3F88-07F6-0B15-E9E535311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8" y="1012004"/>
            <a:ext cx="11068583" cy="44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1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1FEF-D6B1-363A-F464-61DD91FF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BEFFA9-B0CB-2763-0E63-66159B88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447" y="136186"/>
            <a:ext cx="9780998" cy="947738"/>
          </a:xfrm>
        </p:spPr>
        <p:txBody>
          <a:bodyPr>
            <a:noAutofit/>
          </a:bodyPr>
          <a:lstStyle/>
          <a:p>
            <a:pPr algn="ctr"/>
            <a:r>
              <a:rPr lang="en-US" sz="2500" b="1" dirty="0"/>
              <a:t>DEMOGRAPHIC SUMMARY BY SEX, WEEK 28, 2024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73CEF-85C8-9118-5EBD-77F22E4D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47" y="879822"/>
            <a:ext cx="9945775" cy="539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7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A3C6C1-DE26-44BB-AE56-D6AD95C4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Response plan for week 28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44355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9B1F-D669-C83E-5273-F5CC16DB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70"/>
            <a:ext cx="10374629" cy="649995"/>
          </a:xfrm>
        </p:spPr>
        <p:txBody>
          <a:bodyPr/>
          <a:lstStyle/>
          <a:p>
            <a:pPr algn="ctr"/>
            <a:r>
              <a:rPr lang="en-US" dirty="0" err="1"/>
              <a:t>Kaskazini</a:t>
            </a:r>
            <a:r>
              <a:rPr lang="en-US" dirty="0"/>
              <a:t> A (</a:t>
            </a:r>
            <a:r>
              <a:rPr lang="en-US" dirty="0" err="1"/>
              <a:t>Nugwi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</a:t>
            </a:r>
            <a:r>
              <a:rPr lang="en-US" dirty="0" err="1"/>
              <a:t>kuu</a:t>
            </a:r>
            <a:r>
              <a:rPr lang="en-US" dirty="0"/>
              <a:t> and </a:t>
            </a:r>
            <a:r>
              <a:rPr lang="en-US" dirty="0" err="1"/>
              <a:t>Nungwi</a:t>
            </a:r>
            <a:r>
              <a:rPr lang="en-US" dirty="0"/>
              <a:t> </a:t>
            </a:r>
            <a:r>
              <a:rPr lang="en-US" dirty="0" err="1"/>
              <a:t>Kiungani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6D398-E892-14DF-A8EA-CB207404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55" y="1051559"/>
            <a:ext cx="11655846" cy="5128903"/>
          </a:xfrm>
        </p:spPr>
        <p:txBody>
          <a:bodyPr>
            <a:normAutofit/>
          </a:bodyPr>
          <a:lstStyle/>
          <a:p>
            <a:r>
              <a:rPr lang="en-US" sz="2800" dirty="0"/>
              <a:t>Conduct </a:t>
            </a:r>
            <a:r>
              <a:rPr lang="en-US" sz="2800" dirty="0" err="1"/>
              <a:t>fMDA</a:t>
            </a:r>
            <a:r>
              <a:rPr lang="en-US" sz="2800" dirty="0"/>
              <a:t> to most affected groups (Masai and tour guiders) after receiving feedback from the </a:t>
            </a:r>
            <a:r>
              <a:rPr lang="en-US" sz="2800" dirty="0" err="1"/>
              <a:t>Shehia</a:t>
            </a:r>
            <a:r>
              <a:rPr lang="en-US" sz="2800" dirty="0"/>
              <a:t> leaders on when and where to get the targeted population.</a:t>
            </a:r>
          </a:p>
          <a:p>
            <a:endParaRPr lang="en-US" sz="2800" dirty="0"/>
          </a:p>
          <a:p>
            <a:r>
              <a:rPr lang="en-US" sz="2800" dirty="0"/>
              <a:t>ACD to </a:t>
            </a:r>
            <a:r>
              <a:rPr lang="en-US" sz="2800" dirty="0" err="1"/>
              <a:t>Nugwi</a:t>
            </a:r>
            <a:r>
              <a:rPr lang="en-US" sz="2800" dirty="0"/>
              <a:t> camp school after having reported three local cases</a:t>
            </a:r>
          </a:p>
        </p:txBody>
      </p:sp>
    </p:spTree>
    <p:extLst>
      <p:ext uri="{BB962C8B-B14F-4D97-AF65-F5344CB8AC3E}">
        <p14:creationId xmlns:p14="http://schemas.microsoft.com/office/powerpoint/2010/main" val="2281439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330" y="144532"/>
            <a:ext cx="9839034" cy="585851"/>
          </a:xfrm>
        </p:spPr>
        <p:txBody>
          <a:bodyPr>
            <a:normAutofit fontScale="90000"/>
          </a:bodyPr>
          <a:lstStyle/>
          <a:p>
            <a:r>
              <a:rPr lang="en-US" sz="2500" b="1" dirty="0"/>
              <a:t>DISTRIBUTION OF LOCAL CASES IN ZANZIBAR - WEEK 28, 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F90F9-8A31-4F5D-8453-4AACF8A56E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t="38788" r="77592" b="43030"/>
          <a:stretch/>
        </p:blipFill>
        <p:spPr>
          <a:xfrm>
            <a:off x="10140445" y="5775478"/>
            <a:ext cx="1643716" cy="93799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FF51E-8C41-1FBE-0C67-E1F935CD3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615"/>
          <a:stretch/>
        </p:blipFill>
        <p:spPr>
          <a:xfrm>
            <a:off x="250693" y="808760"/>
            <a:ext cx="3581387" cy="5365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8B726-7A32-39E1-C723-8583CC7E9D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31" r="8160"/>
          <a:stretch/>
        </p:blipFill>
        <p:spPr>
          <a:xfrm>
            <a:off x="4036422" y="669074"/>
            <a:ext cx="3282311" cy="55054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8B58EA-0898-0688-90D5-E9B53ADF99B3}"/>
              </a:ext>
            </a:extLst>
          </p:cNvPr>
          <p:cNvSpPr/>
          <p:nvPr/>
        </p:nvSpPr>
        <p:spPr>
          <a:xfrm>
            <a:off x="5085394" y="723625"/>
            <a:ext cx="592183" cy="5472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B77F96-746E-E4C6-343C-518FAF09D3AC}"/>
              </a:ext>
            </a:extLst>
          </p:cNvPr>
          <p:cNvCxnSpPr>
            <a:cxnSpLocks/>
          </p:cNvCxnSpPr>
          <p:nvPr/>
        </p:nvCxnSpPr>
        <p:spPr>
          <a:xfrm>
            <a:off x="5695069" y="997240"/>
            <a:ext cx="2610736" cy="6999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EC8CA25-D5B3-E904-861E-C5E443A0C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202" y="978677"/>
            <a:ext cx="3382785" cy="47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67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694" y="71920"/>
            <a:ext cx="9839218" cy="873302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SHEHIAS WITH LOCAL CASES IN MJINI MAGHARIBI REGION </a:t>
            </a:r>
            <a:br>
              <a:rPr lang="en-US" sz="2400" b="1" dirty="0"/>
            </a:br>
            <a:r>
              <a:rPr lang="en-US" sz="2400" b="1" dirty="0"/>
              <a:t> WEEK 27 vs 28, 2024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4" t="38788" r="77592" b="43030"/>
          <a:stretch/>
        </p:blipFill>
        <p:spPr>
          <a:xfrm>
            <a:off x="0" y="5611091"/>
            <a:ext cx="1643716" cy="937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530" y="1406226"/>
            <a:ext cx="1463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ill Sans MT" panose="020B0502020104020203" pitchFamily="34" charset="0"/>
              </a:rPr>
              <a:t>Week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9097" y="1293479"/>
            <a:ext cx="1380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ill Sans MT" panose="020B0502020104020203" pitchFamily="34" charset="0"/>
              </a:rPr>
              <a:t>Week 28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2268C5-ED52-845E-CF44-1EAFB3EF6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85" y="962264"/>
            <a:ext cx="3659804" cy="517537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9D0F308-2248-883B-0DE1-1B7FAD56B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86572" y="945221"/>
            <a:ext cx="3671856" cy="519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6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037F-C888-4E8F-940A-AA6EC18C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360" y="172402"/>
            <a:ext cx="9204960" cy="681038"/>
          </a:xfrm>
        </p:spPr>
        <p:txBody>
          <a:bodyPr>
            <a:normAutofit/>
          </a:bodyPr>
          <a:lstStyle/>
          <a:p>
            <a:r>
              <a:rPr lang="en-US" dirty="0"/>
              <a:t>Key takeaways and recommendations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1C0B-75A2-4216-8D2A-C7C28598A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082040"/>
            <a:ext cx="10957561" cy="49225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Despite the general case decrease in Zanzibar, yet Kaskazini A has persisting high number of cases that are above the district threshold.  </a:t>
            </a:r>
          </a:p>
          <a:p>
            <a:pPr lvl="1"/>
            <a:r>
              <a:rPr lang="en-US" dirty="0"/>
              <a:t>ZAMEP to intensify further responses in the area, including further SBCC campaigns to address inhouse</a:t>
            </a:r>
            <a:r>
              <a:rPr lang="en-US" dirty="0">
                <a:latin typeface="Gill Sans MT"/>
                <a:cs typeface="Calibri" panose="020F0502020204030204"/>
              </a:rPr>
              <a:t> breeding habitats (covering water pots, toilet facilities, open eaves), </a:t>
            </a:r>
            <a:r>
              <a:rPr lang="en-US" dirty="0"/>
              <a:t>and conduct further entomological foci investigation and response.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Predominance of male cases in Kaskazni A could suggest some occupational based risk contributing to transmission. Thus appropriate search of high risk groups with appropriate  targeted intervention is recommended. </a:t>
            </a:r>
          </a:p>
          <a:p>
            <a:pPr lvl="1"/>
            <a:r>
              <a:rPr lang="en-US" dirty="0"/>
              <a:t>An integrated approach where all thematic units work as a team to address Kaskazini A i.e. all units at the same time and place, is highly recommended to make this recommendation achievable.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949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86f385-0972-494d-b4a6-99c67e5c7c5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CE402D36B575438C348A4321064DE8" ma:contentTypeVersion="15" ma:contentTypeDescription="Create a new document." ma:contentTypeScope="" ma:versionID="c476af94e2e0f9db562b3137539db5eb">
  <xsd:schema xmlns:xsd="http://www.w3.org/2001/XMLSchema" xmlns:xs="http://www.w3.org/2001/XMLSchema" xmlns:p="http://schemas.microsoft.com/office/2006/metadata/properties" xmlns:ns3="9886f385-0972-494d-b4a6-99c67e5c7c5f" xmlns:ns4="b8455ec2-dbcd-4e5c-8300-341aadec9663" targetNamespace="http://schemas.microsoft.com/office/2006/metadata/properties" ma:root="true" ma:fieldsID="322085d2abcd5499ec3ca473169d615b" ns3:_="" ns4:_="">
    <xsd:import namespace="9886f385-0972-494d-b4a6-99c67e5c7c5f"/>
    <xsd:import namespace="b8455ec2-dbcd-4e5c-8300-341aadec96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6f385-0972-494d-b4a6-99c67e5c7c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55ec2-dbcd-4e5c-8300-341aadec966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D36539-CB93-4A4A-9269-CB3B894E96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B10569-FF0F-4648-9023-C911C59E6283}">
  <ds:schemaRefs>
    <ds:schemaRef ds:uri="http://purl.org/dc/dcmitype/"/>
    <ds:schemaRef ds:uri="http://purl.org/dc/terms/"/>
    <ds:schemaRef ds:uri="b8455ec2-dbcd-4e5c-8300-341aadec9663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9886f385-0972-494d-b4a6-99c67e5c7c5f"/>
  </ds:schemaRefs>
</ds:datastoreItem>
</file>

<file path=customXml/itemProps3.xml><?xml version="1.0" encoding="utf-8"?>
<ds:datastoreItem xmlns:ds="http://schemas.openxmlformats.org/officeDocument/2006/customXml" ds:itemID="{2AB878F4-D938-4E2B-B18F-04E12810CF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6f385-0972-494d-b4a6-99c67e5c7c5f"/>
    <ds:schemaRef ds:uri="b8455ec2-dbcd-4e5c-8300-341aadec96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25395</TotalTime>
  <Words>1097</Words>
  <Application>Microsoft Office PowerPoint</Application>
  <PresentationFormat>Widescreen</PresentationFormat>
  <Paragraphs>215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Gill Sans MT</vt:lpstr>
      <vt:lpstr>Office Theme</vt:lpstr>
      <vt:lpstr>Malaria Situation in Zanzibar</vt:lpstr>
      <vt:lpstr>Last week report deliberations</vt:lpstr>
      <vt:lpstr>WEEKLY MALARIA CASES IN ZANZIBAR, WEEK 27, 2024</vt:lpstr>
      <vt:lpstr>DISTRIBUTION OF LOCAL CASES IN ZANZIBAR - WEEK 27, 2024</vt:lpstr>
      <vt:lpstr>INTERVENTIONS CONDUCTED</vt:lpstr>
      <vt:lpstr>Larvae quality check in Magharibi B</vt:lpstr>
      <vt:lpstr>Net Assessment in Magharibi B</vt:lpstr>
      <vt:lpstr>Kaskazini A District</vt:lpstr>
      <vt:lpstr>         CASE MANAGEMENT</vt:lpstr>
      <vt:lpstr>Week 28 situation and response plan</vt:lpstr>
      <vt:lpstr>WEEKLY MALARIA CASES IN ZANZIBAR, WEEK 28, 2024</vt:lpstr>
      <vt:lpstr>WEEKLY MALARIA CASES IN KASKAZINI A, WEEK 28, 2024</vt:lpstr>
      <vt:lpstr>Deepdive</vt:lpstr>
      <vt:lpstr>Demographics characteristics in Kilindi, Nungwi bandakuu and Nungwi kiungani, Kaskazini A, week 28</vt:lpstr>
      <vt:lpstr>WEEKLY MALARIA CASES IN MAGHARIBI A, WEEK 28, 2024</vt:lpstr>
      <vt:lpstr>WEEKLY MALARIA CASES IN MAGHARIBI B, WEEK 28, 2024</vt:lpstr>
      <vt:lpstr>WEEKLY MALARIA CASES IN MJINI, WEEK 28, 2024</vt:lpstr>
      <vt:lpstr>WEEKLY MALARIA CASES IN ZANZIBAR, WEEK 28,2024</vt:lpstr>
      <vt:lpstr>MALARIA CASES IN PEMBA DISTRICTS, 1st Jan – 15th July, 2024</vt:lpstr>
      <vt:lpstr>MALARIA CASES IN UNGUJA DISTRICTS, 1st Jan to 15th July, 2024</vt:lpstr>
      <vt:lpstr>DAILY MALARIA CASES IN ZANZIBAR, 2024</vt:lpstr>
      <vt:lpstr>DEMOGRAPHIC SUMMARY BY AGE GROUP -  WEEK 28, 2024</vt:lpstr>
      <vt:lpstr>DEMOGRAPHIC SUMMARY BY SEX, WEEK 28, 2024</vt:lpstr>
      <vt:lpstr>Response plan for week 28</vt:lpstr>
      <vt:lpstr>Kaskazini A (Nugwi banda kuu and Nungwi Kiungani)</vt:lpstr>
      <vt:lpstr>DISTRIBUTION OF LOCAL CASES IN ZANZIBAR - WEEK 28, 2024</vt:lpstr>
      <vt:lpstr>SHEHIAS WITH LOCAL CASES IN MJINI MAGHARIBI REGION   WEEK 27 vs 28, 2024</vt:lpstr>
      <vt:lpstr>Key takeaways and recommendations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MANAGEMENT</dc:title>
  <dc:creator>HP</dc:creator>
  <cp:lastModifiedBy>mwikha@hotmail.com</cp:lastModifiedBy>
  <cp:revision>306</cp:revision>
  <dcterms:created xsi:type="dcterms:W3CDTF">2023-06-26T20:22:36Z</dcterms:created>
  <dcterms:modified xsi:type="dcterms:W3CDTF">2024-10-09T17:05:35Z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0x01010085CE402D36B575438C348A4321064DE8</vt:lpwstr>
  </property>
</Properties>
</file>