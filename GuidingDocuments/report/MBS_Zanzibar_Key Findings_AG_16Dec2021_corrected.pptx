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53"/>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Lst>
  <p:sldSz cx="9144000" cy="6858000" type="screen4x3"/>
  <p:notesSz cx="7010400" cy="92964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58" roundtripDataSignature="AMtx7mhZQieoY1bgEfQFye8q+swYJm856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12002221-D99D-4A1F-90BA-900520C405C4}">
  <a:tblStyle styleId="{12002221-D99D-4A1F-90BA-900520C405C4}" styleName="Table_0">
    <a:wholeTbl>
      <a:tcTxStyle b="off" i="off">
        <a:font>
          <a:latin typeface="Calibri"/>
          <a:ea typeface="Calibri"/>
          <a:cs typeface="Calibri"/>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E8EBF5"/>
          </a:solidFill>
        </a:fill>
      </a:tcStyle>
    </a:wholeTbl>
    <a:band1H>
      <a:tcTxStyle/>
      <a:tcStyle>
        <a:tcBdr/>
        <a:fill>
          <a:solidFill>
            <a:srgbClr val="CDD4EA"/>
          </a:solidFill>
        </a:fill>
      </a:tcStyle>
    </a:band1H>
    <a:band2H>
      <a:tcTxStyle/>
      <a:tcStyle>
        <a:tcBdr/>
      </a:tcStyle>
    </a:band2H>
    <a:band1V>
      <a:tcTxStyle/>
      <a:tcStyle>
        <a:tcBdr/>
        <a:fill>
          <a:solidFill>
            <a:srgbClr val="CDD4EA"/>
          </a:solidFill>
        </a:fill>
      </a:tcStyle>
    </a:band1V>
    <a:band2V>
      <a:tcTxStyle/>
      <a:tcStyle>
        <a:tcBdr/>
      </a:tcStyle>
    </a:band2V>
    <a:lastCol>
      <a:tcTxStyle b="on" i="off">
        <a:font>
          <a:latin typeface="Calibri"/>
          <a:ea typeface="Calibri"/>
          <a:cs typeface="Calibri"/>
        </a:font>
        <a:schemeClr val="lt1"/>
      </a:tcTxStyle>
      <a:tcStyle>
        <a:tcBdr/>
        <a:fill>
          <a:solidFill>
            <a:schemeClr val="accent1"/>
          </a:solidFill>
        </a:fill>
      </a:tcStyle>
    </a:lastCol>
    <a:firstCol>
      <a:tcTxStyle b="on" i="off">
        <a:font>
          <a:latin typeface="Calibri"/>
          <a:ea typeface="Calibri"/>
          <a:cs typeface="Calibri"/>
        </a:font>
        <a:schemeClr val="lt1"/>
      </a:tcTxStyle>
      <a:tcStyle>
        <a:tcBdr/>
        <a:fill>
          <a:solidFill>
            <a:schemeClr val="accent1"/>
          </a:solidFill>
        </a:fill>
      </a:tcStyle>
    </a:firstCol>
    <a:lastRow>
      <a:tcTxStyle b="on" i="off">
        <a:font>
          <a:latin typeface="Calibri"/>
          <a:ea typeface="Calibri"/>
          <a:cs typeface="Calibri"/>
        </a:font>
        <a:schemeClr val="lt1"/>
      </a:tcTxStyle>
      <a:tcStyle>
        <a:tcBdr>
          <a:top>
            <a:ln w="38100" cap="flat" cmpd="sng">
              <a:solidFill>
                <a:schemeClr val="lt1"/>
              </a:solidFill>
              <a:prstDash val="solid"/>
              <a:round/>
              <a:headEnd type="none" w="sm" len="sm"/>
              <a:tailEnd type="none" w="sm" len="sm"/>
            </a:ln>
          </a:top>
        </a:tcBdr>
        <a:fill>
          <a:solidFill>
            <a:schemeClr val="accent1"/>
          </a:solidFill>
        </a:fill>
      </a:tcStyle>
    </a:lastRow>
    <a:seCell>
      <a:tcTxStyle/>
      <a:tcStyle>
        <a:tcBdr/>
      </a:tcStyle>
    </a:seCell>
    <a:swCell>
      <a:tcTxStyle/>
      <a:tcStyle>
        <a:tcBdr/>
      </a:tcStyle>
    </a:swCell>
    <a:firstRow>
      <a:tcTxStyle b="on" i="off">
        <a:font>
          <a:latin typeface="Calibri"/>
          <a:ea typeface="Calibri"/>
          <a:cs typeface="Calibri"/>
        </a:font>
        <a:schemeClr val="lt1"/>
      </a:tcTxStyle>
      <a:tcStyle>
        <a:tcBdr>
          <a:bottom>
            <a:ln w="38100" cap="flat" cmpd="sng">
              <a:solidFill>
                <a:schemeClr val="lt1"/>
              </a:solidFill>
              <a:prstDash val="solid"/>
              <a:round/>
              <a:headEnd type="none" w="sm" len="sm"/>
              <a:tailEnd type="none" w="sm" len="sm"/>
            </a:ln>
          </a:bottom>
        </a:tcBdr>
        <a:fill>
          <a:solidFill>
            <a:schemeClr val="accent1"/>
          </a:solidFill>
        </a:fill>
      </a:tcStyle>
    </a:firstRow>
    <a:neCell>
      <a:tcTxStyle/>
      <a:tcStyle>
        <a:tcBdr/>
      </a:tcStyle>
    </a:neCell>
    <a:nwCell>
      <a:tcTxStyle/>
      <a:tcStyle>
        <a:tcBdr/>
      </a:tcStyle>
    </a:nwCell>
  </a:tblStyle>
  <a:tblStyle styleId="{0F5DDAFE-8A5D-45DF-BDFB-D2D1054F2A95}" styleName="Table_1">
    <a:wholeTbl>
      <a:tcTxStyle>
        <a:font>
          <a:latin typeface="Arial"/>
          <a:ea typeface="Arial"/>
          <a:cs typeface="Arial"/>
        </a:font>
        <a:srgbClr val="000000"/>
      </a:tcTxStyle>
      <a:tcStyle>
        <a:tcBdr>
          <a:left>
            <a:ln w="9525" cap="flat" cmpd="sng">
              <a:solidFill>
                <a:srgbClr val="000000"/>
              </a:solidFill>
              <a:prstDash val="solid"/>
              <a:round/>
              <a:headEnd type="none" w="sm" len="sm"/>
              <a:tailEnd type="none" w="sm" len="sm"/>
            </a:ln>
          </a:left>
          <a:right>
            <a:ln w="9525" cap="flat" cmpd="sng">
              <a:solidFill>
                <a:srgbClr val="000000"/>
              </a:solidFill>
              <a:prstDash val="solid"/>
              <a:round/>
              <a:headEnd type="none" w="sm" len="sm"/>
              <a:tailEnd type="none" w="sm" len="sm"/>
            </a:ln>
          </a:right>
          <a:top>
            <a:ln w="9525" cap="flat" cmpd="sng">
              <a:solidFill>
                <a:srgbClr val="000000"/>
              </a:solidFill>
              <a:prstDash val="solid"/>
              <a:round/>
              <a:headEnd type="none" w="sm" len="sm"/>
              <a:tailEnd type="none" w="sm" len="sm"/>
            </a:ln>
          </a:top>
          <a:bottom>
            <a:ln w="9525" cap="flat" cmpd="sng">
              <a:solidFill>
                <a:srgbClr val="000000"/>
              </a:solidFill>
              <a:prstDash val="solid"/>
              <a:round/>
              <a:headEnd type="none" w="sm" len="sm"/>
              <a:tailEnd type="none" w="sm" len="sm"/>
            </a:ln>
          </a:bottom>
          <a:insideH>
            <a:ln w="9525" cap="flat" cmpd="sng">
              <a:solidFill>
                <a:srgbClr val="000000"/>
              </a:solidFill>
              <a:prstDash val="solid"/>
              <a:round/>
              <a:headEnd type="none" w="sm" len="sm"/>
              <a:tailEnd type="none" w="sm" len="sm"/>
            </a:ln>
          </a:insideH>
          <a:insideV>
            <a:ln w="9525" cap="flat" cmpd="sng">
              <a:solidFill>
                <a:srgbClr val="000000"/>
              </a:solidFill>
              <a:prstDash val="solid"/>
              <a:round/>
              <a:headEnd type="none" w="sm" len="sm"/>
              <a:tailEnd type="none" w="sm" len="sm"/>
            </a:ln>
          </a:insideV>
        </a:tcBdr>
        <a:fill>
          <a:solidFill>
            <a:srgbClr val="DEEAF6"/>
          </a:solidFill>
        </a:fill>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10"/>
    <p:restoredTop sz="94648"/>
  </p:normalViewPr>
  <p:slideViewPr>
    <p:cSldViewPr snapToGrid="0">
      <p:cViewPr varScale="1">
        <p:scale>
          <a:sx n="69" d="100"/>
          <a:sy n="69" d="100"/>
        </p:scale>
        <p:origin x="1416" y="72"/>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62"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notesMaster" Target="notesMasters/notesMaster1.xml"/><Relationship Id="rId58" Type="http://customschemas.google.com/relationships/presentationmetadata" Target="meta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61"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3037840" cy="466434"/>
          </a:xfrm>
          <a:prstGeom prst="rect">
            <a:avLst/>
          </a:prstGeom>
          <a:noFill/>
          <a:ln>
            <a:noFill/>
          </a:ln>
        </p:spPr>
        <p:txBody>
          <a:bodyPr spcFirstLastPara="1" wrap="square" lIns="93175" tIns="46575" rIns="93175" bIns="46575"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970938" y="0"/>
            <a:ext cx="3037840" cy="466434"/>
          </a:xfrm>
          <a:prstGeom prst="rect">
            <a:avLst/>
          </a:prstGeom>
          <a:noFill/>
          <a:ln>
            <a:noFill/>
          </a:ln>
        </p:spPr>
        <p:txBody>
          <a:bodyPr spcFirstLastPara="1" wrap="square" lIns="93175" tIns="46575" rIns="93175" bIns="46575"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1414463" y="1162050"/>
            <a:ext cx="4181475" cy="3136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701040" y="4473892"/>
            <a:ext cx="5608320" cy="3660458"/>
          </a:xfrm>
          <a:prstGeom prst="rect">
            <a:avLst/>
          </a:prstGeom>
          <a:noFill/>
          <a:ln>
            <a:noFill/>
          </a:ln>
        </p:spPr>
        <p:txBody>
          <a:bodyPr spcFirstLastPara="1" wrap="square" lIns="93175" tIns="46575" rIns="93175" bIns="46575"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829967"/>
            <a:ext cx="3037840" cy="466433"/>
          </a:xfrm>
          <a:prstGeom prst="rect">
            <a:avLst/>
          </a:prstGeom>
          <a:noFill/>
          <a:ln>
            <a:noFill/>
          </a:ln>
        </p:spPr>
        <p:txBody>
          <a:bodyPr spcFirstLastPara="1" wrap="square" lIns="93175" tIns="46575" rIns="93175" bIns="46575"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970938" y="8829967"/>
            <a:ext cx="3037840" cy="466433"/>
          </a:xfrm>
          <a:prstGeom prst="rect">
            <a:avLst/>
          </a:prstGeom>
          <a:noFill/>
          <a:ln>
            <a:noFill/>
          </a:ln>
        </p:spPr>
        <p:txBody>
          <a:bodyPr spcFirstLastPara="1" wrap="square" lIns="93175" tIns="46575" rIns="93175" bIns="46575"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
        <p:cNvGrpSpPr/>
        <p:nvPr/>
      </p:nvGrpSpPr>
      <p:grpSpPr>
        <a:xfrm>
          <a:off x="0" y="0"/>
          <a:ext cx="0" cy="0"/>
          <a:chOff x="0" y="0"/>
          <a:chExt cx="0" cy="0"/>
        </a:xfrm>
      </p:grpSpPr>
      <p:sp>
        <p:nvSpPr>
          <p:cNvPr id="47" name="Google Shape;47;g107d85dcbfc_3_0:notes"/>
          <p:cNvSpPr>
            <a:spLocks noGrp="1" noRot="1" noChangeAspect="1"/>
          </p:cNvSpPr>
          <p:nvPr>
            <p:ph type="sldImg" idx="2"/>
          </p:nvPr>
        </p:nvSpPr>
        <p:spPr>
          <a:xfrm>
            <a:off x="1414463" y="1162050"/>
            <a:ext cx="4181400" cy="31368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8" name="Google Shape;48;g107d85dcbfc_3_0:notes"/>
          <p:cNvSpPr txBox="1">
            <a:spLocks noGrp="1"/>
          </p:cNvSpPr>
          <p:nvPr>
            <p:ph type="body" idx="1"/>
          </p:nvPr>
        </p:nvSpPr>
        <p:spPr>
          <a:xfrm>
            <a:off x="701040" y="4473892"/>
            <a:ext cx="5608200" cy="3660600"/>
          </a:xfrm>
          <a:prstGeom prst="rect">
            <a:avLst/>
          </a:prstGeom>
        </p:spPr>
        <p:txBody>
          <a:bodyPr spcFirstLastPara="1" wrap="square" lIns="93175" tIns="46575" rIns="93175" bIns="46575" anchor="t" anchorCtr="0">
            <a:noAutofit/>
          </a:bodyPr>
          <a:lstStyle/>
          <a:p>
            <a:pPr marL="0" lvl="0" indent="0" algn="l" rtl="0">
              <a:spcBef>
                <a:spcPts val="0"/>
              </a:spcBef>
              <a:spcAft>
                <a:spcPts val="0"/>
              </a:spcAft>
              <a:buNone/>
            </a:pPr>
            <a:endParaRPr/>
          </a:p>
        </p:txBody>
      </p:sp>
      <p:sp>
        <p:nvSpPr>
          <p:cNvPr id="49" name="Google Shape;49;g107d85dcbfc_3_0:notes"/>
          <p:cNvSpPr txBox="1">
            <a:spLocks noGrp="1"/>
          </p:cNvSpPr>
          <p:nvPr>
            <p:ph type="sldNum" idx="12"/>
          </p:nvPr>
        </p:nvSpPr>
        <p:spPr>
          <a:xfrm>
            <a:off x="3970938" y="8829967"/>
            <a:ext cx="3037800" cy="466500"/>
          </a:xfrm>
          <a:prstGeom prst="rect">
            <a:avLst/>
          </a:prstGeom>
        </p:spPr>
        <p:txBody>
          <a:bodyPr spcFirstLastPara="1" wrap="square" lIns="93175" tIns="46575" rIns="93175" bIns="46575"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
        <p:cNvGrpSpPr/>
        <p:nvPr/>
      </p:nvGrpSpPr>
      <p:grpSpPr>
        <a:xfrm>
          <a:off x="0" y="0"/>
          <a:ext cx="0" cy="0"/>
          <a:chOff x="0" y="0"/>
          <a:chExt cx="0" cy="0"/>
        </a:xfrm>
      </p:grpSpPr>
      <p:sp>
        <p:nvSpPr>
          <p:cNvPr id="55" name="Google Shape;55;p1:notes"/>
          <p:cNvSpPr txBox="1">
            <a:spLocks noGrp="1"/>
          </p:cNvSpPr>
          <p:nvPr>
            <p:ph type="body" idx="1"/>
          </p:nvPr>
        </p:nvSpPr>
        <p:spPr>
          <a:xfrm>
            <a:off x="701040" y="4473892"/>
            <a:ext cx="5608320" cy="3660458"/>
          </a:xfrm>
          <a:prstGeom prst="rect">
            <a:avLst/>
          </a:prstGeom>
        </p:spPr>
        <p:txBody>
          <a:bodyPr spcFirstLastPara="1" wrap="square" lIns="93175" tIns="46575" rIns="93175" bIns="46575" anchor="t" anchorCtr="0">
            <a:noAutofit/>
          </a:bodyPr>
          <a:lstStyle/>
          <a:p>
            <a:pPr marL="0" lvl="0" indent="0" algn="l" rtl="0">
              <a:spcBef>
                <a:spcPts val="0"/>
              </a:spcBef>
              <a:spcAft>
                <a:spcPts val="0"/>
              </a:spcAft>
              <a:buNone/>
            </a:pPr>
            <a:endParaRPr/>
          </a:p>
        </p:txBody>
      </p:sp>
      <p:sp>
        <p:nvSpPr>
          <p:cNvPr id="56" name="Google Shape;56;p1:notes"/>
          <p:cNvSpPr>
            <a:spLocks noGrp="1" noRot="1" noChangeAspect="1"/>
          </p:cNvSpPr>
          <p:nvPr>
            <p:ph type="sldImg" idx="2"/>
          </p:nvPr>
        </p:nvSpPr>
        <p:spPr>
          <a:xfrm>
            <a:off x="1414463" y="1162050"/>
            <a:ext cx="4181475" cy="31369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
        <p:cNvGrpSpPr/>
        <p:nvPr/>
      </p:nvGrpSpPr>
      <p:grpSpPr>
        <a:xfrm>
          <a:off x="0" y="0"/>
          <a:ext cx="0" cy="0"/>
          <a:chOff x="0" y="0"/>
          <a:chExt cx="0" cy="0"/>
        </a:xfrm>
      </p:grpSpPr>
      <p:sp>
        <p:nvSpPr>
          <p:cNvPr id="62" name="Google Shape;62;p2:notes"/>
          <p:cNvSpPr txBox="1">
            <a:spLocks noGrp="1"/>
          </p:cNvSpPr>
          <p:nvPr>
            <p:ph type="body" idx="1"/>
          </p:nvPr>
        </p:nvSpPr>
        <p:spPr>
          <a:xfrm>
            <a:off x="701040" y="4473892"/>
            <a:ext cx="5608320" cy="3660458"/>
          </a:xfrm>
          <a:prstGeom prst="rect">
            <a:avLst/>
          </a:prstGeom>
        </p:spPr>
        <p:txBody>
          <a:bodyPr spcFirstLastPara="1" wrap="square" lIns="93175" tIns="46575" rIns="93175" bIns="46575" anchor="t" anchorCtr="0">
            <a:noAutofit/>
          </a:bodyPr>
          <a:lstStyle/>
          <a:p>
            <a:pPr marL="0" lvl="0" indent="0" algn="l" rtl="0">
              <a:spcBef>
                <a:spcPts val="0"/>
              </a:spcBef>
              <a:spcAft>
                <a:spcPts val="0"/>
              </a:spcAft>
              <a:buNone/>
            </a:pPr>
            <a:endParaRPr/>
          </a:p>
        </p:txBody>
      </p:sp>
      <p:sp>
        <p:nvSpPr>
          <p:cNvPr id="63" name="Google Shape;63;p2:notes"/>
          <p:cNvSpPr>
            <a:spLocks noGrp="1" noRot="1" noChangeAspect="1"/>
          </p:cNvSpPr>
          <p:nvPr>
            <p:ph type="sldImg" idx="2"/>
          </p:nvPr>
        </p:nvSpPr>
        <p:spPr>
          <a:xfrm>
            <a:off x="1414463" y="1162050"/>
            <a:ext cx="4181475" cy="31369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
        <p:cNvGrpSpPr/>
        <p:nvPr/>
      </p:nvGrpSpPr>
      <p:grpSpPr>
        <a:xfrm>
          <a:off x="0" y="0"/>
          <a:ext cx="0" cy="0"/>
          <a:chOff x="0" y="0"/>
          <a:chExt cx="0" cy="0"/>
        </a:xfrm>
      </p:grpSpPr>
      <p:sp>
        <p:nvSpPr>
          <p:cNvPr id="68" name="Google Shape;68;p3:notes"/>
          <p:cNvSpPr txBox="1">
            <a:spLocks noGrp="1"/>
          </p:cNvSpPr>
          <p:nvPr>
            <p:ph type="body" idx="1"/>
          </p:nvPr>
        </p:nvSpPr>
        <p:spPr>
          <a:xfrm>
            <a:off x="701040" y="4473892"/>
            <a:ext cx="5608320" cy="3660458"/>
          </a:xfrm>
          <a:prstGeom prst="rect">
            <a:avLst/>
          </a:prstGeom>
        </p:spPr>
        <p:txBody>
          <a:bodyPr spcFirstLastPara="1" wrap="square" lIns="93175" tIns="46575" rIns="93175" bIns="46575" anchor="t" anchorCtr="0">
            <a:noAutofit/>
          </a:bodyPr>
          <a:lstStyle/>
          <a:p>
            <a:pPr marL="0" lvl="0" indent="0" algn="l" rtl="0">
              <a:spcBef>
                <a:spcPts val="0"/>
              </a:spcBef>
              <a:spcAft>
                <a:spcPts val="0"/>
              </a:spcAft>
              <a:buNone/>
            </a:pPr>
            <a:endParaRPr/>
          </a:p>
        </p:txBody>
      </p:sp>
      <p:sp>
        <p:nvSpPr>
          <p:cNvPr id="69" name="Google Shape;69;p3:notes"/>
          <p:cNvSpPr>
            <a:spLocks noGrp="1" noRot="1" noChangeAspect="1"/>
          </p:cNvSpPr>
          <p:nvPr>
            <p:ph type="sldImg" idx="2"/>
          </p:nvPr>
        </p:nvSpPr>
        <p:spPr>
          <a:xfrm>
            <a:off x="1414463" y="1162050"/>
            <a:ext cx="4181475" cy="31369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
        <p:cNvGrpSpPr/>
        <p:nvPr/>
      </p:nvGrpSpPr>
      <p:grpSpPr>
        <a:xfrm>
          <a:off x="0" y="0"/>
          <a:ext cx="0" cy="0"/>
          <a:chOff x="0" y="0"/>
          <a:chExt cx="0" cy="0"/>
        </a:xfrm>
      </p:grpSpPr>
      <p:sp>
        <p:nvSpPr>
          <p:cNvPr id="75" name="Google Shape;75;g107a3637e0a_1_0:notes"/>
          <p:cNvSpPr>
            <a:spLocks noGrp="1" noRot="1" noChangeAspect="1"/>
          </p:cNvSpPr>
          <p:nvPr>
            <p:ph type="sldImg" idx="2"/>
          </p:nvPr>
        </p:nvSpPr>
        <p:spPr>
          <a:xfrm>
            <a:off x="1414463" y="1162050"/>
            <a:ext cx="4181400" cy="31368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6" name="Google Shape;76;g107a3637e0a_1_0:notes"/>
          <p:cNvSpPr txBox="1">
            <a:spLocks noGrp="1"/>
          </p:cNvSpPr>
          <p:nvPr>
            <p:ph type="body" idx="1"/>
          </p:nvPr>
        </p:nvSpPr>
        <p:spPr>
          <a:xfrm>
            <a:off x="701040" y="4473892"/>
            <a:ext cx="5608200" cy="3660600"/>
          </a:xfrm>
          <a:prstGeom prst="rect">
            <a:avLst/>
          </a:prstGeom>
        </p:spPr>
        <p:txBody>
          <a:bodyPr spcFirstLastPara="1" wrap="square" lIns="93175" tIns="46575" rIns="93175" bIns="46575" anchor="t" anchorCtr="0">
            <a:noAutofit/>
          </a:bodyPr>
          <a:lstStyle/>
          <a:p>
            <a:pPr marL="0" lvl="0" indent="0" algn="l" rtl="0">
              <a:spcBef>
                <a:spcPts val="0"/>
              </a:spcBef>
              <a:spcAft>
                <a:spcPts val="0"/>
              </a:spcAft>
              <a:buNone/>
            </a:pPr>
            <a:endParaRPr/>
          </a:p>
        </p:txBody>
      </p:sp>
      <p:sp>
        <p:nvSpPr>
          <p:cNvPr id="77" name="Google Shape;77;g107a3637e0a_1_0:notes"/>
          <p:cNvSpPr txBox="1">
            <a:spLocks noGrp="1"/>
          </p:cNvSpPr>
          <p:nvPr>
            <p:ph type="sldNum" idx="12"/>
          </p:nvPr>
        </p:nvSpPr>
        <p:spPr>
          <a:xfrm>
            <a:off x="3970938" y="8829967"/>
            <a:ext cx="3037800" cy="466500"/>
          </a:xfrm>
          <a:prstGeom prst="rect">
            <a:avLst/>
          </a:prstGeom>
        </p:spPr>
        <p:txBody>
          <a:bodyPr spcFirstLastPara="1" wrap="square" lIns="93175" tIns="46575" rIns="93175" bIns="46575"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
        <p:cNvGrpSpPr/>
        <p:nvPr/>
      </p:nvGrpSpPr>
      <p:grpSpPr>
        <a:xfrm>
          <a:off x="0" y="0"/>
          <a:ext cx="0" cy="0"/>
          <a:chOff x="0" y="0"/>
          <a:chExt cx="0" cy="0"/>
        </a:xfrm>
      </p:grpSpPr>
      <p:sp>
        <p:nvSpPr>
          <p:cNvPr id="83" name="Google Shape;83;p4:notes"/>
          <p:cNvSpPr txBox="1">
            <a:spLocks noGrp="1"/>
          </p:cNvSpPr>
          <p:nvPr>
            <p:ph type="body" idx="1"/>
          </p:nvPr>
        </p:nvSpPr>
        <p:spPr>
          <a:xfrm>
            <a:off x="701040" y="4473892"/>
            <a:ext cx="5608320" cy="3660458"/>
          </a:xfrm>
          <a:prstGeom prst="rect">
            <a:avLst/>
          </a:prstGeom>
        </p:spPr>
        <p:txBody>
          <a:bodyPr spcFirstLastPara="1" wrap="square" lIns="93175" tIns="46575" rIns="93175" bIns="46575" anchor="t" anchorCtr="0">
            <a:noAutofit/>
          </a:bodyPr>
          <a:lstStyle/>
          <a:p>
            <a:pPr marL="0" lvl="0" indent="0" algn="l" rtl="0">
              <a:spcBef>
                <a:spcPts val="0"/>
              </a:spcBef>
              <a:spcAft>
                <a:spcPts val="0"/>
              </a:spcAft>
              <a:buNone/>
            </a:pPr>
            <a:endParaRPr/>
          </a:p>
        </p:txBody>
      </p:sp>
      <p:sp>
        <p:nvSpPr>
          <p:cNvPr id="84" name="Google Shape;84;p4:notes"/>
          <p:cNvSpPr>
            <a:spLocks noGrp="1" noRot="1" noChangeAspect="1"/>
          </p:cNvSpPr>
          <p:nvPr>
            <p:ph type="sldImg" idx="2"/>
          </p:nvPr>
        </p:nvSpPr>
        <p:spPr>
          <a:xfrm>
            <a:off x="1414463" y="1162050"/>
            <a:ext cx="4181475" cy="31369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
        <p:cNvGrpSpPr/>
        <p:nvPr/>
      </p:nvGrpSpPr>
      <p:grpSpPr>
        <a:xfrm>
          <a:off x="0" y="0"/>
          <a:ext cx="0" cy="0"/>
          <a:chOff x="0" y="0"/>
          <a:chExt cx="0" cy="0"/>
        </a:xfrm>
      </p:grpSpPr>
      <p:sp>
        <p:nvSpPr>
          <p:cNvPr id="90" name="Google Shape;90;p5:notes"/>
          <p:cNvSpPr txBox="1">
            <a:spLocks noGrp="1"/>
          </p:cNvSpPr>
          <p:nvPr>
            <p:ph type="body" idx="1"/>
          </p:nvPr>
        </p:nvSpPr>
        <p:spPr>
          <a:xfrm>
            <a:off x="701040" y="4473892"/>
            <a:ext cx="5608320" cy="3660458"/>
          </a:xfrm>
          <a:prstGeom prst="rect">
            <a:avLst/>
          </a:prstGeom>
        </p:spPr>
        <p:txBody>
          <a:bodyPr spcFirstLastPara="1" wrap="square" lIns="93175" tIns="46575" rIns="93175" bIns="46575" anchor="t" anchorCtr="0">
            <a:noAutofit/>
          </a:bodyPr>
          <a:lstStyle/>
          <a:p>
            <a:pPr marL="0" lvl="0" indent="0" algn="l" rtl="0">
              <a:spcBef>
                <a:spcPts val="0"/>
              </a:spcBef>
              <a:spcAft>
                <a:spcPts val="0"/>
              </a:spcAft>
              <a:buNone/>
            </a:pPr>
            <a:endParaRPr/>
          </a:p>
        </p:txBody>
      </p:sp>
      <p:sp>
        <p:nvSpPr>
          <p:cNvPr id="91" name="Google Shape;91;p5:notes"/>
          <p:cNvSpPr>
            <a:spLocks noGrp="1" noRot="1" noChangeAspect="1"/>
          </p:cNvSpPr>
          <p:nvPr>
            <p:ph type="sldImg" idx="2"/>
          </p:nvPr>
        </p:nvSpPr>
        <p:spPr>
          <a:xfrm>
            <a:off x="1414463" y="1162050"/>
            <a:ext cx="4181475" cy="31369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
        <p:cNvGrpSpPr/>
        <p:nvPr/>
      </p:nvGrpSpPr>
      <p:grpSpPr>
        <a:xfrm>
          <a:off x="0" y="0"/>
          <a:ext cx="0" cy="0"/>
          <a:chOff x="0" y="0"/>
          <a:chExt cx="0" cy="0"/>
        </a:xfrm>
      </p:grpSpPr>
      <p:sp>
        <p:nvSpPr>
          <p:cNvPr id="96" name="Google Shape;96;p6:notes"/>
          <p:cNvSpPr>
            <a:spLocks noGrp="1" noRot="1" noChangeAspect="1"/>
          </p:cNvSpPr>
          <p:nvPr>
            <p:ph type="sldImg" idx="2"/>
          </p:nvPr>
        </p:nvSpPr>
        <p:spPr>
          <a:xfrm>
            <a:off x="1414463" y="1162050"/>
            <a:ext cx="4181475" cy="3136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7" name="Google Shape;97;p6:notes"/>
          <p:cNvSpPr txBox="1">
            <a:spLocks noGrp="1"/>
          </p:cNvSpPr>
          <p:nvPr>
            <p:ph type="body" idx="1"/>
          </p:nvPr>
        </p:nvSpPr>
        <p:spPr>
          <a:xfrm>
            <a:off x="701040" y="4473892"/>
            <a:ext cx="5608320" cy="3660458"/>
          </a:xfrm>
          <a:prstGeom prst="rect">
            <a:avLst/>
          </a:prstGeom>
          <a:noFill/>
          <a:ln>
            <a:noFill/>
          </a:ln>
        </p:spPr>
        <p:txBody>
          <a:bodyPr spcFirstLastPara="1" wrap="square" lIns="93175" tIns="46575" rIns="93175" bIns="46575" anchor="t" anchorCtr="0">
            <a:noAutofit/>
          </a:bodyPr>
          <a:lstStyle/>
          <a:p>
            <a:pPr marL="0" lvl="0" indent="0" algn="l" rtl="0">
              <a:spcBef>
                <a:spcPts val="0"/>
              </a:spcBef>
              <a:spcAft>
                <a:spcPts val="0"/>
              </a:spcAft>
              <a:buNone/>
            </a:pPr>
            <a:endParaRPr/>
          </a:p>
        </p:txBody>
      </p:sp>
      <p:sp>
        <p:nvSpPr>
          <p:cNvPr id="98" name="Google Shape;98;p6:notes"/>
          <p:cNvSpPr txBox="1">
            <a:spLocks noGrp="1"/>
          </p:cNvSpPr>
          <p:nvPr>
            <p:ph type="sldNum" idx="12"/>
          </p:nvPr>
        </p:nvSpPr>
        <p:spPr>
          <a:xfrm>
            <a:off x="3970938" y="8829967"/>
            <a:ext cx="3037840" cy="466433"/>
          </a:xfrm>
          <a:prstGeom prst="rect">
            <a:avLst/>
          </a:prstGeom>
          <a:noFill/>
          <a:ln>
            <a:noFill/>
          </a:ln>
        </p:spPr>
        <p:txBody>
          <a:bodyPr spcFirstLastPara="1" wrap="square" lIns="93175" tIns="46575" rIns="93175" bIns="46575" anchor="b" anchorCtr="0">
            <a:noAutofit/>
          </a:bodyPr>
          <a:lstStyle/>
          <a:p>
            <a:pPr marL="0" lvl="0" indent="0" algn="r" rtl="0">
              <a:spcBef>
                <a:spcPts val="0"/>
              </a:spcBef>
              <a:spcAft>
                <a:spcPts val="0"/>
              </a:spcAft>
              <a:buNone/>
            </a:pPr>
            <a:fld id="{00000000-1234-1234-1234-123412341234}" type="slidenum">
              <a:rPr lang="en-US"/>
              <a:t>8</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
        <p:cNvGrpSpPr/>
        <p:nvPr/>
      </p:nvGrpSpPr>
      <p:grpSpPr>
        <a:xfrm>
          <a:off x="0" y="0"/>
          <a:ext cx="0" cy="0"/>
          <a:chOff x="0" y="0"/>
          <a:chExt cx="0" cy="0"/>
        </a:xfrm>
      </p:grpSpPr>
      <p:sp>
        <p:nvSpPr>
          <p:cNvPr id="104" name="Google Shape;104;p7:notes"/>
          <p:cNvSpPr txBox="1">
            <a:spLocks noGrp="1"/>
          </p:cNvSpPr>
          <p:nvPr>
            <p:ph type="body" idx="1"/>
          </p:nvPr>
        </p:nvSpPr>
        <p:spPr>
          <a:xfrm>
            <a:off x="701040" y="4473892"/>
            <a:ext cx="5608320" cy="3660458"/>
          </a:xfrm>
          <a:prstGeom prst="rect">
            <a:avLst/>
          </a:prstGeom>
        </p:spPr>
        <p:txBody>
          <a:bodyPr spcFirstLastPara="1" wrap="square" lIns="93175" tIns="46575" rIns="93175" bIns="46575" anchor="t" anchorCtr="0">
            <a:noAutofit/>
          </a:bodyPr>
          <a:lstStyle/>
          <a:p>
            <a:pPr marL="0" lvl="0" indent="0" algn="l" rtl="0">
              <a:spcBef>
                <a:spcPts val="0"/>
              </a:spcBef>
              <a:spcAft>
                <a:spcPts val="0"/>
              </a:spcAft>
              <a:buNone/>
            </a:pPr>
            <a:endParaRPr/>
          </a:p>
        </p:txBody>
      </p:sp>
      <p:sp>
        <p:nvSpPr>
          <p:cNvPr id="105" name="Google Shape;105;p7:notes"/>
          <p:cNvSpPr>
            <a:spLocks noGrp="1" noRot="1" noChangeAspect="1"/>
          </p:cNvSpPr>
          <p:nvPr>
            <p:ph type="sldImg" idx="2"/>
          </p:nvPr>
        </p:nvSpPr>
        <p:spPr>
          <a:xfrm>
            <a:off x="1414463" y="1162050"/>
            <a:ext cx="4181475" cy="31369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
        <p:cNvGrpSpPr/>
        <p:nvPr/>
      </p:nvGrpSpPr>
      <p:grpSpPr>
        <a:xfrm>
          <a:off x="0" y="0"/>
          <a:ext cx="0" cy="0"/>
          <a:chOff x="0" y="0"/>
          <a:chExt cx="0" cy="0"/>
        </a:xfrm>
      </p:grpSpPr>
      <p:sp>
        <p:nvSpPr>
          <p:cNvPr id="110" name="Google Shape;110;p8:notes"/>
          <p:cNvSpPr txBox="1">
            <a:spLocks noGrp="1"/>
          </p:cNvSpPr>
          <p:nvPr>
            <p:ph type="body" idx="1"/>
          </p:nvPr>
        </p:nvSpPr>
        <p:spPr>
          <a:xfrm>
            <a:off x="701040" y="4473892"/>
            <a:ext cx="5608320" cy="3660458"/>
          </a:xfrm>
          <a:prstGeom prst="rect">
            <a:avLst/>
          </a:prstGeom>
        </p:spPr>
        <p:txBody>
          <a:bodyPr spcFirstLastPara="1" wrap="square" lIns="93175" tIns="46575" rIns="93175" bIns="46575" anchor="t" anchorCtr="0">
            <a:noAutofit/>
          </a:bodyPr>
          <a:lstStyle/>
          <a:p>
            <a:pPr marL="0" lvl="0" indent="0" algn="l" rtl="0">
              <a:spcBef>
                <a:spcPts val="0"/>
              </a:spcBef>
              <a:spcAft>
                <a:spcPts val="0"/>
              </a:spcAft>
              <a:buNone/>
            </a:pPr>
            <a:endParaRPr/>
          </a:p>
        </p:txBody>
      </p:sp>
      <p:sp>
        <p:nvSpPr>
          <p:cNvPr id="111" name="Google Shape;111;p8:notes"/>
          <p:cNvSpPr>
            <a:spLocks noGrp="1" noRot="1" noChangeAspect="1"/>
          </p:cNvSpPr>
          <p:nvPr>
            <p:ph type="sldImg" idx="2"/>
          </p:nvPr>
        </p:nvSpPr>
        <p:spPr>
          <a:xfrm>
            <a:off x="1414463" y="1162050"/>
            <a:ext cx="4181475" cy="31369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5"/>
        <p:cNvGrpSpPr/>
        <p:nvPr/>
      </p:nvGrpSpPr>
      <p:grpSpPr>
        <a:xfrm>
          <a:off x="0" y="0"/>
          <a:ext cx="0" cy="0"/>
          <a:chOff x="0" y="0"/>
          <a:chExt cx="0" cy="0"/>
        </a:xfrm>
      </p:grpSpPr>
      <p:sp>
        <p:nvSpPr>
          <p:cNvPr id="116" name="Google Shape;116;g107d85dcbfc_2_69:notes"/>
          <p:cNvSpPr>
            <a:spLocks noGrp="1" noRot="1" noChangeAspect="1"/>
          </p:cNvSpPr>
          <p:nvPr>
            <p:ph type="sldImg" idx="2"/>
          </p:nvPr>
        </p:nvSpPr>
        <p:spPr>
          <a:xfrm>
            <a:off x="1414463" y="1162050"/>
            <a:ext cx="4181400" cy="31368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7" name="Google Shape;117;g107d85dcbfc_2_69:notes"/>
          <p:cNvSpPr txBox="1">
            <a:spLocks noGrp="1"/>
          </p:cNvSpPr>
          <p:nvPr>
            <p:ph type="body" idx="1"/>
          </p:nvPr>
        </p:nvSpPr>
        <p:spPr>
          <a:xfrm>
            <a:off x="701040" y="4473892"/>
            <a:ext cx="5608200" cy="3660600"/>
          </a:xfrm>
          <a:prstGeom prst="rect">
            <a:avLst/>
          </a:prstGeom>
        </p:spPr>
        <p:txBody>
          <a:bodyPr spcFirstLastPara="1" wrap="square" lIns="93175" tIns="46575" rIns="93175" bIns="46575" anchor="t" anchorCtr="0">
            <a:noAutofit/>
          </a:bodyPr>
          <a:lstStyle/>
          <a:p>
            <a:pPr marL="0" lvl="0" indent="0" algn="l" rtl="0">
              <a:spcBef>
                <a:spcPts val="0"/>
              </a:spcBef>
              <a:spcAft>
                <a:spcPts val="0"/>
              </a:spcAft>
              <a:buNone/>
            </a:pPr>
            <a:endParaRPr/>
          </a:p>
        </p:txBody>
      </p:sp>
      <p:sp>
        <p:nvSpPr>
          <p:cNvPr id="118" name="Google Shape;118;g107d85dcbfc_2_69:notes"/>
          <p:cNvSpPr txBox="1">
            <a:spLocks noGrp="1"/>
          </p:cNvSpPr>
          <p:nvPr>
            <p:ph type="sldNum" idx="12"/>
          </p:nvPr>
        </p:nvSpPr>
        <p:spPr>
          <a:xfrm>
            <a:off x="3970938" y="8829967"/>
            <a:ext cx="3037800" cy="466500"/>
          </a:xfrm>
          <a:prstGeom prst="rect">
            <a:avLst/>
          </a:prstGeom>
        </p:spPr>
        <p:txBody>
          <a:bodyPr spcFirstLastPara="1" wrap="square" lIns="93175" tIns="46575" rIns="93175" bIns="46575"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11</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2"/>
        <p:cNvGrpSpPr/>
        <p:nvPr/>
      </p:nvGrpSpPr>
      <p:grpSpPr>
        <a:xfrm>
          <a:off x="0" y="0"/>
          <a:ext cx="0" cy="0"/>
          <a:chOff x="0" y="0"/>
          <a:chExt cx="0" cy="0"/>
        </a:xfrm>
      </p:grpSpPr>
      <p:sp>
        <p:nvSpPr>
          <p:cNvPr id="123" name="Google Shape;123;g107d85dcbfc_2_74:notes"/>
          <p:cNvSpPr>
            <a:spLocks noGrp="1" noRot="1" noChangeAspect="1"/>
          </p:cNvSpPr>
          <p:nvPr>
            <p:ph type="sldImg" idx="2"/>
          </p:nvPr>
        </p:nvSpPr>
        <p:spPr>
          <a:xfrm>
            <a:off x="1414463" y="1162050"/>
            <a:ext cx="4181400" cy="31368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4" name="Google Shape;124;g107d85dcbfc_2_74:notes"/>
          <p:cNvSpPr txBox="1">
            <a:spLocks noGrp="1"/>
          </p:cNvSpPr>
          <p:nvPr>
            <p:ph type="body" idx="1"/>
          </p:nvPr>
        </p:nvSpPr>
        <p:spPr>
          <a:xfrm>
            <a:off x="701040" y="4473892"/>
            <a:ext cx="5608200" cy="3660600"/>
          </a:xfrm>
          <a:prstGeom prst="rect">
            <a:avLst/>
          </a:prstGeom>
        </p:spPr>
        <p:txBody>
          <a:bodyPr spcFirstLastPara="1" wrap="square" lIns="93175" tIns="46575" rIns="93175" bIns="46575" anchor="t" anchorCtr="0">
            <a:noAutofit/>
          </a:bodyPr>
          <a:lstStyle/>
          <a:p>
            <a:pPr marL="0" lvl="0" indent="0" algn="l" rtl="0">
              <a:spcBef>
                <a:spcPts val="0"/>
              </a:spcBef>
              <a:spcAft>
                <a:spcPts val="0"/>
              </a:spcAft>
              <a:buNone/>
            </a:pPr>
            <a:r>
              <a:rPr lang="en-US"/>
              <a:t>We wanted to highlight characteristics that differ significantly by zone. As shown here, while most respondents in Unguja are urban dwellers, most respondents in Pemba live in rural areas.  This represents the distribution of the population in the two zones. Educational attainment also differed by zone; more than two-thirds of Unguja residents completed secondary school or had post-secondary education, while only a third had done so in Pemba. The wealth distribution is also notably different, with the preponderance of Pemba residents in the lowest quintile, and a plurality of Unguja residents in the highest quintile. </a:t>
            </a:r>
            <a:endParaRPr/>
          </a:p>
        </p:txBody>
      </p:sp>
      <p:sp>
        <p:nvSpPr>
          <p:cNvPr id="125" name="Google Shape;125;g107d85dcbfc_2_74:notes"/>
          <p:cNvSpPr txBox="1">
            <a:spLocks noGrp="1"/>
          </p:cNvSpPr>
          <p:nvPr>
            <p:ph type="sldNum" idx="12"/>
          </p:nvPr>
        </p:nvSpPr>
        <p:spPr>
          <a:xfrm>
            <a:off x="3970938" y="8829967"/>
            <a:ext cx="3037800" cy="466500"/>
          </a:xfrm>
          <a:prstGeom prst="rect">
            <a:avLst/>
          </a:prstGeom>
        </p:spPr>
        <p:txBody>
          <a:bodyPr spcFirstLastPara="1" wrap="square" lIns="93175" tIns="46575" rIns="93175" bIns="46575"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12</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0"/>
        <p:cNvGrpSpPr/>
        <p:nvPr/>
      </p:nvGrpSpPr>
      <p:grpSpPr>
        <a:xfrm>
          <a:off x="0" y="0"/>
          <a:ext cx="0" cy="0"/>
          <a:chOff x="0" y="0"/>
          <a:chExt cx="0" cy="0"/>
        </a:xfrm>
      </p:grpSpPr>
      <p:sp>
        <p:nvSpPr>
          <p:cNvPr id="131" name="Google Shape;131;p11:notes"/>
          <p:cNvSpPr txBox="1">
            <a:spLocks noGrp="1"/>
          </p:cNvSpPr>
          <p:nvPr>
            <p:ph type="body" idx="1"/>
          </p:nvPr>
        </p:nvSpPr>
        <p:spPr>
          <a:xfrm>
            <a:off x="701040" y="4473892"/>
            <a:ext cx="5608320" cy="3660458"/>
          </a:xfrm>
          <a:prstGeom prst="rect">
            <a:avLst/>
          </a:prstGeom>
        </p:spPr>
        <p:txBody>
          <a:bodyPr spcFirstLastPara="1" wrap="square" lIns="93175" tIns="46575" rIns="93175" bIns="46575" anchor="t" anchorCtr="0">
            <a:noAutofit/>
          </a:bodyPr>
          <a:lstStyle/>
          <a:p>
            <a:pPr marL="0" lvl="0" indent="0" algn="l" rtl="0">
              <a:spcBef>
                <a:spcPts val="0"/>
              </a:spcBef>
              <a:spcAft>
                <a:spcPts val="0"/>
              </a:spcAft>
              <a:buNone/>
            </a:pPr>
            <a:endParaRPr/>
          </a:p>
        </p:txBody>
      </p:sp>
      <p:sp>
        <p:nvSpPr>
          <p:cNvPr id="132" name="Google Shape;132;p11:notes"/>
          <p:cNvSpPr>
            <a:spLocks noGrp="1" noRot="1" noChangeAspect="1"/>
          </p:cNvSpPr>
          <p:nvPr>
            <p:ph type="sldImg" idx="2"/>
          </p:nvPr>
        </p:nvSpPr>
        <p:spPr>
          <a:xfrm>
            <a:off x="1414463" y="1162050"/>
            <a:ext cx="4181475" cy="31369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6"/>
        <p:cNvGrpSpPr/>
        <p:nvPr/>
      </p:nvGrpSpPr>
      <p:grpSpPr>
        <a:xfrm>
          <a:off x="0" y="0"/>
          <a:ext cx="0" cy="0"/>
          <a:chOff x="0" y="0"/>
          <a:chExt cx="0" cy="0"/>
        </a:xfrm>
      </p:grpSpPr>
      <p:sp>
        <p:nvSpPr>
          <p:cNvPr id="137" name="Google Shape;137;g107d85dcbfc_2_9:notes"/>
          <p:cNvSpPr>
            <a:spLocks noGrp="1" noRot="1" noChangeAspect="1"/>
          </p:cNvSpPr>
          <p:nvPr>
            <p:ph type="sldImg" idx="2"/>
          </p:nvPr>
        </p:nvSpPr>
        <p:spPr>
          <a:xfrm>
            <a:off x="1414463" y="1162050"/>
            <a:ext cx="4181400" cy="31368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8" name="Google Shape;138;g107d85dcbfc_2_9:notes"/>
          <p:cNvSpPr txBox="1">
            <a:spLocks noGrp="1"/>
          </p:cNvSpPr>
          <p:nvPr>
            <p:ph type="body" idx="1"/>
          </p:nvPr>
        </p:nvSpPr>
        <p:spPr>
          <a:xfrm>
            <a:off x="701040" y="4473892"/>
            <a:ext cx="5608200" cy="3660600"/>
          </a:xfrm>
          <a:prstGeom prst="rect">
            <a:avLst/>
          </a:prstGeom>
        </p:spPr>
        <p:txBody>
          <a:bodyPr spcFirstLastPara="1" wrap="square" lIns="93175" tIns="46575" rIns="93175" bIns="46575" anchor="t" anchorCtr="0">
            <a:noAutofit/>
          </a:bodyPr>
          <a:lstStyle/>
          <a:p>
            <a:pPr marL="0" lvl="0" indent="0" algn="l" rtl="0">
              <a:spcBef>
                <a:spcPts val="0"/>
              </a:spcBef>
              <a:spcAft>
                <a:spcPts val="0"/>
              </a:spcAft>
              <a:buNone/>
            </a:pPr>
            <a:endParaRPr/>
          </a:p>
        </p:txBody>
      </p:sp>
      <p:sp>
        <p:nvSpPr>
          <p:cNvPr id="139" name="Google Shape;139;g107d85dcbfc_2_9:notes"/>
          <p:cNvSpPr txBox="1">
            <a:spLocks noGrp="1"/>
          </p:cNvSpPr>
          <p:nvPr>
            <p:ph type="sldNum" idx="12"/>
          </p:nvPr>
        </p:nvSpPr>
        <p:spPr>
          <a:xfrm>
            <a:off x="3970938" y="8829967"/>
            <a:ext cx="3037800" cy="466500"/>
          </a:xfrm>
          <a:prstGeom prst="rect">
            <a:avLst/>
          </a:prstGeom>
        </p:spPr>
        <p:txBody>
          <a:bodyPr spcFirstLastPara="1" wrap="square" lIns="93175" tIns="46575" rIns="93175" bIns="46575"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14</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2"/>
        <p:cNvGrpSpPr/>
        <p:nvPr/>
      </p:nvGrpSpPr>
      <p:grpSpPr>
        <a:xfrm>
          <a:off x="0" y="0"/>
          <a:ext cx="0" cy="0"/>
          <a:chOff x="0" y="0"/>
          <a:chExt cx="0" cy="0"/>
        </a:xfrm>
      </p:grpSpPr>
      <p:sp>
        <p:nvSpPr>
          <p:cNvPr id="143" name="Google Shape;143;p12:notes"/>
          <p:cNvSpPr txBox="1">
            <a:spLocks noGrp="1"/>
          </p:cNvSpPr>
          <p:nvPr>
            <p:ph type="body" idx="1"/>
          </p:nvPr>
        </p:nvSpPr>
        <p:spPr>
          <a:xfrm>
            <a:off x="701040" y="4473892"/>
            <a:ext cx="5608320" cy="3660458"/>
          </a:xfrm>
          <a:prstGeom prst="rect">
            <a:avLst/>
          </a:prstGeom>
        </p:spPr>
        <p:txBody>
          <a:bodyPr spcFirstLastPara="1" wrap="square" lIns="93175" tIns="46575" rIns="93175" bIns="46575" anchor="t" anchorCtr="0">
            <a:noAutofit/>
          </a:bodyPr>
          <a:lstStyle/>
          <a:p>
            <a:pPr marL="0" lvl="0" indent="0" algn="l" rtl="0">
              <a:spcBef>
                <a:spcPts val="0"/>
              </a:spcBef>
              <a:spcAft>
                <a:spcPts val="0"/>
              </a:spcAft>
              <a:buNone/>
            </a:pPr>
            <a:endParaRPr/>
          </a:p>
        </p:txBody>
      </p:sp>
      <p:sp>
        <p:nvSpPr>
          <p:cNvPr id="144" name="Google Shape;144;p12:notes"/>
          <p:cNvSpPr>
            <a:spLocks noGrp="1" noRot="1" noChangeAspect="1"/>
          </p:cNvSpPr>
          <p:nvPr>
            <p:ph type="sldImg" idx="2"/>
          </p:nvPr>
        </p:nvSpPr>
        <p:spPr>
          <a:xfrm>
            <a:off x="1414463" y="1162050"/>
            <a:ext cx="4181475" cy="31369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9"/>
        <p:cNvGrpSpPr/>
        <p:nvPr/>
      </p:nvGrpSpPr>
      <p:grpSpPr>
        <a:xfrm>
          <a:off x="0" y="0"/>
          <a:ext cx="0" cy="0"/>
          <a:chOff x="0" y="0"/>
          <a:chExt cx="0" cy="0"/>
        </a:xfrm>
      </p:grpSpPr>
      <p:sp>
        <p:nvSpPr>
          <p:cNvPr id="150" name="Google Shape;150;g107d85dcbfc_3_15:notes"/>
          <p:cNvSpPr txBox="1">
            <a:spLocks noGrp="1"/>
          </p:cNvSpPr>
          <p:nvPr>
            <p:ph type="body" idx="1"/>
          </p:nvPr>
        </p:nvSpPr>
        <p:spPr>
          <a:xfrm>
            <a:off x="701040" y="4473892"/>
            <a:ext cx="5608200" cy="3660600"/>
          </a:xfrm>
          <a:prstGeom prst="rect">
            <a:avLst/>
          </a:prstGeom>
        </p:spPr>
        <p:txBody>
          <a:bodyPr spcFirstLastPara="1" wrap="square" lIns="93175" tIns="46575" rIns="93175" bIns="46575" anchor="t" anchorCtr="0">
            <a:noAutofit/>
          </a:bodyPr>
          <a:lstStyle/>
          <a:p>
            <a:pPr marL="0" lvl="0" indent="0" algn="l" rtl="0">
              <a:spcBef>
                <a:spcPts val="0"/>
              </a:spcBef>
              <a:spcAft>
                <a:spcPts val="0"/>
              </a:spcAft>
              <a:buNone/>
            </a:pPr>
            <a:endParaRPr/>
          </a:p>
        </p:txBody>
      </p:sp>
      <p:sp>
        <p:nvSpPr>
          <p:cNvPr id="151" name="Google Shape;151;g107d85dcbfc_3_15:notes"/>
          <p:cNvSpPr>
            <a:spLocks noGrp="1" noRot="1" noChangeAspect="1"/>
          </p:cNvSpPr>
          <p:nvPr>
            <p:ph type="sldImg" idx="2"/>
          </p:nvPr>
        </p:nvSpPr>
        <p:spPr>
          <a:xfrm>
            <a:off x="1414463" y="1162050"/>
            <a:ext cx="4181400" cy="31368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7"/>
        <p:cNvGrpSpPr/>
        <p:nvPr/>
      </p:nvGrpSpPr>
      <p:grpSpPr>
        <a:xfrm>
          <a:off x="0" y="0"/>
          <a:ext cx="0" cy="0"/>
          <a:chOff x="0" y="0"/>
          <a:chExt cx="0" cy="0"/>
        </a:xfrm>
      </p:grpSpPr>
      <p:sp>
        <p:nvSpPr>
          <p:cNvPr id="158" name="Google Shape;158;p13:notes"/>
          <p:cNvSpPr txBox="1">
            <a:spLocks noGrp="1"/>
          </p:cNvSpPr>
          <p:nvPr>
            <p:ph type="body" idx="1"/>
          </p:nvPr>
        </p:nvSpPr>
        <p:spPr>
          <a:xfrm>
            <a:off x="701040" y="4473892"/>
            <a:ext cx="5608320" cy="3660458"/>
          </a:xfrm>
          <a:prstGeom prst="rect">
            <a:avLst/>
          </a:prstGeom>
        </p:spPr>
        <p:txBody>
          <a:bodyPr spcFirstLastPara="1" wrap="square" lIns="93175" tIns="46575" rIns="93175" bIns="46575" anchor="t" anchorCtr="0">
            <a:noAutofit/>
          </a:bodyPr>
          <a:lstStyle/>
          <a:p>
            <a:pPr marL="0" lvl="0" indent="0" algn="l" rtl="0">
              <a:spcBef>
                <a:spcPts val="0"/>
              </a:spcBef>
              <a:spcAft>
                <a:spcPts val="0"/>
              </a:spcAft>
              <a:buNone/>
            </a:pPr>
            <a:endParaRPr/>
          </a:p>
        </p:txBody>
      </p:sp>
      <p:sp>
        <p:nvSpPr>
          <p:cNvPr id="159" name="Google Shape;159;p13:notes"/>
          <p:cNvSpPr>
            <a:spLocks noGrp="1" noRot="1" noChangeAspect="1"/>
          </p:cNvSpPr>
          <p:nvPr>
            <p:ph type="sldImg" idx="2"/>
          </p:nvPr>
        </p:nvSpPr>
        <p:spPr>
          <a:xfrm>
            <a:off x="1414463" y="1162050"/>
            <a:ext cx="4181475" cy="31369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4"/>
        <p:cNvGrpSpPr/>
        <p:nvPr/>
      </p:nvGrpSpPr>
      <p:grpSpPr>
        <a:xfrm>
          <a:off x="0" y="0"/>
          <a:ext cx="0" cy="0"/>
          <a:chOff x="0" y="0"/>
          <a:chExt cx="0" cy="0"/>
        </a:xfrm>
      </p:grpSpPr>
      <p:sp>
        <p:nvSpPr>
          <p:cNvPr id="165" name="Google Shape;165;p14:notes"/>
          <p:cNvSpPr txBox="1">
            <a:spLocks noGrp="1"/>
          </p:cNvSpPr>
          <p:nvPr>
            <p:ph type="body" idx="1"/>
          </p:nvPr>
        </p:nvSpPr>
        <p:spPr>
          <a:xfrm>
            <a:off x="701040" y="4473892"/>
            <a:ext cx="5608320" cy="3660458"/>
          </a:xfrm>
          <a:prstGeom prst="rect">
            <a:avLst/>
          </a:prstGeom>
        </p:spPr>
        <p:txBody>
          <a:bodyPr spcFirstLastPara="1" wrap="square" lIns="93175" tIns="46575" rIns="93175" bIns="46575" anchor="t" anchorCtr="0">
            <a:noAutofit/>
          </a:bodyPr>
          <a:lstStyle/>
          <a:p>
            <a:pPr marL="0" lvl="0" indent="0" algn="l" rtl="0">
              <a:spcBef>
                <a:spcPts val="0"/>
              </a:spcBef>
              <a:spcAft>
                <a:spcPts val="0"/>
              </a:spcAft>
              <a:buNone/>
            </a:pPr>
            <a:endParaRPr/>
          </a:p>
        </p:txBody>
      </p:sp>
      <p:sp>
        <p:nvSpPr>
          <p:cNvPr id="166" name="Google Shape;166;p14:notes"/>
          <p:cNvSpPr>
            <a:spLocks noGrp="1" noRot="1" noChangeAspect="1"/>
          </p:cNvSpPr>
          <p:nvPr>
            <p:ph type="sldImg" idx="2"/>
          </p:nvPr>
        </p:nvSpPr>
        <p:spPr>
          <a:xfrm>
            <a:off x="1414463" y="1162050"/>
            <a:ext cx="4181475" cy="31369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71" name="Google Shape;171;p15:notes"/>
          <p:cNvSpPr txBox="1">
            <a:spLocks noGrp="1"/>
          </p:cNvSpPr>
          <p:nvPr>
            <p:ph type="body" idx="1"/>
          </p:nvPr>
        </p:nvSpPr>
        <p:spPr>
          <a:xfrm>
            <a:off x="701040" y="4473892"/>
            <a:ext cx="5608320" cy="3660458"/>
          </a:xfrm>
          <a:prstGeom prst="rect">
            <a:avLst/>
          </a:prstGeom>
        </p:spPr>
        <p:txBody>
          <a:bodyPr spcFirstLastPara="1" wrap="square" lIns="93175" tIns="46575" rIns="93175" bIns="46575" anchor="t" anchorCtr="0">
            <a:noAutofit/>
          </a:bodyPr>
          <a:lstStyle/>
          <a:p>
            <a:pPr marL="0" lvl="0" indent="0" algn="l" rtl="0">
              <a:spcBef>
                <a:spcPts val="0"/>
              </a:spcBef>
              <a:spcAft>
                <a:spcPts val="0"/>
              </a:spcAft>
              <a:buNone/>
            </a:pPr>
            <a:endParaRPr/>
          </a:p>
        </p:txBody>
      </p:sp>
      <p:sp>
        <p:nvSpPr>
          <p:cNvPr id="172" name="Google Shape;172;p15:notes"/>
          <p:cNvSpPr>
            <a:spLocks noGrp="1" noRot="1" noChangeAspect="1"/>
          </p:cNvSpPr>
          <p:nvPr>
            <p:ph type="sldImg" idx="2"/>
          </p:nvPr>
        </p:nvSpPr>
        <p:spPr>
          <a:xfrm>
            <a:off x="1414463" y="1162050"/>
            <a:ext cx="4181475" cy="31369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8"/>
        <p:cNvGrpSpPr/>
        <p:nvPr/>
      </p:nvGrpSpPr>
      <p:grpSpPr>
        <a:xfrm>
          <a:off x="0" y="0"/>
          <a:ext cx="0" cy="0"/>
          <a:chOff x="0" y="0"/>
          <a:chExt cx="0" cy="0"/>
        </a:xfrm>
      </p:grpSpPr>
      <p:sp>
        <p:nvSpPr>
          <p:cNvPr id="179" name="Google Shape;179;g107e1b577a3_2_12:notes"/>
          <p:cNvSpPr>
            <a:spLocks noGrp="1" noRot="1" noChangeAspect="1"/>
          </p:cNvSpPr>
          <p:nvPr>
            <p:ph type="sldImg" idx="2"/>
          </p:nvPr>
        </p:nvSpPr>
        <p:spPr>
          <a:xfrm>
            <a:off x="1414463" y="1162050"/>
            <a:ext cx="4181400" cy="31368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0" name="Google Shape;180;g107e1b577a3_2_12:notes"/>
          <p:cNvSpPr txBox="1">
            <a:spLocks noGrp="1"/>
          </p:cNvSpPr>
          <p:nvPr>
            <p:ph type="body" idx="1"/>
          </p:nvPr>
        </p:nvSpPr>
        <p:spPr>
          <a:xfrm>
            <a:off x="701040" y="4473892"/>
            <a:ext cx="5608200" cy="3660600"/>
          </a:xfrm>
          <a:prstGeom prst="rect">
            <a:avLst/>
          </a:prstGeom>
        </p:spPr>
        <p:txBody>
          <a:bodyPr spcFirstLastPara="1" wrap="square" lIns="93175" tIns="46575" rIns="93175" bIns="46575" anchor="t" anchorCtr="0">
            <a:noAutofit/>
          </a:bodyPr>
          <a:lstStyle/>
          <a:p>
            <a:pPr marL="0" lvl="0" indent="0" algn="l" rtl="0">
              <a:spcBef>
                <a:spcPts val="0"/>
              </a:spcBef>
              <a:spcAft>
                <a:spcPts val="0"/>
              </a:spcAft>
              <a:buNone/>
            </a:pPr>
            <a:endParaRPr/>
          </a:p>
        </p:txBody>
      </p:sp>
      <p:sp>
        <p:nvSpPr>
          <p:cNvPr id="181" name="Google Shape;181;g107e1b577a3_2_12:notes"/>
          <p:cNvSpPr txBox="1">
            <a:spLocks noGrp="1"/>
          </p:cNvSpPr>
          <p:nvPr>
            <p:ph type="sldNum" idx="12"/>
          </p:nvPr>
        </p:nvSpPr>
        <p:spPr>
          <a:xfrm>
            <a:off x="3970938" y="8829967"/>
            <a:ext cx="3037800" cy="466500"/>
          </a:xfrm>
          <a:prstGeom prst="rect">
            <a:avLst/>
          </a:prstGeom>
        </p:spPr>
        <p:txBody>
          <a:bodyPr spcFirstLastPara="1" wrap="square" lIns="93175" tIns="46575" rIns="93175" bIns="46575"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20</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6"/>
        <p:cNvGrpSpPr/>
        <p:nvPr/>
      </p:nvGrpSpPr>
      <p:grpSpPr>
        <a:xfrm>
          <a:off x="0" y="0"/>
          <a:ext cx="0" cy="0"/>
          <a:chOff x="0" y="0"/>
          <a:chExt cx="0" cy="0"/>
        </a:xfrm>
      </p:grpSpPr>
      <p:sp>
        <p:nvSpPr>
          <p:cNvPr id="187" name="Google Shape;187;p17:notes"/>
          <p:cNvSpPr txBox="1">
            <a:spLocks noGrp="1"/>
          </p:cNvSpPr>
          <p:nvPr>
            <p:ph type="body" idx="1"/>
          </p:nvPr>
        </p:nvSpPr>
        <p:spPr>
          <a:xfrm>
            <a:off x="701040" y="4473892"/>
            <a:ext cx="5608320" cy="3660458"/>
          </a:xfrm>
          <a:prstGeom prst="rect">
            <a:avLst/>
          </a:prstGeom>
        </p:spPr>
        <p:txBody>
          <a:bodyPr spcFirstLastPara="1" wrap="square" lIns="93175" tIns="46575" rIns="93175" bIns="46575" anchor="t" anchorCtr="0">
            <a:noAutofit/>
          </a:bodyPr>
          <a:lstStyle/>
          <a:p>
            <a:pPr marL="0" lvl="0" indent="0" algn="l" rtl="0">
              <a:spcBef>
                <a:spcPts val="0"/>
              </a:spcBef>
              <a:spcAft>
                <a:spcPts val="0"/>
              </a:spcAft>
              <a:buNone/>
            </a:pPr>
            <a:endParaRPr/>
          </a:p>
        </p:txBody>
      </p:sp>
      <p:sp>
        <p:nvSpPr>
          <p:cNvPr id="188" name="Google Shape;188;p17:notes"/>
          <p:cNvSpPr>
            <a:spLocks noGrp="1" noRot="1" noChangeAspect="1"/>
          </p:cNvSpPr>
          <p:nvPr>
            <p:ph type="sldImg" idx="2"/>
          </p:nvPr>
        </p:nvSpPr>
        <p:spPr>
          <a:xfrm>
            <a:off x="1414463" y="1162050"/>
            <a:ext cx="4181475" cy="31369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1"/>
        <p:cNvGrpSpPr/>
        <p:nvPr/>
      </p:nvGrpSpPr>
      <p:grpSpPr>
        <a:xfrm>
          <a:off x="0" y="0"/>
          <a:ext cx="0" cy="0"/>
          <a:chOff x="0" y="0"/>
          <a:chExt cx="0" cy="0"/>
        </a:xfrm>
      </p:grpSpPr>
      <p:sp>
        <p:nvSpPr>
          <p:cNvPr id="192" name="Google Shape;192;p18:notes"/>
          <p:cNvSpPr txBox="1">
            <a:spLocks noGrp="1"/>
          </p:cNvSpPr>
          <p:nvPr>
            <p:ph type="body" idx="1"/>
          </p:nvPr>
        </p:nvSpPr>
        <p:spPr>
          <a:xfrm>
            <a:off x="701040" y="4473892"/>
            <a:ext cx="5608320" cy="3660458"/>
          </a:xfrm>
          <a:prstGeom prst="rect">
            <a:avLst/>
          </a:prstGeom>
        </p:spPr>
        <p:txBody>
          <a:bodyPr spcFirstLastPara="1" wrap="square" lIns="93175" tIns="46575" rIns="93175" bIns="46575" anchor="t" anchorCtr="0">
            <a:noAutofit/>
          </a:bodyPr>
          <a:lstStyle/>
          <a:p>
            <a:pPr marL="0" lvl="0" indent="0" algn="l" rtl="0">
              <a:spcBef>
                <a:spcPts val="0"/>
              </a:spcBef>
              <a:spcAft>
                <a:spcPts val="0"/>
              </a:spcAft>
              <a:buNone/>
            </a:pPr>
            <a:endParaRPr/>
          </a:p>
        </p:txBody>
      </p:sp>
      <p:sp>
        <p:nvSpPr>
          <p:cNvPr id="193" name="Google Shape;193;p18:notes"/>
          <p:cNvSpPr>
            <a:spLocks noGrp="1" noRot="1" noChangeAspect="1"/>
          </p:cNvSpPr>
          <p:nvPr>
            <p:ph type="sldImg" idx="2"/>
          </p:nvPr>
        </p:nvSpPr>
        <p:spPr>
          <a:xfrm>
            <a:off x="1414463" y="1162050"/>
            <a:ext cx="4181475" cy="31369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p:cNvGrpSpPr/>
        <p:nvPr/>
      </p:nvGrpSpPr>
      <p:grpSpPr>
        <a:xfrm>
          <a:off x="0" y="0"/>
          <a:ext cx="0" cy="0"/>
          <a:chOff x="0" y="0"/>
          <a:chExt cx="0" cy="0"/>
        </a:xfrm>
      </p:grpSpPr>
      <p:sp>
        <p:nvSpPr>
          <p:cNvPr id="198" name="Google Shape;198;g107e1b577a3_2_1:notes"/>
          <p:cNvSpPr>
            <a:spLocks noGrp="1" noRot="1" noChangeAspect="1"/>
          </p:cNvSpPr>
          <p:nvPr>
            <p:ph type="sldImg" idx="2"/>
          </p:nvPr>
        </p:nvSpPr>
        <p:spPr>
          <a:xfrm>
            <a:off x="1414463" y="1162050"/>
            <a:ext cx="4181400" cy="31368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9" name="Google Shape;199;g107e1b577a3_2_1:notes"/>
          <p:cNvSpPr txBox="1">
            <a:spLocks noGrp="1"/>
          </p:cNvSpPr>
          <p:nvPr>
            <p:ph type="body" idx="1"/>
          </p:nvPr>
        </p:nvSpPr>
        <p:spPr>
          <a:xfrm>
            <a:off x="701040" y="4473892"/>
            <a:ext cx="5608200" cy="3660600"/>
          </a:xfrm>
          <a:prstGeom prst="rect">
            <a:avLst/>
          </a:prstGeom>
        </p:spPr>
        <p:txBody>
          <a:bodyPr spcFirstLastPara="1" wrap="square" lIns="93175" tIns="46575" rIns="93175" bIns="46575" anchor="t" anchorCtr="0">
            <a:noAutofit/>
          </a:bodyPr>
          <a:lstStyle/>
          <a:p>
            <a:pPr marL="0" lvl="0" indent="0" algn="l" rtl="0">
              <a:spcBef>
                <a:spcPts val="0"/>
              </a:spcBef>
              <a:spcAft>
                <a:spcPts val="0"/>
              </a:spcAft>
              <a:buNone/>
            </a:pPr>
            <a:endParaRPr/>
          </a:p>
        </p:txBody>
      </p:sp>
      <p:sp>
        <p:nvSpPr>
          <p:cNvPr id="200" name="Google Shape;200;g107e1b577a3_2_1:notes"/>
          <p:cNvSpPr txBox="1">
            <a:spLocks noGrp="1"/>
          </p:cNvSpPr>
          <p:nvPr>
            <p:ph type="sldNum" idx="12"/>
          </p:nvPr>
        </p:nvSpPr>
        <p:spPr>
          <a:xfrm>
            <a:off x="3970938" y="8829967"/>
            <a:ext cx="3037800" cy="466500"/>
          </a:xfrm>
          <a:prstGeom prst="rect">
            <a:avLst/>
          </a:prstGeom>
        </p:spPr>
        <p:txBody>
          <a:bodyPr spcFirstLastPara="1" wrap="square" lIns="93175" tIns="46575" rIns="93175" bIns="46575"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23</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5"/>
        <p:cNvGrpSpPr/>
        <p:nvPr/>
      </p:nvGrpSpPr>
      <p:grpSpPr>
        <a:xfrm>
          <a:off x="0" y="0"/>
          <a:ext cx="0" cy="0"/>
          <a:chOff x="0" y="0"/>
          <a:chExt cx="0" cy="0"/>
        </a:xfrm>
      </p:grpSpPr>
      <p:sp>
        <p:nvSpPr>
          <p:cNvPr id="206" name="Google Shape;206;g107d85dcbfc_3_29:notes"/>
          <p:cNvSpPr>
            <a:spLocks noGrp="1" noRot="1" noChangeAspect="1"/>
          </p:cNvSpPr>
          <p:nvPr>
            <p:ph type="sldImg" idx="2"/>
          </p:nvPr>
        </p:nvSpPr>
        <p:spPr>
          <a:xfrm>
            <a:off x="1414463" y="1162050"/>
            <a:ext cx="4181400" cy="31368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7" name="Google Shape;207;g107d85dcbfc_3_29:notes"/>
          <p:cNvSpPr txBox="1">
            <a:spLocks noGrp="1"/>
          </p:cNvSpPr>
          <p:nvPr>
            <p:ph type="body" idx="1"/>
          </p:nvPr>
        </p:nvSpPr>
        <p:spPr>
          <a:xfrm>
            <a:off x="701040" y="4473892"/>
            <a:ext cx="5608200" cy="3660600"/>
          </a:xfrm>
          <a:prstGeom prst="rect">
            <a:avLst/>
          </a:prstGeom>
        </p:spPr>
        <p:txBody>
          <a:bodyPr spcFirstLastPara="1" wrap="square" lIns="93175" tIns="46575" rIns="93175" bIns="46575" anchor="t" anchorCtr="0">
            <a:noAutofit/>
          </a:bodyPr>
          <a:lstStyle/>
          <a:p>
            <a:pPr marL="0" lvl="0" indent="0" algn="l" rtl="0">
              <a:spcBef>
                <a:spcPts val="0"/>
              </a:spcBef>
              <a:spcAft>
                <a:spcPts val="0"/>
              </a:spcAft>
              <a:buNone/>
            </a:pPr>
            <a:r>
              <a:rPr lang="en-US"/>
              <a:t>Two of the key UNfavorable attitudes towards mosquito nets</a:t>
            </a:r>
            <a:endParaRPr/>
          </a:p>
        </p:txBody>
      </p:sp>
      <p:sp>
        <p:nvSpPr>
          <p:cNvPr id="208" name="Google Shape;208;g107d85dcbfc_3_29:notes"/>
          <p:cNvSpPr txBox="1">
            <a:spLocks noGrp="1"/>
          </p:cNvSpPr>
          <p:nvPr>
            <p:ph type="sldNum" idx="12"/>
          </p:nvPr>
        </p:nvSpPr>
        <p:spPr>
          <a:xfrm>
            <a:off x="3970938" y="8829967"/>
            <a:ext cx="3037800" cy="466500"/>
          </a:xfrm>
          <a:prstGeom prst="rect">
            <a:avLst/>
          </a:prstGeom>
        </p:spPr>
        <p:txBody>
          <a:bodyPr spcFirstLastPara="1" wrap="square" lIns="93175" tIns="46575" rIns="93175" bIns="46575"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24</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4"/>
        <p:cNvGrpSpPr/>
        <p:nvPr/>
      </p:nvGrpSpPr>
      <p:grpSpPr>
        <a:xfrm>
          <a:off x="0" y="0"/>
          <a:ext cx="0" cy="0"/>
          <a:chOff x="0" y="0"/>
          <a:chExt cx="0" cy="0"/>
        </a:xfrm>
      </p:grpSpPr>
      <p:sp>
        <p:nvSpPr>
          <p:cNvPr id="215" name="Google Shape;215;g107d85dcbfc_3_23:notes"/>
          <p:cNvSpPr txBox="1">
            <a:spLocks noGrp="1"/>
          </p:cNvSpPr>
          <p:nvPr>
            <p:ph type="body" idx="1"/>
          </p:nvPr>
        </p:nvSpPr>
        <p:spPr>
          <a:xfrm>
            <a:off x="701040" y="4473892"/>
            <a:ext cx="5608200" cy="3660600"/>
          </a:xfrm>
          <a:prstGeom prst="rect">
            <a:avLst/>
          </a:prstGeom>
        </p:spPr>
        <p:txBody>
          <a:bodyPr spcFirstLastPara="1" wrap="square" lIns="93175" tIns="46575" rIns="93175" bIns="46575" anchor="t" anchorCtr="0">
            <a:noAutofit/>
          </a:bodyPr>
          <a:lstStyle/>
          <a:p>
            <a:pPr marL="0" lvl="0" indent="0" algn="l" rtl="0">
              <a:spcBef>
                <a:spcPts val="0"/>
              </a:spcBef>
              <a:spcAft>
                <a:spcPts val="0"/>
              </a:spcAft>
              <a:buNone/>
            </a:pPr>
            <a:endParaRPr/>
          </a:p>
        </p:txBody>
      </p:sp>
      <p:sp>
        <p:nvSpPr>
          <p:cNvPr id="216" name="Google Shape;216;g107d85dcbfc_3_23:notes"/>
          <p:cNvSpPr>
            <a:spLocks noGrp="1" noRot="1" noChangeAspect="1"/>
          </p:cNvSpPr>
          <p:nvPr>
            <p:ph type="sldImg" idx="2"/>
          </p:nvPr>
        </p:nvSpPr>
        <p:spPr>
          <a:xfrm>
            <a:off x="1414463" y="1162050"/>
            <a:ext cx="4181400" cy="31368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1"/>
        <p:cNvGrpSpPr/>
        <p:nvPr/>
      </p:nvGrpSpPr>
      <p:grpSpPr>
        <a:xfrm>
          <a:off x="0" y="0"/>
          <a:ext cx="0" cy="0"/>
          <a:chOff x="0" y="0"/>
          <a:chExt cx="0" cy="0"/>
        </a:xfrm>
      </p:grpSpPr>
      <p:sp>
        <p:nvSpPr>
          <p:cNvPr id="222" name="Google Shape;222;p20:notes"/>
          <p:cNvSpPr txBox="1">
            <a:spLocks noGrp="1"/>
          </p:cNvSpPr>
          <p:nvPr>
            <p:ph type="body" idx="1"/>
          </p:nvPr>
        </p:nvSpPr>
        <p:spPr>
          <a:xfrm>
            <a:off x="701040" y="4473892"/>
            <a:ext cx="5608320" cy="3660458"/>
          </a:xfrm>
          <a:prstGeom prst="rect">
            <a:avLst/>
          </a:prstGeom>
        </p:spPr>
        <p:txBody>
          <a:bodyPr spcFirstLastPara="1" wrap="square" lIns="93175" tIns="46575" rIns="93175" bIns="46575" anchor="t" anchorCtr="0">
            <a:noAutofit/>
          </a:bodyPr>
          <a:lstStyle/>
          <a:p>
            <a:pPr marL="0" lvl="0" indent="0" algn="l" rtl="0">
              <a:spcBef>
                <a:spcPts val="0"/>
              </a:spcBef>
              <a:spcAft>
                <a:spcPts val="0"/>
              </a:spcAft>
              <a:buNone/>
            </a:pPr>
            <a:endParaRPr/>
          </a:p>
        </p:txBody>
      </p:sp>
      <p:sp>
        <p:nvSpPr>
          <p:cNvPr id="223" name="Google Shape;223;p20:notes"/>
          <p:cNvSpPr>
            <a:spLocks noGrp="1" noRot="1" noChangeAspect="1"/>
          </p:cNvSpPr>
          <p:nvPr>
            <p:ph type="sldImg" idx="2"/>
          </p:nvPr>
        </p:nvSpPr>
        <p:spPr>
          <a:xfrm>
            <a:off x="1414463" y="1162050"/>
            <a:ext cx="4181475" cy="31369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8"/>
        <p:cNvGrpSpPr/>
        <p:nvPr/>
      </p:nvGrpSpPr>
      <p:grpSpPr>
        <a:xfrm>
          <a:off x="0" y="0"/>
          <a:ext cx="0" cy="0"/>
          <a:chOff x="0" y="0"/>
          <a:chExt cx="0" cy="0"/>
        </a:xfrm>
      </p:grpSpPr>
      <p:sp>
        <p:nvSpPr>
          <p:cNvPr id="229" name="Google Shape;229;p22:notes"/>
          <p:cNvSpPr txBox="1">
            <a:spLocks noGrp="1"/>
          </p:cNvSpPr>
          <p:nvPr>
            <p:ph type="body" idx="1"/>
          </p:nvPr>
        </p:nvSpPr>
        <p:spPr>
          <a:xfrm>
            <a:off x="701040" y="4473892"/>
            <a:ext cx="5608320" cy="3660458"/>
          </a:xfrm>
          <a:prstGeom prst="rect">
            <a:avLst/>
          </a:prstGeom>
        </p:spPr>
        <p:txBody>
          <a:bodyPr spcFirstLastPara="1" wrap="square" lIns="93175" tIns="46575" rIns="93175" bIns="46575" anchor="t" anchorCtr="0">
            <a:noAutofit/>
          </a:bodyPr>
          <a:lstStyle/>
          <a:p>
            <a:pPr marL="0" lvl="0" indent="0" algn="l" rtl="0">
              <a:spcBef>
                <a:spcPts val="0"/>
              </a:spcBef>
              <a:spcAft>
                <a:spcPts val="0"/>
              </a:spcAft>
              <a:buNone/>
            </a:pPr>
            <a:r>
              <a:rPr lang="en-US"/>
              <a:t>Households is the unit here (N=1007)</a:t>
            </a:r>
            <a:endParaRPr/>
          </a:p>
        </p:txBody>
      </p:sp>
      <p:sp>
        <p:nvSpPr>
          <p:cNvPr id="230" name="Google Shape;230;p22:notes"/>
          <p:cNvSpPr>
            <a:spLocks noGrp="1" noRot="1" noChangeAspect="1"/>
          </p:cNvSpPr>
          <p:nvPr>
            <p:ph type="sldImg" idx="2"/>
          </p:nvPr>
        </p:nvSpPr>
        <p:spPr>
          <a:xfrm>
            <a:off x="1414463" y="1162050"/>
            <a:ext cx="4181475" cy="31369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5"/>
        <p:cNvGrpSpPr/>
        <p:nvPr/>
      </p:nvGrpSpPr>
      <p:grpSpPr>
        <a:xfrm>
          <a:off x="0" y="0"/>
          <a:ext cx="0" cy="0"/>
          <a:chOff x="0" y="0"/>
          <a:chExt cx="0" cy="0"/>
        </a:xfrm>
      </p:grpSpPr>
      <p:sp>
        <p:nvSpPr>
          <p:cNvPr id="236" name="Google Shape;236;g107d85dcbfc_3_54:notes"/>
          <p:cNvSpPr txBox="1">
            <a:spLocks noGrp="1"/>
          </p:cNvSpPr>
          <p:nvPr>
            <p:ph type="body" idx="1"/>
          </p:nvPr>
        </p:nvSpPr>
        <p:spPr>
          <a:xfrm>
            <a:off x="701040" y="4473892"/>
            <a:ext cx="5608200" cy="3660600"/>
          </a:xfrm>
          <a:prstGeom prst="rect">
            <a:avLst/>
          </a:prstGeom>
        </p:spPr>
        <p:txBody>
          <a:bodyPr spcFirstLastPara="1" wrap="square" lIns="93175" tIns="46575" rIns="93175" bIns="46575" anchor="t" anchorCtr="0">
            <a:noAutofit/>
          </a:bodyPr>
          <a:lstStyle/>
          <a:p>
            <a:pPr marL="0" lvl="0" indent="0" algn="l" rtl="0">
              <a:spcBef>
                <a:spcPts val="0"/>
              </a:spcBef>
              <a:spcAft>
                <a:spcPts val="0"/>
              </a:spcAft>
              <a:buNone/>
            </a:pPr>
            <a:r>
              <a:rPr lang="en-US"/>
              <a:t>Nets within HHs is the unit here (n=1289) - No differences </a:t>
            </a:r>
            <a:endParaRPr/>
          </a:p>
        </p:txBody>
      </p:sp>
      <p:sp>
        <p:nvSpPr>
          <p:cNvPr id="237" name="Google Shape;237;g107d85dcbfc_3_54:notes"/>
          <p:cNvSpPr>
            <a:spLocks noGrp="1" noRot="1" noChangeAspect="1"/>
          </p:cNvSpPr>
          <p:nvPr>
            <p:ph type="sldImg" idx="2"/>
          </p:nvPr>
        </p:nvSpPr>
        <p:spPr>
          <a:xfrm>
            <a:off x="1414463" y="1162050"/>
            <a:ext cx="4181400" cy="31368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2"/>
        <p:cNvGrpSpPr/>
        <p:nvPr/>
      </p:nvGrpSpPr>
      <p:grpSpPr>
        <a:xfrm>
          <a:off x="0" y="0"/>
          <a:ext cx="0" cy="0"/>
          <a:chOff x="0" y="0"/>
          <a:chExt cx="0" cy="0"/>
        </a:xfrm>
      </p:grpSpPr>
      <p:sp>
        <p:nvSpPr>
          <p:cNvPr id="243" name="Google Shape;243;g107d85dcbfc_2_27:notes"/>
          <p:cNvSpPr>
            <a:spLocks noGrp="1" noRot="1" noChangeAspect="1"/>
          </p:cNvSpPr>
          <p:nvPr>
            <p:ph type="sldImg" idx="2"/>
          </p:nvPr>
        </p:nvSpPr>
        <p:spPr>
          <a:xfrm>
            <a:off x="1414463" y="1162050"/>
            <a:ext cx="4181400" cy="31368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4" name="Google Shape;244;g107d85dcbfc_2_27:notes"/>
          <p:cNvSpPr txBox="1">
            <a:spLocks noGrp="1"/>
          </p:cNvSpPr>
          <p:nvPr>
            <p:ph type="body" idx="1"/>
          </p:nvPr>
        </p:nvSpPr>
        <p:spPr>
          <a:xfrm>
            <a:off x="701040" y="4473892"/>
            <a:ext cx="5608200" cy="3660600"/>
          </a:xfrm>
          <a:prstGeom prst="rect">
            <a:avLst/>
          </a:prstGeom>
        </p:spPr>
        <p:txBody>
          <a:bodyPr spcFirstLastPara="1" wrap="square" lIns="93175" tIns="46575" rIns="93175" bIns="46575" anchor="t" anchorCtr="0">
            <a:noAutofit/>
          </a:bodyPr>
          <a:lstStyle/>
          <a:p>
            <a:pPr marL="0" lvl="0" indent="0" algn="l" rtl="0">
              <a:spcBef>
                <a:spcPts val="0"/>
              </a:spcBef>
              <a:spcAft>
                <a:spcPts val="0"/>
              </a:spcAft>
              <a:buNone/>
            </a:pPr>
            <a:endParaRPr/>
          </a:p>
        </p:txBody>
      </p:sp>
      <p:sp>
        <p:nvSpPr>
          <p:cNvPr id="245" name="Google Shape;245;g107d85dcbfc_2_27:notes"/>
          <p:cNvSpPr txBox="1">
            <a:spLocks noGrp="1"/>
          </p:cNvSpPr>
          <p:nvPr>
            <p:ph type="sldNum" idx="12"/>
          </p:nvPr>
        </p:nvSpPr>
        <p:spPr>
          <a:xfrm>
            <a:off x="3970938" y="8829967"/>
            <a:ext cx="3037800" cy="466500"/>
          </a:xfrm>
          <a:prstGeom prst="rect">
            <a:avLst/>
          </a:prstGeom>
        </p:spPr>
        <p:txBody>
          <a:bodyPr spcFirstLastPara="1" wrap="square" lIns="93175" tIns="46575" rIns="93175" bIns="46575"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29</a:t>
            </a:fld>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8"/>
        <p:cNvGrpSpPr/>
        <p:nvPr/>
      </p:nvGrpSpPr>
      <p:grpSpPr>
        <a:xfrm>
          <a:off x="0" y="0"/>
          <a:ext cx="0" cy="0"/>
          <a:chOff x="0" y="0"/>
          <a:chExt cx="0" cy="0"/>
        </a:xfrm>
      </p:grpSpPr>
      <p:sp>
        <p:nvSpPr>
          <p:cNvPr id="249" name="Google Shape;249;g107d85dcbfc_2_19:notes"/>
          <p:cNvSpPr>
            <a:spLocks noGrp="1" noRot="1" noChangeAspect="1"/>
          </p:cNvSpPr>
          <p:nvPr>
            <p:ph type="sldImg" idx="2"/>
          </p:nvPr>
        </p:nvSpPr>
        <p:spPr>
          <a:xfrm>
            <a:off x="1414463" y="1162050"/>
            <a:ext cx="4181400" cy="31368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0" name="Google Shape;250;g107d85dcbfc_2_19:notes"/>
          <p:cNvSpPr txBox="1">
            <a:spLocks noGrp="1"/>
          </p:cNvSpPr>
          <p:nvPr>
            <p:ph type="body" idx="1"/>
          </p:nvPr>
        </p:nvSpPr>
        <p:spPr>
          <a:xfrm>
            <a:off x="701040" y="4473892"/>
            <a:ext cx="5608200" cy="3660600"/>
          </a:xfrm>
          <a:prstGeom prst="rect">
            <a:avLst/>
          </a:prstGeom>
        </p:spPr>
        <p:txBody>
          <a:bodyPr spcFirstLastPara="1" wrap="square" lIns="93175" tIns="46575" rIns="93175" bIns="46575" anchor="t" anchorCtr="0">
            <a:noAutofit/>
          </a:bodyPr>
          <a:lstStyle/>
          <a:p>
            <a:pPr marL="0" lvl="0" indent="0" algn="l" rtl="0">
              <a:spcBef>
                <a:spcPts val="0"/>
              </a:spcBef>
              <a:spcAft>
                <a:spcPts val="0"/>
              </a:spcAft>
              <a:buClr>
                <a:schemeClr val="dk1"/>
              </a:buClr>
              <a:buSzPts val="1100"/>
              <a:buFont typeface="Arial"/>
              <a:buNone/>
            </a:pPr>
            <a:r>
              <a:rPr lang="en-US"/>
              <a:t>Importantly, the several of the strongest associations with consistent net use were ideational. Significantly higher adjusted odds ratios (aOR) of consistent malaria net use were observed for the following ideational factors: perceived self-efficacy, favorable attitudes toward net use, supportive descriptive community norms, favorable attitudes, and perceived susceptibility. Communication about malaria with family or friends and recall of malaria messages were also associated with significantly higher adjusted odds ratios. Where respondents lived was also found to be associated with consistent net use: The odds ratios were higher among residents of Pemba compared with Unguja, and among rural residents compared with urban dwellers.  The number of nets in the household, one measure of access, was positively associated with a significantly higher odds ratio.  Interestingly, wealth quintiles were associated with a negative odds ratio. </a:t>
            </a:r>
            <a:endParaRPr/>
          </a:p>
        </p:txBody>
      </p:sp>
      <p:sp>
        <p:nvSpPr>
          <p:cNvPr id="251" name="Google Shape;251;g107d85dcbfc_2_19:notes"/>
          <p:cNvSpPr txBox="1">
            <a:spLocks noGrp="1"/>
          </p:cNvSpPr>
          <p:nvPr>
            <p:ph type="sldNum" idx="12"/>
          </p:nvPr>
        </p:nvSpPr>
        <p:spPr>
          <a:xfrm>
            <a:off x="3970938" y="8829967"/>
            <a:ext cx="3037800" cy="466500"/>
          </a:xfrm>
          <a:prstGeom prst="rect">
            <a:avLst/>
          </a:prstGeom>
        </p:spPr>
        <p:txBody>
          <a:bodyPr spcFirstLastPara="1" wrap="square" lIns="93175" tIns="46575" rIns="93175" bIns="46575"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30</a:t>
            </a:fld>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5"/>
        <p:cNvGrpSpPr/>
        <p:nvPr/>
      </p:nvGrpSpPr>
      <p:grpSpPr>
        <a:xfrm>
          <a:off x="0" y="0"/>
          <a:ext cx="0" cy="0"/>
          <a:chOff x="0" y="0"/>
          <a:chExt cx="0" cy="0"/>
        </a:xfrm>
      </p:grpSpPr>
      <p:sp>
        <p:nvSpPr>
          <p:cNvPr id="256" name="Google Shape;256;g10756c0ab36_2_7:notes"/>
          <p:cNvSpPr txBox="1">
            <a:spLocks noGrp="1"/>
          </p:cNvSpPr>
          <p:nvPr>
            <p:ph type="body" idx="1"/>
          </p:nvPr>
        </p:nvSpPr>
        <p:spPr>
          <a:xfrm>
            <a:off x="701040" y="4473892"/>
            <a:ext cx="5608200" cy="3660600"/>
          </a:xfrm>
          <a:prstGeom prst="rect">
            <a:avLst/>
          </a:prstGeom>
        </p:spPr>
        <p:txBody>
          <a:bodyPr spcFirstLastPara="1" wrap="square" lIns="93175" tIns="46575" rIns="93175" bIns="46575" anchor="t" anchorCtr="0">
            <a:noAutofit/>
          </a:bodyPr>
          <a:lstStyle/>
          <a:p>
            <a:pPr marL="0" lvl="0" indent="0" algn="l" rtl="0">
              <a:spcBef>
                <a:spcPts val="0"/>
              </a:spcBef>
              <a:spcAft>
                <a:spcPts val="0"/>
              </a:spcAft>
              <a:buNone/>
            </a:pPr>
            <a:endParaRPr/>
          </a:p>
        </p:txBody>
      </p:sp>
      <p:sp>
        <p:nvSpPr>
          <p:cNvPr id="257" name="Google Shape;257;g10756c0ab36_2_7:notes"/>
          <p:cNvSpPr>
            <a:spLocks noGrp="1" noRot="1" noChangeAspect="1"/>
          </p:cNvSpPr>
          <p:nvPr>
            <p:ph type="sldImg" idx="2"/>
          </p:nvPr>
        </p:nvSpPr>
        <p:spPr>
          <a:xfrm>
            <a:off x="1414463" y="1162050"/>
            <a:ext cx="4181400" cy="31368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1"/>
        <p:cNvGrpSpPr/>
        <p:nvPr/>
      </p:nvGrpSpPr>
      <p:grpSpPr>
        <a:xfrm>
          <a:off x="0" y="0"/>
          <a:ext cx="0" cy="0"/>
          <a:chOff x="0" y="0"/>
          <a:chExt cx="0" cy="0"/>
        </a:xfrm>
      </p:grpSpPr>
      <p:sp>
        <p:nvSpPr>
          <p:cNvPr id="262" name="Google Shape;262;g10756c0ab36_2_0:notes"/>
          <p:cNvSpPr>
            <a:spLocks noGrp="1" noRot="1" noChangeAspect="1"/>
          </p:cNvSpPr>
          <p:nvPr>
            <p:ph type="sldImg" idx="2"/>
          </p:nvPr>
        </p:nvSpPr>
        <p:spPr>
          <a:xfrm>
            <a:off x="1414463" y="1162050"/>
            <a:ext cx="4181400" cy="31368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3" name="Google Shape;263;g10756c0ab36_2_0:notes"/>
          <p:cNvSpPr txBox="1">
            <a:spLocks noGrp="1"/>
          </p:cNvSpPr>
          <p:nvPr>
            <p:ph type="body" idx="1"/>
          </p:nvPr>
        </p:nvSpPr>
        <p:spPr>
          <a:xfrm>
            <a:off x="701040" y="4473892"/>
            <a:ext cx="5608200" cy="3660600"/>
          </a:xfrm>
          <a:prstGeom prst="rect">
            <a:avLst/>
          </a:prstGeom>
        </p:spPr>
        <p:txBody>
          <a:bodyPr spcFirstLastPara="1" wrap="square" lIns="93175" tIns="46575" rIns="93175" bIns="46575" anchor="t" anchorCtr="0">
            <a:noAutofit/>
          </a:bodyPr>
          <a:lstStyle/>
          <a:p>
            <a:pPr marL="0" lvl="0" indent="0" algn="l" rtl="0">
              <a:spcBef>
                <a:spcPts val="0"/>
              </a:spcBef>
              <a:spcAft>
                <a:spcPts val="0"/>
              </a:spcAft>
              <a:buNone/>
            </a:pPr>
            <a:endParaRPr/>
          </a:p>
        </p:txBody>
      </p:sp>
      <p:sp>
        <p:nvSpPr>
          <p:cNvPr id="264" name="Google Shape;264;g10756c0ab36_2_0:notes"/>
          <p:cNvSpPr txBox="1">
            <a:spLocks noGrp="1"/>
          </p:cNvSpPr>
          <p:nvPr>
            <p:ph type="sldNum" idx="12"/>
          </p:nvPr>
        </p:nvSpPr>
        <p:spPr>
          <a:xfrm>
            <a:off x="3970938" y="8829967"/>
            <a:ext cx="3037800" cy="466500"/>
          </a:xfrm>
          <a:prstGeom prst="rect">
            <a:avLst/>
          </a:prstGeom>
        </p:spPr>
        <p:txBody>
          <a:bodyPr spcFirstLastPara="1" wrap="square" lIns="93175" tIns="46575" rIns="93175" bIns="46575"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32</a:t>
            </a:fld>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8"/>
        <p:cNvGrpSpPr/>
        <p:nvPr/>
      </p:nvGrpSpPr>
      <p:grpSpPr>
        <a:xfrm>
          <a:off x="0" y="0"/>
          <a:ext cx="0" cy="0"/>
          <a:chOff x="0" y="0"/>
          <a:chExt cx="0" cy="0"/>
        </a:xfrm>
      </p:grpSpPr>
      <p:sp>
        <p:nvSpPr>
          <p:cNvPr id="269" name="Google Shape;269;g107a3637e0a_1_13:notes"/>
          <p:cNvSpPr>
            <a:spLocks noGrp="1" noRot="1" noChangeAspect="1"/>
          </p:cNvSpPr>
          <p:nvPr>
            <p:ph type="sldImg" idx="2"/>
          </p:nvPr>
        </p:nvSpPr>
        <p:spPr>
          <a:xfrm>
            <a:off x="1414463" y="1162050"/>
            <a:ext cx="4181400" cy="31368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0" name="Google Shape;270;g107a3637e0a_1_13:notes"/>
          <p:cNvSpPr txBox="1">
            <a:spLocks noGrp="1"/>
          </p:cNvSpPr>
          <p:nvPr>
            <p:ph type="body" idx="1"/>
          </p:nvPr>
        </p:nvSpPr>
        <p:spPr>
          <a:xfrm>
            <a:off x="701040" y="4473892"/>
            <a:ext cx="5608200" cy="3660600"/>
          </a:xfrm>
          <a:prstGeom prst="rect">
            <a:avLst/>
          </a:prstGeom>
        </p:spPr>
        <p:txBody>
          <a:bodyPr spcFirstLastPara="1" wrap="square" lIns="93175" tIns="46575" rIns="93175" bIns="46575" anchor="t" anchorCtr="0">
            <a:noAutofit/>
          </a:bodyPr>
          <a:lstStyle/>
          <a:p>
            <a:pPr marL="0" lvl="0" indent="0" algn="l" rtl="0">
              <a:spcBef>
                <a:spcPts val="0"/>
              </a:spcBef>
              <a:spcAft>
                <a:spcPts val="0"/>
              </a:spcAft>
              <a:buNone/>
            </a:pPr>
            <a:endParaRPr/>
          </a:p>
        </p:txBody>
      </p:sp>
      <p:sp>
        <p:nvSpPr>
          <p:cNvPr id="271" name="Google Shape;271;g107a3637e0a_1_13:notes"/>
          <p:cNvSpPr txBox="1">
            <a:spLocks noGrp="1"/>
          </p:cNvSpPr>
          <p:nvPr>
            <p:ph type="sldNum" idx="12"/>
          </p:nvPr>
        </p:nvSpPr>
        <p:spPr>
          <a:xfrm>
            <a:off x="3970938" y="8829967"/>
            <a:ext cx="3037800" cy="466500"/>
          </a:xfrm>
          <a:prstGeom prst="rect">
            <a:avLst/>
          </a:prstGeom>
        </p:spPr>
        <p:txBody>
          <a:bodyPr spcFirstLastPara="1" wrap="square" lIns="93175" tIns="46575" rIns="93175" bIns="46575"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33</a:t>
            </a:fld>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4"/>
        <p:cNvGrpSpPr/>
        <p:nvPr/>
      </p:nvGrpSpPr>
      <p:grpSpPr>
        <a:xfrm>
          <a:off x="0" y="0"/>
          <a:ext cx="0" cy="0"/>
          <a:chOff x="0" y="0"/>
          <a:chExt cx="0" cy="0"/>
        </a:xfrm>
      </p:grpSpPr>
      <p:sp>
        <p:nvSpPr>
          <p:cNvPr id="275" name="Google Shape;275;g107d85dcbfc_3_60:notes"/>
          <p:cNvSpPr>
            <a:spLocks noGrp="1" noRot="1" noChangeAspect="1"/>
          </p:cNvSpPr>
          <p:nvPr>
            <p:ph type="sldImg" idx="2"/>
          </p:nvPr>
        </p:nvSpPr>
        <p:spPr>
          <a:xfrm>
            <a:off x="1414463" y="1162050"/>
            <a:ext cx="4181400" cy="31368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6" name="Google Shape;276;g107d85dcbfc_3_60:notes"/>
          <p:cNvSpPr txBox="1">
            <a:spLocks noGrp="1"/>
          </p:cNvSpPr>
          <p:nvPr>
            <p:ph type="body" idx="1"/>
          </p:nvPr>
        </p:nvSpPr>
        <p:spPr>
          <a:xfrm>
            <a:off x="701040" y="4473892"/>
            <a:ext cx="5608200" cy="3660600"/>
          </a:xfrm>
          <a:prstGeom prst="rect">
            <a:avLst/>
          </a:prstGeom>
        </p:spPr>
        <p:txBody>
          <a:bodyPr spcFirstLastPara="1" wrap="square" lIns="93175" tIns="46575" rIns="93175" bIns="46575" anchor="t" anchorCtr="0">
            <a:noAutofit/>
          </a:bodyPr>
          <a:lstStyle/>
          <a:p>
            <a:pPr marL="0" lvl="0" indent="0" algn="l" rtl="0">
              <a:spcBef>
                <a:spcPts val="0"/>
              </a:spcBef>
              <a:spcAft>
                <a:spcPts val="0"/>
              </a:spcAft>
              <a:buNone/>
            </a:pPr>
            <a:endParaRPr/>
          </a:p>
        </p:txBody>
      </p:sp>
      <p:sp>
        <p:nvSpPr>
          <p:cNvPr id="277" name="Google Shape;277;g107d85dcbfc_3_60:notes"/>
          <p:cNvSpPr txBox="1">
            <a:spLocks noGrp="1"/>
          </p:cNvSpPr>
          <p:nvPr>
            <p:ph type="sldNum" idx="12"/>
          </p:nvPr>
        </p:nvSpPr>
        <p:spPr>
          <a:xfrm>
            <a:off x="3970938" y="8829967"/>
            <a:ext cx="3037800" cy="466500"/>
          </a:xfrm>
          <a:prstGeom prst="rect">
            <a:avLst/>
          </a:prstGeom>
        </p:spPr>
        <p:txBody>
          <a:bodyPr spcFirstLastPara="1" wrap="square" lIns="93175" tIns="46575" rIns="93175" bIns="46575"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34</a:t>
            </a:fld>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1"/>
        <p:cNvGrpSpPr/>
        <p:nvPr/>
      </p:nvGrpSpPr>
      <p:grpSpPr>
        <a:xfrm>
          <a:off x="0" y="0"/>
          <a:ext cx="0" cy="0"/>
          <a:chOff x="0" y="0"/>
          <a:chExt cx="0" cy="0"/>
        </a:xfrm>
      </p:grpSpPr>
      <p:sp>
        <p:nvSpPr>
          <p:cNvPr id="282" name="Google Shape;282;g107a3637e0a_1_19:notes"/>
          <p:cNvSpPr>
            <a:spLocks noGrp="1" noRot="1" noChangeAspect="1"/>
          </p:cNvSpPr>
          <p:nvPr>
            <p:ph type="sldImg" idx="2"/>
          </p:nvPr>
        </p:nvSpPr>
        <p:spPr>
          <a:xfrm>
            <a:off x="1414463" y="1162050"/>
            <a:ext cx="4181400" cy="31368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3" name="Google Shape;283;g107a3637e0a_1_19:notes"/>
          <p:cNvSpPr txBox="1">
            <a:spLocks noGrp="1"/>
          </p:cNvSpPr>
          <p:nvPr>
            <p:ph type="body" idx="1"/>
          </p:nvPr>
        </p:nvSpPr>
        <p:spPr>
          <a:xfrm>
            <a:off x="701040" y="4473892"/>
            <a:ext cx="5608200" cy="3660600"/>
          </a:xfrm>
          <a:prstGeom prst="rect">
            <a:avLst/>
          </a:prstGeom>
        </p:spPr>
        <p:txBody>
          <a:bodyPr spcFirstLastPara="1" wrap="square" lIns="93175" tIns="46575" rIns="93175" bIns="46575" anchor="t" anchorCtr="0">
            <a:noAutofit/>
          </a:bodyPr>
          <a:lstStyle/>
          <a:p>
            <a:pPr marL="0" lvl="0" indent="0" algn="l" rtl="0">
              <a:spcBef>
                <a:spcPts val="0"/>
              </a:spcBef>
              <a:spcAft>
                <a:spcPts val="0"/>
              </a:spcAft>
              <a:buNone/>
            </a:pPr>
            <a:endParaRPr/>
          </a:p>
        </p:txBody>
      </p:sp>
      <p:sp>
        <p:nvSpPr>
          <p:cNvPr id="284" name="Google Shape;284;g107a3637e0a_1_19:notes"/>
          <p:cNvSpPr txBox="1">
            <a:spLocks noGrp="1"/>
          </p:cNvSpPr>
          <p:nvPr>
            <p:ph type="sldNum" idx="12"/>
          </p:nvPr>
        </p:nvSpPr>
        <p:spPr>
          <a:xfrm>
            <a:off x="3970938" y="8829967"/>
            <a:ext cx="3037800" cy="466500"/>
          </a:xfrm>
          <a:prstGeom prst="rect">
            <a:avLst/>
          </a:prstGeom>
        </p:spPr>
        <p:txBody>
          <a:bodyPr spcFirstLastPara="1" wrap="square" lIns="93175" tIns="46575" rIns="93175" bIns="46575"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35</a:t>
            </a:fld>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0"/>
        <p:cNvGrpSpPr/>
        <p:nvPr/>
      </p:nvGrpSpPr>
      <p:grpSpPr>
        <a:xfrm>
          <a:off x="0" y="0"/>
          <a:ext cx="0" cy="0"/>
          <a:chOff x="0" y="0"/>
          <a:chExt cx="0" cy="0"/>
        </a:xfrm>
      </p:grpSpPr>
      <p:sp>
        <p:nvSpPr>
          <p:cNvPr id="291" name="Google Shape;291;g107a3637e0a_1_48:notes"/>
          <p:cNvSpPr>
            <a:spLocks noGrp="1" noRot="1" noChangeAspect="1"/>
          </p:cNvSpPr>
          <p:nvPr>
            <p:ph type="sldImg" idx="2"/>
          </p:nvPr>
        </p:nvSpPr>
        <p:spPr>
          <a:xfrm>
            <a:off x="1414463" y="1162050"/>
            <a:ext cx="4181400" cy="31368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2" name="Google Shape;292;g107a3637e0a_1_48:notes"/>
          <p:cNvSpPr txBox="1">
            <a:spLocks noGrp="1"/>
          </p:cNvSpPr>
          <p:nvPr>
            <p:ph type="body" idx="1"/>
          </p:nvPr>
        </p:nvSpPr>
        <p:spPr>
          <a:xfrm>
            <a:off x="701040" y="4473892"/>
            <a:ext cx="5608200" cy="3660600"/>
          </a:xfrm>
          <a:prstGeom prst="rect">
            <a:avLst/>
          </a:prstGeom>
        </p:spPr>
        <p:txBody>
          <a:bodyPr spcFirstLastPara="1" wrap="square" lIns="93175" tIns="46575" rIns="93175" bIns="46575" anchor="t" anchorCtr="0">
            <a:noAutofit/>
          </a:bodyPr>
          <a:lstStyle/>
          <a:p>
            <a:pPr marL="0" lvl="0" indent="0" algn="l" rtl="0">
              <a:spcBef>
                <a:spcPts val="0"/>
              </a:spcBef>
              <a:spcAft>
                <a:spcPts val="0"/>
              </a:spcAft>
              <a:buNone/>
            </a:pPr>
            <a:endParaRPr/>
          </a:p>
        </p:txBody>
      </p:sp>
      <p:sp>
        <p:nvSpPr>
          <p:cNvPr id="293" name="Google Shape;293;g107a3637e0a_1_48:notes"/>
          <p:cNvSpPr txBox="1">
            <a:spLocks noGrp="1"/>
          </p:cNvSpPr>
          <p:nvPr>
            <p:ph type="sldNum" idx="12"/>
          </p:nvPr>
        </p:nvSpPr>
        <p:spPr>
          <a:xfrm>
            <a:off x="3970938" y="8829967"/>
            <a:ext cx="3037800" cy="466500"/>
          </a:xfrm>
          <a:prstGeom prst="rect">
            <a:avLst/>
          </a:prstGeom>
        </p:spPr>
        <p:txBody>
          <a:bodyPr spcFirstLastPara="1" wrap="square" lIns="93175" tIns="46575" rIns="93175" bIns="46575"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36</a:t>
            </a:fld>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7"/>
        <p:cNvGrpSpPr/>
        <p:nvPr/>
      </p:nvGrpSpPr>
      <p:grpSpPr>
        <a:xfrm>
          <a:off x="0" y="0"/>
          <a:ext cx="0" cy="0"/>
          <a:chOff x="0" y="0"/>
          <a:chExt cx="0" cy="0"/>
        </a:xfrm>
      </p:grpSpPr>
      <p:sp>
        <p:nvSpPr>
          <p:cNvPr id="298" name="Google Shape;298;g107a3637e0a_1_55:notes"/>
          <p:cNvSpPr txBox="1">
            <a:spLocks noGrp="1"/>
          </p:cNvSpPr>
          <p:nvPr>
            <p:ph type="body" idx="1"/>
          </p:nvPr>
        </p:nvSpPr>
        <p:spPr>
          <a:xfrm>
            <a:off x="701040" y="4473892"/>
            <a:ext cx="5608200" cy="3660600"/>
          </a:xfrm>
          <a:prstGeom prst="rect">
            <a:avLst/>
          </a:prstGeom>
        </p:spPr>
        <p:txBody>
          <a:bodyPr spcFirstLastPara="1" wrap="square" lIns="93175" tIns="46575" rIns="93175" bIns="46575" anchor="t" anchorCtr="0">
            <a:noAutofit/>
          </a:bodyPr>
          <a:lstStyle/>
          <a:p>
            <a:pPr marL="0" lvl="0" indent="0" algn="l" rtl="0">
              <a:spcBef>
                <a:spcPts val="0"/>
              </a:spcBef>
              <a:spcAft>
                <a:spcPts val="0"/>
              </a:spcAft>
              <a:buNone/>
            </a:pPr>
            <a:endParaRPr/>
          </a:p>
        </p:txBody>
      </p:sp>
      <p:sp>
        <p:nvSpPr>
          <p:cNvPr id="299" name="Google Shape;299;g107a3637e0a_1_55:notes"/>
          <p:cNvSpPr>
            <a:spLocks noGrp="1" noRot="1" noChangeAspect="1"/>
          </p:cNvSpPr>
          <p:nvPr>
            <p:ph type="sldImg" idx="2"/>
          </p:nvPr>
        </p:nvSpPr>
        <p:spPr>
          <a:xfrm>
            <a:off x="1414463" y="1162050"/>
            <a:ext cx="4181400" cy="31368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3"/>
        <p:cNvGrpSpPr/>
        <p:nvPr/>
      </p:nvGrpSpPr>
      <p:grpSpPr>
        <a:xfrm>
          <a:off x="0" y="0"/>
          <a:ext cx="0" cy="0"/>
          <a:chOff x="0" y="0"/>
          <a:chExt cx="0" cy="0"/>
        </a:xfrm>
      </p:grpSpPr>
      <p:sp>
        <p:nvSpPr>
          <p:cNvPr id="304" name="Google Shape;304;g107a3637e0a_1_66:notes"/>
          <p:cNvSpPr>
            <a:spLocks noGrp="1" noRot="1" noChangeAspect="1"/>
          </p:cNvSpPr>
          <p:nvPr>
            <p:ph type="sldImg" idx="2"/>
          </p:nvPr>
        </p:nvSpPr>
        <p:spPr>
          <a:xfrm>
            <a:off x="1414463" y="1162050"/>
            <a:ext cx="4181400" cy="31368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5" name="Google Shape;305;g107a3637e0a_1_66:notes"/>
          <p:cNvSpPr txBox="1">
            <a:spLocks noGrp="1"/>
          </p:cNvSpPr>
          <p:nvPr>
            <p:ph type="body" idx="1"/>
          </p:nvPr>
        </p:nvSpPr>
        <p:spPr>
          <a:xfrm>
            <a:off x="701040" y="4473892"/>
            <a:ext cx="5608200" cy="3660600"/>
          </a:xfrm>
          <a:prstGeom prst="rect">
            <a:avLst/>
          </a:prstGeom>
        </p:spPr>
        <p:txBody>
          <a:bodyPr spcFirstLastPara="1" wrap="square" lIns="93175" tIns="46575" rIns="93175" bIns="46575" anchor="t" anchorCtr="0">
            <a:noAutofit/>
          </a:bodyPr>
          <a:lstStyle/>
          <a:p>
            <a:pPr marL="0" lvl="0" indent="0" algn="l" rtl="0">
              <a:spcBef>
                <a:spcPts val="0"/>
              </a:spcBef>
              <a:spcAft>
                <a:spcPts val="0"/>
              </a:spcAft>
              <a:buNone/>
            </a:pPr>
            <a:endParaRPr/>
          </a:p>
        </p:txBody>
      </p:sp>
      <p:sp>
        <p:nvSpPr>
          <p:cNvPr id="306" name="Google Shape;306;g107a3637e0a_1_66:notes"/>
          <p:cNvSpPr txBox="1">
            <a:spLocks noGrp="1"/>
          </p:cNvSpPr>
          <p:nvPr>
            <p:ph type="sldNum" idx="12"/>
          </p:nvPr>
        </p:nvSpPr>
        <p:spPr>
          <a:xfrm>
            <a:off x="3970938" y="8829967"/>
            <a:ext cx="3037800" cy="466500"/>
          </a:xfrm>
          <a:prstGeom prst="rect">
            <a:avLst/>
          </a:prstGeom>
        </p:spPr>
        <p:txBody>
          <a:bodyPr spcFirstLastPara="1" wrap="square" lIns="93175" tIns="46575" rIns="93175" bIns="46575"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38</a:t>
            </a:fld>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9"/>
        <p:cNvGrpSpPr/>
        <p:nvPr/>
      </p:nvGrpSpPr>
      <p:grpSpPr>
        <a:xfrm>
          <a:off x="0" y="0"/>
          <a:ext cx="0" cy="0"/>
          <a:chOff x="0" y="0"/>
          <a:chExt cx="0" cy="0"/>
        </a:xfrm>
      </p:grpSpPr>
      <p:sp>
        <p:nvSpPr>
          <p:cNvPr id="310" name="Google Shape;310;g107d85dcbfc_3_66:notes"/>
          <p:cNvSpPr>
            <a:spLocks noGrp="1" noRot="1" noChangeAspect="1"/>
          </p:cNvSpPr>
          <p:nvPr>
            <p:ph type="sldImg" idx="2"/>
          </p:nvPr>
        </p:nvSpPr>
        <p:spPr>
          <a:xfrm>
            <a:off x="1414463" y="1162050"/>
            <a:ext cx="4181400" cy="31368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11" name="Google Shape;311;g107d85dcbfc_3_66:notes"/>
          <p:cNvSpPr txBox="1">
            <a:spLocks noGrp="1"/>
          </p:cNvSpPr>
          <p:nvPr>
            <p:ph type="body" idx="1"/>
          </p:nvPr>
        </p:nvSpPr>
        <p:spPr>
          <a:xfrm>
            <a:off x="701040" y="4473892"/>
            <a:ext cx="5608200" cy="3660600"/>
          </a:xfrm>
          <a:prstGeom prst="rect">
            <a:avLst/>
          </a:prstGeom>
        </p:spPr>
        <p:txBody>
          <a:bodyPr spcFirstLastPara="1" wrap="square" lIns="93175" tIns="46575" rIns="93175" bIns="46575" anchor="t" anchorCtr="0">
            <a:noAutofit/>
          </a:bodyPr>
          <a:lstStyle/>
          <a:p>
            <a:pPr marL="0" lvl="0" indent="0" algn="l" rtl="0">
              <a:spcBef>
                <a:spcPts val="0"/>
              </a:spcBef>
              <a:spcAft>
                <a:spcPts val="0"/>
              </a:spcAft>
              <a:buNone/>
            </a:pPr>
            <a:endParaRPr/>
          </a:p>
        </p:txBody>
      </p:sp>
      <p:sp>
        <p:nvSpPr>
          <p:cNvPr id="312" name="Google Shape;312;g107d85dcbfc_3_66:notes"/>
          <p:cNvSpPr txBox="1">
            <a:spLocks noGrp="1"/>
          </p:cNvSpPr>
          <p:nvPr>
            <p:ph type="sldNum" idx="12"/>
          </p:nvPr>
        </p:nvSpPr>
        <p:spPr>
          <a:xfrm>
            <a:off x="3970938" y="8829967"/>
            <a:ext cx="3037800" cy="466500"/>
          </a:xfrm>
          <a:prstGeom prst="rect">
            <a:avLst/>
          </a:prstGeom>
        </p:spPr>
        <p:txBody>
          <a:bodyPr spcFirstLastPara="1" wrap="square" lIns="93175" tIns="46575" rIns="93175" bIns="46575" anchor="b" anchorCtr="0">
            <a:noAutofit/>
          </a:bodyPr>
          <a:lstStyle/>
          <a:p>
            <a:pPr marL="0" lvl="0" indent="0" algn="r" rtl="0">
              <a:spcBef>
                <a:spcPts val="0"/>
              </a:spcBef>
              <a:spcAft>
                <a:spcPts val="0"/>
              </a:spcAft>
              <a:buNone/>
            </a:pPr>
            <a:fld id="{00000000-1234-1234-1234-123412341234}" type="slidenum">
              <a:rPr lang="en-US"/>
              <a:t>39</a:t>
            </a:fld>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6"/>
        <p:cNvGrpSpPr/>
        <p:nvPr/>
      </p:nvGrpSpPr>
      <p:grpSpPr>
        <a:xfrm>
          <a:off x="0" y="0"/>
          <a:ext cx="0" cy="0"/>
          <a:chOff x="0" y="0"/>
          <a:chExt cx="0" cy="0"/>
        </a:xfrm>
      </p:grpSpPr>
      <p:sp>
        <p:nvSpPr>
          <p:cNvPr id="317" name="Google Shape;317;g107a3637e0a_1_75:notes"/>
          <p:cNvSpPr>
            <a:spLocks noGrp="1" noRot="1" noChangeAspect="1"/>
          </p:cNvSpPr>
          <p:nvPr>
            <p:ph type="sldImg" idx="2"/>
          </p:nvPr>
        </p:nvSpPr>
        <p:spPr>
          <a:xfrm>
            <a:off x="1414463" y="1162050"/>
            <a:ext cx="4181400" cy="31368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18" name="Google Shape;318;g107a3637e0a_1_75:notes"/>
          <p:cNvSpPr txBox="1">
            <a:spLocks noGrp="1"/>
          </p:cNvSpPr>
          <p:nvPr>
            <p:ph type="body" idx="1"/>
          </p:nvPr>
        </p:nvSpPr>
        <p:spPr>
          <a:xfrm>
            <a:off x="701040" y="4473892"/>
            <a:ext cx="5608200" cy="3660600"/>
          </a:xfrm>
          <a:prstGeom prst="rect">
            <a:avLst/>
          </a:prstGeom>
        </p:spPr>
        <p:txBody>
          <a:bodyPr spcFirstLastPara="1" wrap="square" lIns="93175" tIns="46575" rIns="93175" bIns="46575" anchor="t" anchorCtr="0">
            <a:noAutofit/>
          </a:bodyPr>
          <a:lstStyle/>
          <a:p>
            <a:pPr marL="0" lvl="0" indent="0" algn="l" rtl="0">
              <a:spcBef>
                <a:spcPts val="0"/>
              </a:spcBef>
              <a:spcAft>
                <a:spcPts val="0"/>
              </a:spcAft>
              <a:buNone/>
            </a:pPr>
            <a:endParaRPr/>
          </a:p>
        </p:txBody>
      </p:sp>
      <p:sp>
        <p:nvSpPr>
          <p:cNvPr id="319" name="Google Shape;319;g107a3637e0a_1_75:notes"/>
          <p:cNvSpPr txBox="1">
            <a:spLocks noGrp="1"/>
          </p:cNvSpPr>
          <p:nvPr>
            <p:ph type="sldNum" idx="12"/>
          </p:nvPr>
        </p:nvSpPr>
        <p:spPr>
          <a:xfrm>
            <a:off x="3970938" y="8829967"/>
            <a:ext cx="3037800" cy="466500"/>
          </a:xfrm>
          <a:prstGeom prst="rect">
            <a:avLst/>
          </a:prstGeom>
        </p:spPr>
        <p:txBody>
          <a:bodyPr spcFirstLastPara="1" wrap="square" lIns="93175" tIns="46575" rIns="93175" bIns="46575"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40</a:t>
            </a:fld>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4"/>
        <p:cNvGrpSpPr/>
        <p:nvPr/>
      </p:nvGrpSpPr>
      <p:grpSpPr>
        <a:xfrm>
          <a:off x="0" y="0"/>
          <a:ext cx="0" cy="0"/>
          <a:chOff x="0" y="0"/>
          <a:chExt cx="0" cy="0"/>
        </a:xfrm>
      </p:grpSpPr>
      <p:sp>
        <p:nvSpPr>
          <p:cNvPr id="325" name="Google Shape;325;g107a3637e0a_1_60:notes"/>
          <p:cNvSpPr>
            <a:spLocks noGrp="1" noRot="1" noChangeAspect="1"/>
          </p:cNvSpPr>
          <p:nvPr>
            <p:ph type="sldImg" idx="2"/>
          </p:nvPr>
        </p:nvSpPr>
        <p:spPr>
          <a:xfrm>
            <a:off x="1414463" y="1162050"/>
            <a:ext cx="4181400" cy="31368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26" name="Google Shape;326;g107a3637e0a_1_60:notes"/>
          <p:cNvSpPr txBox="1">
            <a:spLocks noGrp="1"/>
          </p:cNvSpPr>
          <p:nvPr>
            <p:ph type="body" idx="1"/>
          </p:nvPr>
        </p:nvSpPr>
        <p:spPr>
          <a:xfrm>
            <a:off x="701040" y="4473892"/>
            <a:ext cx="5608200" cy="3660600"/>
          </a:xfrm>
          <a:prstGeom prst="rect">
            <a:avLst/>
          </a:prstGeom>
        </p:spPr>
        <p:txBody>
          <a:bodyPr spcFirstLastPara="1" wrap="square" lIns="93175" tIns="46575" rIns="93175" bIns="46575" anchor="t" anchorCtr="0">
            <a:noAutofit/>
          </a:bodyPr>
          <a:lstStyle/>
          <a:p>
            <a:pPr marL="0" lvl="0" indent="0" algn="l" rtl="0">
              <a:spcBef>
                <a:spcPts val="0"/>
              </a:spcBef>
              <a:spcAft>
                <a:spcPts val="0"/>
              </a:spcAft>
              <a:buNone/>
            </a:pPr>
            <a:endParaRPr/>
          </a:p>
        </p:txBody>
      </p:sp>
      <p:sp>
        <p:nvSpPr>
          <p:cNvPr id="327" name="Google Shape;327;g107a3637e0a_1_60:notes"/>
          <p:cNvSpPr txBox="1">
            <a:spLocks noGrp="1"/>
          </p:cNvSpPr>
          <p:nvPr>
            <p:ph type="sldNum" idx="12"/>
          </p:nvPr>
        </p:nvSpPr>
        <p:spPr>
          <a:xfrm>
            <a:off x="3970938" y="8829967"/>
            <a:ext cx="3037800" cy="466500"/>
          </a:xfrm>
          <a:prstGeom prst="rect">
            <a:avLst/>
          </a:prstGeom>
        </p:spPr>
        <p:txBody>
          <a:bodyPr spcFirstLastPara="1" wrap="square" lIns="93175" tIns="46575" rIns="93175" bIns="46575"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41</a:t>
            </a:fld>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1"/>
        <p:cNvGrpSpPr/>
        <p:nvPr/>
      </p:nvGrpSpPr>
      <p:grpSpPr>
        <a:xfrm>
          <a:off x="0" y="0"/>
          <a:ext cx="0" cy="0"/>
          <a:chOff x="0" y="0"/>
          <a:chExt cx="0" cy="0"/>
        </a:xfrm>
      </p:grpSpPr>
      <p:sp>
        <p:nvSpPr>
          <p:cNvPr id="332" name="Google Shape;332;g107a3637e0a_1_82:notes"/>
          <p:cNvSpPr>
            <a:spLocks noGrp="1" noRot="1" noChangeAspect="1"/>
          </p:cNvSpPr>
          <p:nvPr>
            <p:ph type="sldImg" idx="2"/>
          </p:nvPr>
        </p:nvSpPr>
        <p:spPr>
          <a:xfrm>
            <a:off x="1414463" y="1162050"/>
            <a:ext cx="4181400" cy="31368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33" name="Google Shape;333;g107a3637e0a_1_82:notes"/>
          <p:cNvSpPr txBox="1">
            <a:spLocks noGrp="1"/>
          </p:cNvSpPr>
          <p:nvPr>
            <p:ph type="body" idx="1"/>
          </p:nvPr>
        </p:nvSpPr>
        <p:spPr>
          <a:xfrm>
            <a:off x="701040" y="4473892"/>
            <a:ext cx="5608200" cy="3660600"/>
          </a:xfrm>
          <a:prstGeom prst="rect">
            <a:avLst/>
          </a:prstGeom>
        </p:spPr>
        <p:txBody>
          <a:bodyPr spcFirstLastPara="1" wrap="square" lIns="93175" tIns="46575" rIns="93175" bIns="46575" anchor="t" anchorCtr="0">
            <a:noAutofit/>
          </a:bodyPr>
          <a:lstStyle/>
          <a:p>
            <a:pPr marL="0" lvl="0" indent="0" algn="l" rtl="0">
              <a:spcBef>
                <a:spcPts val="0"/>
              </a:spcBef>
              <a:spcAft>
                <a:spcPts val="0"/>
              </a:spcAft>
              <a:buNone/>
            </a:pPr>
            <a:endParaRPr/>
          </a:p>
        </p:txBody>
      </p:sp>
      <p:sp>
        <p:nvSpPr>
          <p:cNvPr id="334" name="Google Shape;334;g107a3637e0a_1_82:notes"/>
          <p:cNvSpPr txBox="1">
            <a:spLocks noGrp="1"/>
          </p:cNvSpPr>
          <p:nvPr>
            <p:ph type="sldNum" idx="12"/>
          </p:nvPr>
        </p:nvSpPr>
        <p:spPr>
          <a:xfrm>
            <a:off x="3970938" y="8829967"/>
            <a:ext cx="3037800" cy="466500"/>
          </a:xfrm>
          <a:prstGeom prst="rect">
            <a:avLst/>
          </a:prstGeom>
        </p:spPr>
        <p:txBody>
          <a:bodyPr spcFirstLastPara="1" wrap="square" lIns="93175" tIns="46575" rIns="93175" bIns="46575"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42</a:t>
            </a:fld>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0"/>
        <p:cNvGrpSpPr/>
        <p:nvPr/>
      </p:nvGrpSpPr>
      <p:grpSpPr>
        <a:xfrm>
          <a:off x="0" y="0"/>
          <a:ext cx="0" cy="0"/>
          <a:chOff x="0" y="0"/>
          <a:chExt cx="0" cy="0"/>
        </a:xfrm>
      </p:grpSpPr>
      <p:sp>
        <p:nvSpPr>
          <p:cNvPr id="341" name="Google Shape;341;g107a3637e0a_1_120:notes"/>
          <p:cNvSpPr>
            <a:spLocks noGrp="1" noRot="1" noChangeAspect="1"/>
          </p:cNvSpPr>
          <p:nvPr>
            <p:ph type="sldImg" idx="2"/>
          </p:nvPr>
        </p:nvSpPr>
        <p:spPr>
          <a:xfrm>
            <a:off x="1414463" y="1162050"/>
            <a:ext cx="4181400" cy="31368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42" name="Google Shape;342;g107a3637e0a_1_120:notes"/>
          <p:cNvSpPr txBox="1">
            <a:spLocks noGrp="1"/>
          </p:cNvSpPr>
          <p:nvPr>
            <p:ph type="body" idx="1"/>
          </p:nvPr>
        </p:nvSpPr>
        <p:spPr>
          <a:xfrm>
            <a:off x="701040" y="4473892"/>
            <a:ext cx="5608200" cy="3660600"/>
          </a:xfrm>
          <a:prstGeom prst="rect">
            <a:avLst/>
          </a:prstGeom>
        </p:spPr>
        <p:txBody>
          <a:bodyPr spcFirstLastPara="1" wrap="square" lIns="93175" tIns="46575" rIns="93175" bIns="46575" anchor="t" anchorCtr="0">
            <a:noAutofit/>
          </a:bodyPr>
          <a:lstStyle/>
          <a:p>
            <a:pPr marL="0" lvl="0" indent="0" algn="l" rtl="0">
              <a:spcBef>
                <a:spcPts val="0"/>
              </a:spcBef>
              <a:spcAft>
                <a:spcPts val="0"/>
              </a:spcAft>
              <a:buNone/>
            </a:pPr>
            <a:endParaRPr/>
          </a:p>
        </p:txBody>
      </p:sp>
      <p:sp>
        <p:nvSpPr>
          <p:cNvPr id="343" name="Google Shape;343;g107a3637e0a_1_120:notes"/>
          <p:cNvSpPr txBox="1">
            <a:spLocks noGrp="1"/>
          </p:cNvSpPr>
          <p:nvPr>
            <p:ph type="sldNum" idx="12"/>
          </p:nvPr>
        </p:nvSpPr>
        <p:spPr>
          <a:xfrm>
            <a:off x="3970938" y="8829967"/>
            <a:ext cx="3037800" cy="466500"/>
          </a:xfrm>
          <a:prstGeom prst="rect">
            <a:avLst/>
          </a:prstGeom>
        </p:spPr>
        <p:txBody>
          <a:bodyPr spcFirstLastPara="1" wrap="square" lIns="93175" tIns="46575" rIns="93175" bIns="46575"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43</a:t>
            </a:fld>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1"/>
        <p:cNvGrpSpPr/>
        <p:nvPr/>
      </p:nvGrpSpPr>
      <p:grpSpPr>
        <a:xfrm>
          <a:off x="0" y="0"/>
          <a:ext cx="0" cy="0"/>
          <a:chOff x="0" y="0"/>
          <a:chExt cx="0" cy="0"/>
        </a:xfrm>
      </p:grpSpPr>
      <p:sp>
        <p:nvSpPr>
          <p:cNvPr id="352" name="Google Shape;352;g107a3637e0a_1_89:notes"/>
          <p:cNvSpPr>
            <a:spLocks noGrp="1" noRot="1" noChangeAspect="1"/>
          </p:cNvSpPr>
          <p:nvPr>
            <p:ph type="sldImg" idx="2"/>
          </p:nvPr>
        </p:nvSpPr>
        <p:spPr>
          <a:xfrm>
            <a:off x="1414463" y="1162050"/>
            <a:ext cx="4181400" cy="31368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53" name="Google Shape;353;g107a3637e0a_1_89:notes"/>
          <p:cNvSpPr txBox="1">
            <a:spLocks noGrp="1"/>
          </p:cNvSpPr>
          <p:nvPr>
            <p:ph type="body" idx="1"/>
          </p:nvPr>
        </p:nvSpPr>
        <p:spPr>
          <a:xfrm>
            <a:off x="701040" y="4473892"/>
            <a:ext cx="5608200" cy="3660600"/>
          </a:xfrm>
          <a:prstGeom prst="rect">
            <a:avLst/>
          </a:prstGeom>
        </p:spPr>
        <p:txBody>
          <a:bodyPr spcFirstLastPara="1" wrap="square" lIns="93175" tIns="46575" rIns="93175" bIns="46575" anchor="t" anchorCtr="0">
            <a:noAutofit/>
          </a:bodyPr>
          <a:lstStyle/>
          <a:p>
            <a:pPr marL="0" lvl="0" indent="0" algn="l" rtl="0">
              <a:spcBef>
                <a:spcPts val="0"/>
              </a:spcBef>
              <a:spcAft>
                <a:spcPts val="0"/>
              </a:spcAft>
              <a:buNone/>
            </a:pPr>
            <a:endParaRPr/>
          </a:p>
        </p:txBody>
      </p:sp>
      <p:sp>
        <p:nvSpPr>
          <p:cNvPr id="354" name="Google Shape;354;g107a3637e0a_1_89:notes"/>
          <p:cNvSpPr txBox="1">
            <a:spLocks noGrp="1"/>
          </p:cNvSpPr>
          <p:nvPr>
            <p:ph type="sldNum" idx="12"/>
          </p:nvPr>
        </p:nvSpPr>
        <p:spPr>
          <a:xfrm>
            <a:off x="3970938" y="8829967"/>
            <a:ext cx="3037800" cy="466500"/>
          </a:xfrm>
          <a:prstGeom prst="rect">
            <a:avLst/>
          </a:prstGeom>
        </p:spPr>
        <p:txBody>
          <a:bodyPr spcFirstLastPara="1" wrap="square" lIns="93175" tIns="46575" rIns="93175" bIns="46575" anchor="b" anchorCtr="0">
            <a:noAutofit/>
          </a:bodyPr>
          <a:lstStyle/>
          <a:p>
            <a:pPr marL="0" lvl="0" indent="0" algn="r" rtl="0">
              <a:spcBef>
                <a:spcPts val="0"/>
              </a:spcBef>
              <a:spcAft>
                <a:spcPts val="0"/>
              </a:spcAft>
              <a:buNone/>
            </a:pPr>
            <a:fld id="{00000000-1234-1234-1234-123412341234}" type="slidenum">
              <a:rPr lang="en-US"/>
              <a:t>44</a:t>
            </a:fld>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8"/>
        <p:cNvGrpSpPr/>
        <p:nvPr/>
      </p:nvGrpSpPr>
      <p:grpSpPr>
        <a:xfrm>
          <a:off x="0" y="0"/>
          <a:ext cx="0" cy="0"/>
          <a:chOff x="0" y="0"/>
          <a:chExt cx="0" cy="0"/>
        </a:xfrm>
      </p:grpSpPr>
      <p:sp>
        <p:nvSpPr>
          <p:cNvPr id="359" name="Google Shape;359;g107a3637e0a_1_95:notes"/>
          <p:cNvSpPr>
            <a:spLocks noGrp="1" noRot="1" noChangeAspect="1"/>
          </p:cNvSpPr>
          <p:nvPr>
            <p:ph type="sldImg" idx="2"/>
          </p:nvPr>
        </p:nvSpPr>
        <p:spPr>
          <a:xfrm>
            <a:off x="1414463" y="1162050"/>
            <a:ext cx="4181400" cy="31368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60" name="Google Shape;360;g107a3637e0a_1_95:notes"/>
          <p:cNvSpPr txBox="1">
            <a:spLocks noGrp="1"/>
          </p:cNvSpPr>
          <p:nvPr>
            <p:ph type="body" idx="1"/>
          </p:nvPr>
        </p:nvSpPr>
        <p:spPr>
          <a:xfrm>
            <a:off x="701040" y="4473892"/>
            <a:ext cx="5608200" cy="3660600"/>
          </a:xfrm>
          <a:prstGeom prst="rect">
            <a:avLst/>
          </a:prstGeom>
        </p:spPr>
        <p:txBody>
          <a:bodyPr spcFirstLastPara="1" wrap="square" lIns="93175" tIns="46575" rIns="93175" bIns="46575" anchor="t" anchorCtr="0">
            <a:noAutofit/>
          </a:bodyPr>
          <a:lstStyle/>
          <a:p>
            <a:pPr marL="0" lvl="0" indent="0" algn="l" rtl="0">
              <a:spcBef>
                <a:spcPts val="0"/>
              </a:spcBef>
              <a:spcAft>
                <a:spcPts val="0"/>
              </a:spcAft>
              <a:buNone/>
            </a:pPr>
            <a:endParaRPr/>
          </a:p>
        </p:txBody>
      </p:sp>
      <p:sp>
        <p:nvSpPr>
          <p:cNvPr id="361" name="Google Shape;361;g107a3637e0a_1_95:notes"/>
          <p:cNvSpPr txBox="1">
            <a:spLocks noGrp="1"/>
          </p:cNvSpPr>
          <p:nvPr>
            <p:ph type="sldNum" idx="12"/>
          </p:nvPr>
        </p:nvSpPr>
        <p:spPr>
          <a:xfrm>
            <a:off x="3970938" y="8829967"/>
            <a:ext cx="3037800" cy="466500"/>
          </a:xfrm>
          <a:prstGeom prst="rect">
            <a:avLst/>
          </a:prstGeom>
        </p:spPr>
        <p:txBody>
          <a:bodyPr spcFirstLastPara="1" wrap="square" lIns="93175" tIns="46575" rIns="93175" bIns="46575" anchor="b" anchorCtr="0">
            <a:noAutofit/>
          </a:bodyPr>
          <a:lstStyle/>
          <a:p>
            <a:pPr marL="0" lvl="0" indent="0" algn="r" rtl="0">
              <a:spcBef>
                <a:spcPts val="0"/>
              </a:spcBef>
              <a:spcAft>
                <a:spcPts val="0"/>
              </a:spcAft>
              <a:buNone/>
            </a:pPr>
            <a:fld id="{00000000-1234-1234-1234-123412341234}" type="slidenum">
              <a:rPr lang="en-US"/>
              <a:t>45</a:t>
            </a:fld>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5"/>
        <p:cNvGrpSpPr/>
        <p:nvPr/>
      </p:nvGrpSpPr>
      <p:grpSpPr>
        <a:xfrm>
          <a:off x="0" y="0"/>
          <a:ext cx="0" cy="0"/>
          <a:chOff x="0" y="0"/>
          <a:chExt cx="0" cy="0"/>
        </a:xfrm>
      </p:grpSpPr>
      <p:sp>
        <p:nvSpPr>
          <p:cNvPr id="366" name="Google Shape;366;g107a3637e0a_1_108:notes"/>
          <p:cNvSpPr>
            <a:spLocks noGrp="1" noRot="1" noChangeAspect="1"/>
          </p:cNvSpPr>
          <p:nvPr>
            <p:ph type="sldImg" idx="2"/>
          </p:nvPr>
        </p:nvSpPr>
        <p:spPr>
          <a:xfrm>
            <a:off x="1414463" y="1162050"/>
            <a:ext cx="4181400" cy="31368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67" name="Google Shape;367;g107a3637e0a_1_108:notes"/>
          <p:cNvSpPr txBox="1">
            <a:spLocks noGrp="1"/>
          </p:cNvSpPr>
          <p:nvPr>
            <p:ph type="body" idx="1"/>
          </p:nvPr>
        </p:nvSpPr>
        <p:spPr>
          <a:xfrm>
            <a:off x="701040" y="4473892"/>
            <a:ext cx="5608200" cy="3660600"/>
          </a:xfrm>
          <a:prstGeom prst="rect">
            <a:avLst/>
          </a:prstGeom>
        </p:spPr>
        <p:txBody>
          <a:bodyPr spcFirstLastPara="1" wrap="square" lIns="93175" tIns="46575" rIns="93175" bIns="46575" anchor="t" anchorCtr="0">
            <a:noAutofit/>
          </a:bodyPr>
          <a:lstStyle/>
          <a:p>
            <a:pPr marL="0" lvl="0" indent="0" algn="l" rtl="0">
              <a:spcBef>
                <a:spcPts val="0"/>
              </a:spcBef>
              <a:spcAft>
                <a:spcPts val="0"/>
              </a:spcAft>
              <a:buClr>
                <a:schemeClr val="dk1"/>
              </a:buClr>
              <a:buSzPts val="1100"/>
              <a:buFont typeface="Arial"/>
              <a:buNone/>
            </a:pPr>
            <a:endParaRPr/>
          </a:p>
        </p:txBody>
      </p:sp>
      <p:sp>
        <p:nvSpPr>
          <p:cNvPr id="368" name="Google Shape;368;g107a3637e0a_1_108:notes"/>
          <p:cNvSpPr txBox="1">
            <a:spLocks noGrp="1"/>
          </p:cNvSpPr>
          <p:nvPr>
            <p:ph type="sldNum" idx="12"/>
          </p:nvPr>
        </p:nvSpPr>
        <p:spPr>
          <a:xfrm>
            <a:off x="3970938" y="8829967"/>
            <a:ext cx="3037800" cy="466500"/>
          </a:xfrm>
          <a:prstGeom prst="rect">
            <a:avLst/>
          </a:prstGeom>
        </p:spPr>
        <p:txBody>
          <a:bodyPr spcFirstLastPara="1" wrap="square" lIns="93175" tIns="46575" rIns="93175" bIns="46575" anchor="b" anchorCtr="0">
            <a:noAutofit/>
          </a:bodyPr>
          <a:lstStyle/>
          <a:p>
            <a:pPr marL="0" lvl="0" indent="0" algn="r" rtl="0">
              <a:spcBef>
                <a:spcPts val="0"/>
              </a:spcBef>
              <a:spcAft>
                <a:spcPts val="0"/>
              </a:spcAft>
              <a:buNone/>
            </a:pPr>
            <a:fld id="{00000000-1234-1234-1234-123412341234}" type="slidenum">
              <a:rPr lang="en-US"/>
              <a:t>46</a:t>
            </a:fld>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3"/>
        <p:cNvGrpSpPr/>
        <p:nvPr/>
      </p:nvGrpSpPr>
      <p:grpSpPr>
        <a:xfrm>
          <a:off x="0" y="0"/>
          <a:ext cx="0" cy="0"/>
          <a:chOff x="0" y="0"/>
          <a:chExt cx="0" cy="0"/>
        </a:xfrm>
      </p:grpSpPr>
      <p:sp>
        <p:nvSpPr>
          <p:cNvPr id="374" name="Google Shape;374;g107d85dcbfc_2_1:notes"/>
          <p:cNvSpPr>
            <a:spLocks noGrp="1" noRot="1" noChangeAspect="1"/>
          </p:cNvSpPr>
          <p:nvPr>
            <p:ph type="sldImg" idx="2"/>
          </p:nvPr>
        </p:nvSpPr>
        <p:spPr>
          <a:xfrm>
            <a:off x="1414463" y="1162050"/>
            <a:ext cx="4181400" cy="31368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75" name="Google Shape;375;g107d85dcbfc_2_1:notes"/>
          <p:cNvSpPr txBox="1">
            <a:spLocks noGrp="1"/>
          </p:cNvSpPr>
          <p:nvPr>
            <p:ph type="body" idx="1"/>
          </p:nvPr>
        </p:nvSpPr>
        <p:spPr>
          <a:xfrm>
            <a:off x="701040" y="4473892"/>
            <a:ext cx="5608200" cy="3660600"/>
          </a:xfrm>
          <a:prstGeom prst="rect">
            <a:avLst/>
          </a:prstGeom>
        </p:spPr>
        <p:txBody>
          <a:bodyPr spcFirstLastPara="1" wrap="square" lIns="93175" tIns="46575" rIns="93175" bIns="46575" anchor="t" anchorCtr="0">
            <a:noAutofit/>
          </a:bodyPr>
          <a:lstStyle/>
          <a:p>
            <a:pPr marL="0" lvl="0" indent="0" algn="l" rtl="0">
              <a:spcBef>
                <a:spcPts val="0"/>
              </a:spcBef>
              <a:spcAft>
                <a:spcPts val="0"/>
              </a:spcAft>
              <a:buNone/>
            </a:pPr>
            <a:r>
              <a:rPr lang="en-US">
                <a:latin typeface="Times New Roman"/>
                <a:ea typeface="Times New Roman"/>
                <a:cs typeface="Times New Roman"/>
                <a:sym typeface="Times New Roman"/>
              </a:rPr>
              <a:t>9% of all respondents reported a health worker or provider visiting their household/community for RCD.</a:t>
            </a:r>
            <a:endParaRPr>
              <a:latin typeface="Times New Roman"/>
              <a:ea typeface="Times New Roman"/>
              <a:cs typeface="Times New Roman"/>
              <a:sym typeface="Times New Roman"/>
            </a:endParaRPr>
          </a:p>
          <a:p>
            <a:pPr marL="0" lvl="0" indent="0" algn="l" rtl="0">
              <a:spcBef>
                <a:spcPts val="0"/>
              </a:spcBef>
              <a:spcAft>
                <a:spcPts val="0"/>
              </a:spcAft>
              <a:buNone/>
            </a:pPr>
            <a:r>
              <a:rPr lang="en-US">
                <a:latin typeface="Times New Roman"/>
                <a:ea typeface="Times New Roman"/>
                <a:cs typeface="Times New Roman"/>
                <a:sym typeface="Times New Roman"/>
              </a:rPr>
              <a:t>Respondents who were aware of RCD were asked if a health worker or health provider visited their house for RCD within the past 12 months. Of those respondents, 37% answered in the affirmative. Home visits for RCD were significantly more likely to be reported by respondents in Pemba (46%) compared with Unguja (31%).  Home visits for RCD were also significantly more likely to be reported by respondents in higher transmission risk areas (48%) compared to lower transmission risk areas (24%).</a:t>
            </a:r>
            <a:endParaRPr>
              <a:latin typeface="Times New Roman"/>
              <a:ea typeface="Times New Roman"/>
              <a:cs typeface="Times New Roman"/>
              <a:sym typeface="Times New Roman"/>
            </a:endParaRPr>
          </a:p>
          <a:p>
            <a:pPr marL="0" lvl="0" indent="0" algn="l" rtl="0">
              <a:spcBef>
                <a:spcPts val="0"/>
              </a:spcBef>
              <a:spcAft>
                <a:spcPts val="0"/>
              </a:spcAft>
              <a:buNone/>
            </a:pPr>
            <a:endParaRPr>
              <a:latin typeface="Times New Roman"/>
              <a:ea typeface="Times New Roman"/>
              <a:cs typeface="Times New Roman"/>
              <a:sym typeface="Times New Roman"/>
            </a:endParaRPr>
          </a:p>
          <a:p>
            <a:pPr marL="0" lvl="0" indent="0" algn="l" rtl="0">
              <a:spcBef>
                <a:spcPts val="0"/>
              </a:spcBef>
              <a:spcAft>
                <a:spcPts val="0"/>
              </a:spcAft>
              <a:buClr>
                <a:schemeClr val="dk1"/>
              </a:buClr>
              <a:buSzPts val="1100"/>
              <a:buFont typeface="Arial"/>
              <a:buNone/>
            </a:pPr>
            <a:r>
              <a:rPr lang="en-US">
                <a:latin typeface="Times New Roman"/>
                <a:ea typeface="Times New Roman"/>
                <a:cs typeface="Times New Roman"/>
                <a:sym typeface="Times New Roman"/>
              </a:rPr>
              <a:t>Of those who were visited for RCD, 44% were tested for malaria; only seven people reported testing positive.</a:t>
            </a:r>
            <a:endParaRPr>
              <a:latin typeface="Times New Roman"/>
              <a:ea typeface="Times New Roman"/>
              <a:cs typeface="Times New Roman"/>
              <a:sym typeface="Times New Roman"/>
            </a:endParaRPr>
          </a:p>
        </p:txBody>
      </p:sp>
      <p:sp>
        <p:nvSpPr>
          <p:cNvPr id="376" name="Google Shape;376;g107d85dcbfc_2_1:notes"/>
          <p:cNvSpPr txBox="1">
            <a:spLocks noGrp="1"/>
          </p:cNvSpPr>
          <p:nvPr>
            <p:ph type="sldNum" idx="12"/>
          </p:nvPr>
        </p:nvSpPr>
        <p:spPr>
          <a:xfrm>
            <a:off x="3970938" y="8829967"/>
            <a:ext cx="3037800" cy="466500"/>
          </a:xfrm>
          <a:prstGeom prst="rect">
            <a:avLst/>
          </a:prstGeom>
        </p:spPr>
        <p:txBody>
          <a:bodyPr spcFirstLastPara="1" wrap="square" lIns="93175" tIns="46575" rIns="93175" bIns="46575"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47</a:t>
            </a:fld>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2"/>
        <p:cNvGrpSpPr/>
        <p:nvPr/>
      </p:nvGrpSpPr>
      <p:grpSpPr>
        <a:xfrm>
          <a:off x="0" y="0"/>
          <a:ext cx="0" cy="0"/>
          <a:chOff x="0" y="0"/>
          <a:chExt cx="0" cy="0"/>
        </a:xfrm>
      </p:grpSpPr>
      <p:sp>
        <p:nvSpPr>
          <p:cNvPr id="383" name="Google Shape;383;g107a3637e0a_1_102:notes"/>
          <p:cNvSpPr>
            <a:spLocks noGrp="1" noRot="1" noChangeAspect="1"/>
          </p:cNvSpPr>
          <p:nvPr>
            <p:ph type="sldImg" idx="2"/>
          </p:nvPr>
        </p:nvSpPr>
        <p:spPr>
          <a:xfrm>
            <a:off x="1414463" y="1162050"/>
            <a:ext cx="4181400" cy="31368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84" name="Google Shape;384;g107a3637e0a_1_102:notes"/>
          <p:cNvSpPr txBox="1">
            <a:spLocks noGrp="1"/>
          </p:cNvSpPr>
          <p:nvPr>
            <p:ph type="body" idx="1"/>
          </p:nvPr>
        </p:nvSpPr>
        <p:spPr>
          <a:xfrm>
            <a:off x="701040" y="4473892"/>
            <a:ext cx="5608200" cy="3660600"/>
          </a:xfrm>
          <a:prstGeom prst="rect">
            <a:avLst/>
          </a:prstGeom>
        </p:spPr>
        <p:txBody>
          <a:bodyPr spcFirstLastPara="1" wrap="square" lIns="93175" tIns="46575" rIns="93175" bIns="46575" anchor="t" anchorCtr="0">
            <a:noAutofit/>
          </a:bodyPr>
          <a:lstStyle/>
          <a:p>
            <a:pPr marL="0" lvl="0" indent="0" algn="l" rtl="0">
              <a:spcBef>
                <a:spcPts val="0"/>
              </a:spcBef>
              <a:spcAft>
                <a:spcPts val="0"/>
              </a:spcAft>
              <a:buNone/>
            </a:pPr>
            <a:endParaRPr/>
          </a:p>
        </p:txBody>
      </p:sp>
      <p:sp>
        <p:nvSpPr>
          <p:cNvPr id="385" name="Google Shape;385;g107a3637e0a_1_102:notes"/>
          <p:cNvSpPr txBox="1">
            <a:spLocks noGrp="1"/>
          </p:cNvSpPr>
          <p:nvPr>
            <p:ph type="sldNum" idx="12"/>
          </p:nvPr>
        </p:nvSpPr>
        <p:spPr>
          <a:xfrm>
            <a:off x="3970938" y="8829967"/>
            <a:ext cx="3037800" cy="466500"/>
          </a:xfrm>
          <a:prstGeom prst="rect">
            <a:avLst/>
          </a:prstGeom>
        </p:spPr>
        <p:txBody>
          <a:bodyPr spcFirstLastPara="1" wrap="square" lIns="93175" tIns="46575" rIns="93175" bIns="46575" anchor="b" anchorCtr="0">
            <a:noAutofit/>
          </a:bodyPr>
          <a:lstStyle/>
          <a:p>
            <a:pPr marL="0" lvl="0" indent="0" algn="r" rtl="0">
              <a:spcBef>
                <a:spcPts val="0"/>
              </a:spcBef>
              <a:spcAft>
                <a:spcPts val="0"/>
              </a:spcAft>
              <a:buNone/>
            </a:pPr>
            <a:fld id="{00000000-1234-1234-1234-123412341234}" type="slidenum">
              <a:rPr lang="en-US"/>
              <a:t>48</a:t>
            </a:fld>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9"/>
        <p:cNvGrpSpPr/>
        <p:nvPr/>
      </p:nvGrpSpPr>
      <p:grpSpPr>
        <a:xfrm>
          <a:off x="0" y="0"/>
          <a:ext cx="0" cy="0"/>
          <a:chOff x="0" y="0"/>
          <a:chExt cx="0" cy="0"/>
        </a:xfrm>
      </p:grpSpPr>
      <p:sp>
        <p:nvSpPr>
          <p:cNvPr id="390" name="Google Shape;390;g107a3637e0a_1_132:notes"/>
          <p:cNvSpPr>
            <a:spLocks noGrp="1" noRot="1" noChangeAspect="1"/>
          </p:cNvSpPr>
          <p:nvPr>
            <p:ph type="sldImg" idx="2"/>
          </p:nvPr>
        </p:nvSpPr>
        <p:spPr>
          <a:xfrm>
            <a:off x="1414463" y="1162050"/>
            <a:ext cx="4181400" cy="31368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91" name="Google Shape;391;g107a3637e0a_1_132:notes"/>
          <p:cNvSpPr txBox="1">
            <a:spLocks noGrp="1"/>
          </p:cNvSpPr>
          <p:nvPr>
            <p:ph type="body" idx="1"/>
          </p:nvPr>
        </p:nvSpPr>
        <p:spPr>
          <a:xfrm>
            <a:off x="701040" y="4473892"/>
            <a:ext cx="5608200" cy="3660600"/>
          </a:xfrm>
          <a:prstGeom prst="rect">
            <a:avLst/>
          </a:prstGeom>
        </p:spPr>
        <p:txBody>
          <a:bodyPr spcFirstLastPara="1" wrap="square" lIns="93175" tIns="46575" rIns="93175" bIns="46575" anchor="t" anchorCtr="0">
            <a:noAutofit/>
          </a:bodyPr>
          <a:lstStyle/>
          <a:p>
            <a:pPr marL="0" lvl="0" indent="0" algn="l" rtl="0">
              <a:spcBef>
                <a:spcPts val="0"/>
              </a:spcBef>
              <a:spcAft>
                <a:spcPts val="0"/>
              </a:spcAft>
              <a:buNone/>
            </a:pPr>
            <a:endParaRPr/>
          </a:p>
        </p:txBody>
      </p:sp>
      <p:sp>
        <p:nvSpPr>
          <p:cNvPr id="392" name="Google Shape;392;g107a3637e0a_1_132:notes"/>
          <p:cNvSpPr txBox="1">
            <a:spLocks noGrp="1"/>
          </p:cNvSpPr>
          <p:nvPr>
            <p:ph type="sldNum" idx="12"/>
          </p:nvPr>
        </p:nvSpPr>
        <p:spPr>
          <a:xfrm>
            <a:off x="3970938" y="8829967"/>
            <a:ext cx="3037800" cy="466500"/>
          </a:xfrm>
          <a:prstGeom prst="rect">
            <a:avLst/>
          </a:prstGeom>
        </p:spPr>
        <p:txBody>
          <a:bodyPr spcFirstLastPara="1" wrap="square" lIns="93175" tIns="46575" rIns="93175" bIns="46575"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49</a:t>
            </a:fld>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7"/>
        <p:cNvGrpSpPr/>
        <p:nvPr/>
      </p:nvGrpSpPr>
      <p:grpSpPr>
        <a:xfrm>
          <a:off x="0" y="0"/>
          <a:ext cx="0" cy="0"/>
          <a:chOff x="0" y="0"/>
          <a:chExt cx="0" cy="0"/>
        </a:xfrm>
      </p:grpSpPr>
      <p:sp>
        <p:nvSpPr>
          <p:cNvPr id="398" name="Google Shape;398;g107a3637e0a_1_141:notes"/>
          <p:cNvSpPr>
            <a:spLocks noGrp="1" noRot="1" noChangeAspect="1"/>
          </p:cNvSpPr>
          <p:nvPr>
            <p:ph type="sldImg" idx="2"/>
          </p:nvPr>
        </p:nvSpPr>
        <p:spPr>
          <a:xfrm>
            <a:off x="1414463" y="1162050"/>
            <a:ext cx="4181400" cy="31368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99" name="Google Shape;399;g107a3637e0a_1_141:notes"/>
          <p:cNvSpPr txBox="1">
            <a:spLocks noGrp="1"/>
          </p:cNvSpPr>
          <p:nvPr>
            <p:ph type="body" idx="1"/>
          </p:nvPr>
        </p:nvSpPr>
        <p:spPr>
          <a:xfrm>
            <a:off x="701040" y="4473892"/>
            <a:ext cx="5608200" cy="3660600"/>
          </a:xfrm>
          <a:prstGeom prst="rect">
            <a:avLst/>
          </a:prstGeom>
        </p:spPr>
        <p:txBody>
          <a:bodyPr spcFirstLastPara="1" wrap="square" lIns="93175" tIns="46575" rIns="93175" bIns="46575" anchor="t" anchorCtr="0">
            <a:noAutofit/>
          </a:bodyPr>
          <a:lstStyle/>
          <a:p>
            <a:pPr marL="0" lvl="0" indent="0" algn="l" rtl="0">
              <a:spcBef>
                <a:spcPts val="0"/>
              </a:spcBef>
              <a:spcAft>
                <a:spcPts val="0"/>
              </a:spcAft>
              <a:buClr>
                <a:schemeClr val="dk1"/>
              </a:buClr>
              <a:buSzPts val="1100"/>
              <a:buFont typeface="Arial"/>
              <a:buNone/>
            </a:pPr>
            <a:r>
              <a:rPr lang="en-US"/>
              <a:t>Among those who were aware of MDA, 34% (or 5.6% of all respondents) reported that a health worker or provider had visited their workplace to distribute antimalarials to them or their coworkers in the past year. The only statistically significant difference by background characteristics was found by zone (Unguja: 42%; Pemba: 21%).</a:t>
            </a:r>
            <a:endParaRPr/>
          </a:p>
        </p:txBody>
      </p:sp>
      <p:sp>
        <p:nvSpPr>
          <p:cNvPr id="400" name="Google Shape;400;g107a3637e0a_1_141:notes"/>
          <p:cNvSpPr txBox="1">
            <a:spLocks noGrp="1"/>
          </p:cNvSpPr>
          <p:nvPr>
            <p:ph type="sldNum" idx="12"/>
          </p:nvPr>
        </p:nvSpPr>
        <p:spPr>
          <a:xfrm>
            <a:off x="3970938" y="8829967"/>
            <a:ext cx="3037800" cy="466500"/>
          </a:xfrm>
          <a:prstGeom prst="rect">
            <a:avLst/>
          </a:prstGeom>
        </p:spPr>
        <p:txBody>
          <a:bodyPr spcFirstLastPara="1" wrap="square" lIns="93175" tIns="46575" rIns="93175" bIns="46575"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50</a:t>
            </a:fld>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6"/>
        <p:cNvGrpSpPr/>
        <p:nvPr/>
      </p:nvGrpSpPr>
      <p:grpSpPr>
        <a:xfrm>
          <a:off x="0" y="0"/>
          <a:ext cx="0" cy="0"/>
          <a:chOff x="0" y="0"/>
          <a:chExt cx="0" cy="0"/>
        </a:xfrm>
      </p:grpSpPr>
      <p:sp>
        <p:nvSpPr>
          <p:cNvPr id="407" name="Google Shape;407;p23:notes"/>
          <p:cNvSpPr>
            <a:spLocks noGrp="1" noRot="1" noChangeAspect="1"/>
          </p:cNvSpPr>
          <p:nvPr>
            <p:ph type="sldImg" idx="2"/>
          </p:nvPr>
        </p:nvSpPr>
        <p:spPr>
          <a:xfrm>
            <a:off x="1414463" y="1162050"/>
            <a:ext cx="4181475" cy="3136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08" name="Google Shape;408;p23:notes"/>
          <p:cNvSpPr txBox="1">
            <a:spLocks noGrp="1"/>
          </p:cNvSpPr>
          <p:nvPr>
            <p:ph type="body" idx="1"/>
          </p:nvPr>
        </p:nvSpPr>
        <p:spPr>
          <a:xfrm>
            <a:off x="701040" y="4473892"/>
            <a:ext cx="5608320" cy="3660458"/>
          </a:xfrm>
          <a:prstGeom prst="rect">
            <a:avLst/>
          </a:prstGeom>
          <a:noFill/>
          <a:ln>
            <a:noFill/>
          </a:ln>
        </p:spPr>
        <p:txBody>
          <a:bodyPr spcFirstLastPara="1" wrap="square" lIns="93175" tIns="46575" rIns="93175" bIns="46575" anchor="t" anchorCtr="0">
            <a:noAutofit/>
          </a:bodyPr>
          <a:lstStyle/>
          <a:p>
            <a:pPr marL="0" lvl="0" indent="0" algn="l" rtl="0">
              <a:spcBef>
                <a:spcPts val="0"/>
              </a:spcBef>
              <a:spcAft>
                <a:spcPts val="0"/>
              </a:spcAft>
              <a:buNone/>
            </a:pPr>
            <a:endParaRPr/>
          </a:p>
        </p:txBody>
      </p:sp>
      <p:sp>
        <p:nvSpPr>
          <p:cNvPr id="409" name="Google Shape;409;p23:notes"/>
          <p:cNvSpPr txBox="1">
            <a:spLocks noGrp="1"/>
          </p:cNvSpPr>
          <p:nvPr>
            <p:ph type="sldNum" idx="12"/>
          </p:nvPr>
        </p:nvSpPr>
        <p:spPr>
          <a:xfrm>
            <a:off x="3970938" y="8829967"/>
            <a:ext cx="3037840" cy="466433"/>
          </a:xfrm>
          <a:prstGeom prst="rect">
            <a:avLst/>
          </a:prstGeom>
          <a:noFill/>
          <a:ln>
            <a:noFill/>
          </a:ln>
        </p:spPr>
        <p:txBody>
          <a:bodyPr spcFirstLastPara="1" wrap="square" lIns="93175" tIns="46575" rIns="93175" bIns="46575" anchor="b" anchorCtr="0">
            <a:noAutofit/>
          </a:bodyPr>
          <a:lstStyle/>
          <a:p>
            <a:pPr marL="0" lvl="0" indent="0" algn="r" rtl="0">
              <a:spcBef>
                <a:spcPts val="0"/>
              </a:spcBef>
              <a:spcAft>
                <a:spcPts val="0"/>
              </a:spcAft>
              <a:buNone/>
            </a:pPr>
            <a:fld id="{00000000-1234-1234-1234-123412341234}" type="slidenum">
              <a:rPr lang="en-US"/>
              <a:t>51</a:t>
            </a:fld>
            <a:endParaRPr/>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g"/><Relationship Id="rId1" Type="http://schemas.openxmlformats.org/officeDocument/2006/relationships/slideMaster" Target="../slideMasters/slideMaster1.xml"/><Relationship Id="rId4" Type="http://schemas.openxmlformats.org/officeDocument/2006/relationships/image" Target="../media/image6.jp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matchingName="Title Slide">
  <p:cSld name="Title Slide">
    <p:spTree>
      <p:nvGrpSpPr>
        <p:cNvPr id="1" name="Shape 16"/>
        <p:cNvGrpSpPr/>
        <p:nvPr/>
      </p:nvGrpSpPr>
      <p:grpSpPr>
        <a:xfrm>
          <a:off x="0" y="0"/>
          <a:ext cx="0" cy="0"/>
          <a:chOff x="0" y="0"/>
          <a:chExt cx="0" cy="0"/>
        </a:xfrm>
      </p:grpSpPr>
      <p:pic>
        <p:nvPicPr>
          <p:cNvPr id="17" name="Google Shape;17;p25"/>
          <p:cNvPicPr preferRelativeResize="0"/>
          <p:nvPr/>
        </p:nvPicPr>
        <p:blipFill rotWithShape="1">
          <a:blip r:embed="rId2">
            <a:alphaModFix/>
          </a:blip>
          <a:srcRect/>
          <a:stretch/>
        </p:blipFill>
        <p:spPr>
          <a:xfrm>
            <a:off x="0" y="-44"/>
            <a:ext cx="9144000" cy="6858000"/>
          </a:xfrm>
          <a:prstGeom prst="rect">
            <a:avLst/>
          </a:prstGeom>
          <a:noFill/>
          <a:ln>
            <a:noFill/>
          </a:ln>
        </p:spPr>
      </p:pic>
      <p:pic>
        <p:nvPicPr>
          <p:cNvPr id="18" name="Google Shape;18;p25"/>
          <p:cNvPicPr preferRelativeResize="0"/>
          <p:nvPr/>
        </p:nvPicPr>
        <p:blipFill rotWithShape="1">
          <a:blip r:embed="rId3">
            <a:alphaModFix/>
          </a:blip>
          <a:srcRect/>
          <a:stretch/>
        </p:blipFill>
        <p:spPr>
          <a:xfrm>
            <a:off x="6367235" y="5717992"/>
            <a:ext cx="2254250" cy="858113"/>
          </a:xfrm>
          <a:prstGeom prst="rect">
            <a:avLst/>
          </a:prstGeom>
          <a:noFill/>
          <a:ln>
            <a:noFill/>
          </a:ln>
        </p:spPr>
      </p:pic>
      <p:sp>
        <p:nvSpPr>
          <p:cNvPr id="19" name="Google Shape;19;p25"/>
          <p:cNvSpPr txBox="1">
            <a:spLocks noGrp="1"/>
          </p:cNvSpPr>
          <p:nvPr>
            <p:ph type="ctrTitle"/>
          </p:nvPr>
        </p:nvSpPr>
        <p:spPr>
          <a:xfrm>
            <a:off x="1143000" y="1122363"/>
            <a:ext cx="73152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rgbClr val="08A6E2"/>
              </a:buClr>
              <a:buSzPts val="4000"/>
              <a:buFont typeface="Calibri"/>
              <a:buNone/>
              <a:defRPr sz="4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0" name="Google Shape;20;p25"/>
          <p:cNvSpPr txBox="1">
            <a:spLocks noGrp="1"/>
          </p:cNvSpPr>
          <p:nvPr>
            <p:ph type="subTitle" idx="1"/>
          </p:nvPr>
        </p:nvSpPr>
        <p:spPr>
          <a:xfrm>
            <a:off x="1143000" y="3602038"/>
            <a:ext cx="7315200" cy="858113"/>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atin typeface="Calibri"/>
                <a:ea typeface="Calibri"/>
                <a:cs typeface="Calibri"/>
                <a:sym typeface="Calibri"/>
              </a:defRPr>
            </a:lvl1pPr>
            <a:lvl2pPr lvl="1" algn="ctr">
              <a:lnSpc>
                <a:spcPct val="90000"/>
              </a:lnSpc>
              <a:spcBef>
                <a:spcPts val="500"/>
              </a:spcBef>
              <a:spcAft>
                <a:spcPts val="0"/>
              </a:spcAft>
              <a:buClr>
                <a:schemeClr val="dk1"/>
              </a:buClr>
              <a:buSzPts val="1200"/>
              <a:buNone/>
              <a:defRPr sz="2000"/>
            </a:lvl2pPr>
            <a:lvl3pPr lvl="2" algn="ctr">
              <a:lnSpc>
                <a:spcPct val="90000"/>
              </a:lnSpc>
              <a:spcBef>
                <a:spcPts val="500"/>
              </a:spcBef>
              <a:spcAft>
                <a:spcPts val="0"/>
              </a:spcAft>
              <a:buClr>
                <a:schemeClr val="dk1"/>
              </a:buClr>
              <a:buSzPts val="1350"/>
              <a:buNone/>
              <a:defRPr sz="1800"/>
            </a:lvl3pPr>
            <a:lvl4pPr lvl="3" algn="ctr">
              <a:lnSpc>
                <a:spcPct val="90000"/>
              </a:lnSpc>
              <a:spcBef>
                <a:spcPts val="500"/>
              </a:spcBef>
              <a:spcAft>
                <a:spcPts val="0"/>
              </a:spcAft>
              <a:buClr>
                <a:schemeClr val="dk1"/>
              </a:buClr>
              <a:buSzPts val="12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21" name="Google Shape;21;p25"/>
          <p:cNvSpPr txBox="1">
            <a:spLocks noGrp="1"/>
          </p:cNvSpPr>
          <p:nvPr>
            <p:ph type="body" idx="2"/>
          </p:nvPr>
        </p:nvSpPr>
        <p:spPr>
          <a:xfrm>
            <a:off x="1143000" y="4754562"/>
            <a:ext cx="7315199" cy="572811"/>
          </a:xfrm>
          <a:prstGeom prst="rect">
            <a:avLst/>
          </a:prstGeom>
          <a:noFill/>
          <a:ln>
            <a:noFill/>
          </a:ln>
        </p:spPr>
        <p:txBody>
          <a:bodyPr spcFirstLastPara="1" wrap="square" lIns="91425" tIns="45700" rIns="91425" bIns="45700" anchor="t" anchorCtr="0">
            <a:noAutofit/>
          </a:bodyPr>
          <a:lstStyle>
            <a:lvl1pPr marL="457200" lvl="0" indent="-228600" algn="ctr">
              <a:lnSpc>
                <a:spcPct val="100000"/>
              </a:lnSpc>
              <a:spcBef>
                <a:spcPts val="0"/>
              </a:spcBef>
              <a:spcAft>
                <a:spcPts val="0"/>
              </a:spcAft>
              <a:buClr>
                <a:schemeClr val="dk1"/>
              </a:buClr>
              <a:buSzPts val="1600"/>
              <a:buNone/>
              <a:defRPr sz="1600" b="1"/>
            </a:lvl1pPr>
            <a:lvl2pPr marL="914400" lvl="1" indent="-297180" algn="l">
              <a:lnSpc>
                <a:spcPct val="90000"/>
              </a:lnSpc>
              <a:spcBef>
                <a:spcPts val="500"/>
              </a:spcBef>
              <a:spcAft>
                <a:spcPts val="0"/>
              </a:spcAft>
              <a:buClr>
                <a:schemeClr val="dk1"/>
              </a:buClr>
              <a:buSzPts val="1080"/>
              <a:buChar char="o"/>
              <a:defRPr/>
            </a:lvl2pPr>
            <a:lvl3pPr marL="1371600" lvl="2" indent="-314325" algn="l">
              <a:lnSpc>
                <a:spcPct val="90000"/>
              </a:lnSpc>
              <a:spcBef>
                <a:spcPts val="500"/>
              </a:spcBef>
              <a:spcAft>
                <a:spcPts val="0"/>
              </a:spcAft>
              <a:buClr>
                <a:schemeClr val="dk1"/>
              </a:buClr>
              <a:buSzPts val="1350"/>
              <a:buChar char="▪"/>
              <a:defRPr/>
            </a:lvl3pPr>
            <a:lvl4pPr marL="1828800" lvl="3" indent="-314325" algn="l">
              <a:lnSpc>
                <a:spcPct val="90000"/>
              </a:lnSpc>
              <a:spcBef>
                <a:spcPts val="500"/>
              </a:spcBef>
              <a:spcAft>
                <a:spcPts val="0"/>
              </a:spcAft>
              <a:buClr>
                <a:schemeClr val="dk1"/>
              </a:buClr>
              <a:buSzPts val="135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pic>
        <p:nvPicPr>
          <p:cNvPr id="22" name="Google Shape;22;p25"/>
          <p:cNvPicPr preferRelativeResize="0"/>
          <p:nvPr/>
        </p:nvPicPr>
        <p:blipFill rotWithShape="1">
          <a:blip r:embed="rId4">
            <a:alphaModFix/>
          </a:blip>
          <a:srcRect/>
          <a:stretch/>
        </p:blipFill>
        <p:spPr>
          <a:xfrm>
            <a:off x="1143000" y="5860642"/>
            <a:ext cx="2302835" cy="572811"/>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matchingName="Section Header" type="secHead">
  <p:cSld name="SECTION_HEADER">
    <p:bg>
      <p:bgPr>
        <a:solidFill>
          <a:srgbClr val="08A6E2"/>
        </a:solidFill>
        <a:effectLst/>
      </p:bgPr>
    </p:bg>
    <p:spTree>
      <p:nvGrpSpPr>
        <p:cNvPr id="1" name="Shape 23"/>
        <p:cNvGrpSpPr/>
        <p:nvPr/>
      </p:nvGrpSpPr>
      <p:grpSpPr>
        <a:xfrm>
          <a:off x="0" y="0"/>
          <a:ext cx="0" cy="0"/>
          <a:chOff x="0" y="0"/>
          <a:chExt cx="0" cy="0"/>
        </a:xfrm>
      </p:grpSpPr>
      <p:sp>
        <p:nvSpPr>
          <p:cNvPr id="24" name="Google Shape;24;p26"/>
          <p:cNvSpPr txBox="1">
            <a:spLocks noGrp="1"/>
          </p:cNvSpPr>
          <p:nvPr>
            <p:ph type="title"/>
          </p:nvPr>
        </p:nvSpPr>
        <p:spPr>
          <a:xfrm>
            <a:off x="623888" y="1709739"/>
            <a:ext cx="78867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lt1"/>
              </a:buClr>
              <a:buSzPts val="4400"/>
              <a:buFont typeface="Calibri"/>
              <a:buNone/>
              <a:defRPr sz="44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5" name="Google Shape;25;p26"/>
          <p:cNvSpPr txBox="1">
            <a:spLocks noGrp="1"/>
          </p:cNvSpPr>
          <p:nvPr>
            <p:ph type="body" idx="1"/>
          </p:nvPr>
        </p:nvSpPr>
        <p:spPr>
          <a:xfrm>
            <a:off x="623888" y="4589464"/>
            <a:ext cx="78867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2400"/>
              <a:buNone/>
              <a:defRPr sz="2400">
                <a:solidFill>
                  <a:schemeClr val="lt1"/>
                </a:solidFill>
              </a:defRPr>
            </a:lvl1pPr>
            <a:lvl2pPr marL="914400" lvl="1" indent="-228600" algn="l">
              <a:lnSpc>
                <a:spcPct val="90000"/>
              </a:lnSpc>
              <a:spcBef>
                <a:spcPts val="500"/>
              </a:spcBef>
              <a:spcAft>
                <a:spcPts val="0"/>
              </a:spcAft>
              <a:buClr>
                <a:srgbClr val="888888"/>
              </a:buClr>
              <a:buSzPts val="1200"/>
              <a:buNone/>
              <a:defRPr sz="2000">
                <a:solidFill>
                  <a:srgbClr val="888888"/>
                </a:solidFill>
              </a:defRPr>
            </a:lvl2pPr>
            <a:lvl3pPr marL="1371600" lvl="2" indent="-228600" algn="l">
              <a:lnSpc>
                <a:spcPct val="90000"/>
              </a:lnSpc>
              <a:spcBef>
                <a:spcPts val="500"/>
              </a:spcBef>
              <a:spcAft>
                <a:spcPts val="0"/>
              </a:spcAft>
              <a:buClr>
                <a:srgbClr val="888888"/>
              </a:buClr>
              <a:buSzPts val="1350"/>
              <a:buNone/>
              <a:defRPr sz="1800">
                <a:solidFill>
                  <a:srgbClr val="888888"/>
                </a:solidFill>
              </a:defRPr>
            </a:lvl3pPr>
            <a:lvl4pPr marL="1828800" lvl="3" indent="-228600" algn="l">
              <a:lnSpc>
                <a:spcPct val="90000"/>
              </a:lnSpc>
              <a:spcBef>
                <a:spcPts val="500"/>
              </a:spcBef>
              <a:spcAft>
                <a:spcPts val="0"/>
              </a:spcAft>
              <a:buClr>
                <a:srgbClr val="888888"/>
              </a:buClr>
              <a:buSzPts val="12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6"/>
        <p:cNvGrpSpPr/>
        <p:nvPr/>
      </p:nvGrpSpPr>
      <p:grpSpPr>
        <a:xfrm>
          <a:off x="0" y="0"/>
          <a:ext cx="0" cy="0"/>
          <a:chOff x="0" y="0"/>
          <a:chExt cx="0" cy="0"/>
        </a:xfrm>
      </p:grpSpPr>
      <p:sp>
        <p:nvSpPr>
          <p:cNvPr id="27" name="Google Shape;27;p27"/>
          <p:cNvSpPr txBox="1">
            <a:spLocks noGrp="1"/>
          </p:cNvSpPr>
          <p:nvPr>
            <p:ph type="title"/>
          </p:nvPr>
        </p:nvSpPr>
        <p:spPr>
          <a:xfrm>
            <a:off x="1105230" y="365126"/>
            <a:ext cx="7410119"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rgbClr val="08A6E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8" name="Google Shape;28;p27"/>
          <p:cNvSpPr txBox="1">
            <a:spLocks noGrp="1"/>
          </p:cNvSpPr>
          <p:nvPr>
            <p:ph type="body" idx="1"/>
          </p:nvPr>
        </p:nvSpPr>
        <p:spPr>
          <a:xfrm>
            <a:off x="1105230" y="1825625"/>
            <a:ext cx="7410119" cy="392518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297180" algn="l">
              <a:lnSpc>
                <a:spcPct val="90000"/>
              </a:lnSpc>
              <a:spcBef>
                <a:spcPts val="500"/>
              </a:spcBef>
              <a:spcAft>
                <a:spcPts val="0"/>
              </a:spcAft>
              <a:buClr>
                <a:schemeClr val="dk1"/>
              </a:buClr>
              <a:buSzPts val="1080"/>
              <a:buChar char="o"/>
              <a:defRPr/>
            </a:lvl2pPr>
            <a:lvl3pPr marL="1371600" lvl="2" indent="-314325" algn="l">
              <a:lnSpc>
                <a:spcPct val="90000"/>
              </a:lnSpc>
              <a:spcBef>
                <a:spcPts val="500"/>
              </a:spcBef>
              <a:spcAft>
                <a:spcPts val="0"/>
              </a:spcAft>
              <a:buClr>
                <a:schemeClr val="dk1"/>
              </a:buClr>
              <a:buSzPts val="1350"/>
              <a:buChar char="▪"/>
              <a:defRPr/>
            </a:lvl3pPr>
            <a:lvl4pPr marL="1828800" lvl="3" indent="-314325" algn="l">
              <a:lnSpc>
                <a:spcPct val="90000"/>
              </a:lnSpc>
              <a:spcBef>
                <a:spcPts val="500"/>
              </a:spcBef>
              <a:spcAft>
                <a:spcPts val="0"/>
              </a:spcAft>
              <a:buClr>
                <a:schemeClr val="dk1"/>
              </a:buClr>
              <a:buSzPts val="135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9" name="Google Shape;29;p27"/>
          <p:cNvSpPr txBox="1">
            <a:spLocks noGrp="1"/>
          </p:cNvSpPr>
          <p:nvPr>
            <p:ph type="sldNum" idx="12"/>
          </p:nvPr>
        </p:nvSpPr>
        <p:spPr>
          <a:xfrm>
            <a:off x="1105230" y="6359608"/>
            <a:ext cx="7410119" cy="365125"/>
          </a:xfrm>
          <a:prstGeom prst="rect">
            <a:avLst/>
          </a:prstGeom>
          <a:noFill/>
          <a:ln>
            <a:noFill/>
          </a:ln>
        </p:spPr>
        <p:txBody>
          <a:bodyPr spcFirstLastPara="1" wrap="square" lIns="91425" tIns="45700" rIns="91425" bIns="45700" anchor="ctr" anchorCtr="0">
            <a:noAutofit/>
          </a:bodyPr>
          <a:lstStyle>
            <a:lvl1pPr marL="0" lvl="0" indent="0" algn="ctr">
              <a:spcBef>
                <a:spcPts val="0"/>
              </a:spcBef>
              <a:buNone/>
              <a:defRPr/>
            </a:lvl1pPr>
            <a:lvl2pPr marL="0" lvl="1" indent="0" algn="ctr">
              <a:spcBef>
                <a:spcPts val="0"/>
              </a:spcBef>
              <a:buNone/>
              <a:defRPr/>
            </a:lvl2pPr>
            <a:lvl3pPr marL="0" lvl="2" indent="0" algn="ctr">
              <a:spcBef>
                <a:spcPts val="0"/>
              </a:spcBef>
              <a:buNone/>
              <a:defRPr/>
            </a:lvl3pPr>
            <a:lvl4pPr marL="0" lvl="3" indent="0" algn="ctr">
              <a:spcBef>
                <a:spcPts val="0"/>
              </a:spcBef>
              <a:buNone/>
              <a:defRPr/>
            </a:lvl4pPr>
            <a:lvl5pPr marL="0" lvl="4" indent="0" algn="ctr">
              <a:spcBef>
                <a:spcPts val="0"/>
              </a:spcBef>
              <a:buNone/>
              <a:defRPr/>
            </a:lvl5pPr>
            <a:lvl6pPr marL="0" lvl="5" indent="0" algn="ctr">
              <a:spcBef>
                <a:spcPts val="0"/>
              </a:spcBef>
              <a:buNone/>
              <a:defRPr/>
            </a:lvl6pPr>
            <a:lvl7pPr marL="0" lvl="6" indent="0" algn="ctr">
              <a:spcBef>
                <a:spcPts val="0"/>
              </a:spcBef>
              <a:buNone/>
              <a:defRPr/>
            </a:lvl7pPr>
            <a:lvl8pPr marL="0" lvl="7" indent="0" algn="ctr">
              <a:spcBef>
                <a:spcPts val="0"/>
              </a:spcBef>
              <a:buNone/>
              <a:defRPr/>
            </a:lvl8pPr>
            <a:lvl9pPr marL="0" lvl="8" indent="0" algn="ctr">
              <a:spcBef>
                <a:spcPts val="0"/>
              </a:spcBef>
              <a:buNone/>
              <a:defRPr/>
            </a:lvl9pPr>
          </a:lstStyle>
          <a:p>
            <a:pPr marL="0" lvl="0" indent="0" algn="ct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30"/>
        <p:cNvGrpSpPr/>
        <p:nvPr/>
      </p:nvGrpSpPr>
      <p:grpSpPr>
        <a:xfrm>
          <a:off x="0" y="0"/>
          <a:ext cx="0" cy="0"/>
          <a:chOff x="0" y="0"/>
          <a:chExt cx="0" cy="0"/>
        </a:xfrm>
      </p:grpSpPr>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1"/>
        <p:cNvGrpSpPr/>
        <p:nvPr/>
      </p:nvGrpSpPr>
      <p:grpSpPr>
        <a:xfrm>
          <a:off x="0" y="0"/>
          <a:ext cx="0" cy="0"/>
          <a:chOff x="0" y="0"/>
          <a:chExt cx="0" cy="0"/>
        </a:xfrm>
      </p:grpSpPr>
      <p:sp>
        <p:nvSpPr>
          <p:cNvPr id="32" name="Google Shape;32;p29"/>
          <p:cNvSpPr txBox="1">
            <a:spLocks noGrp="1"/>
          </p:cNvSpPr>
          <p:nvPr>
            <p:ph type="title"/>
          </p:nvPr>
        </p:nvSpPr>
        <p:spPr>
          <a:xfrm>
            <a:off x="1105230" y="365126"/>
            <a:ext cx="7410119"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rgbClr val="08A6E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3" name="Google Shape;33;p29"/>
          <p:cNvSpPr txBox="1">
            <a:spLocks noGrp="1"/>
          </p:cNvSpPr>
          <p:nvPr>
            <p:ph type="body" idx="1"/>
          </p:nvPr>
        </p:nvSpPr>
        <p:spPr>
          <a:xfrm>
            <a:off x="1097776" y="1825625"/>
            <a:ext cx="3474224" cy="3927475"/>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297180" algn="l">
              <a:lnSpc>
                <a:spcPct val="90000"/>
              </a:lnSpc>
              <a:spcBef>
                <a:spcPts val="500"/>
              </a:spcBef>
              <a:spcAft>
                <a:spcPts val="0"/>
              </a:spcAft>
              <a:buClr>
                <a:schemeClr val="dk1"/>
              </a:buClr>
              <a:buSzPts val="1080"/>
              <a:buChar char="o"/>
              <a:defRPr/>
            </a:lvl2pPr>
            <a:lvl3pPr marL="1371600" lvl="2" indent="-314325" algn="l">
              <a:lnSpc>
                <a:spcPct val="90000"/>
              </a:lnSpc>
              <a:spcBef>
                <a:spcPts val="500"/>
              </a:spcBef>
              <a:spcAft>
                <a:spcPts val="0"/>
              </a:spcAft>
              <a:buClr>
                <a:schemeClr val="dk1"/>
              </a:buClr>
              <a:buSzPts val="1350"/>
              <a:buChar char="▪"/>
              <a:defRPr/>
            </a:lvl3pPr>
            <a:lvl4pPr marL="1828800" lvl="3" indent="-314325" algn="l">
              <a:lnSpc>
                <a:spcPct val="90000"/>
              </a:lnSpc>
              <a:spcBef>
                <a:spcPts val="500"/>
              </a:spcBef>
              <a:spcAft>
                <a:spcPts val="0"/>
              </a:spcAft>
              <a:buClr>
                <a:schemeClr val="dk1"/>
              </a:buClr>
              <a:buSzPts val="135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4" name="Google Shape;34;p29"/>
          <p:cNvSpPr txBox="1">
            <a:spLocks noGrp="1"/>
          </p:cNvSpPr>
          <p:nvPr>
            <p:ph type="body" idx="2"/>
          </p:nvPr>
        </p:nvSpPr>
        <p:spPr>
          <a:xfrm>
            <a:off x="5041125" y="1825625"/>
            <a:ext cx="3474224" cy="3927475"/>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297180" algn="l">
              <a:lnSpc>
                <a:spcPct val="90000"/>
              </a:lnSpc>
              <a:spcBef>
                <a:spcPts val="500"/>
              </a:spcBef>
              <a:spcAft>
                <a:spcPts val="0"/>
              </a:spcAft>
              <a:buClr>
                <a:schemeClr val="dk1"/>
              </a:buClr>
              <a:buSzPts val="1080"/>
              <a:buChar char="o"/>
              <a:defRPr/>
            </a:lvl2pPr>
            <a:lvl3pPr marL="1371600" lvl="2" indent="-314325" algn="l">
              <a:lnSpc>
                <a:spcPct val="90000"/>
              </a:lnSpc>
              <a:spcBef>
                <a:spcPts val="500"/>
              </a:spcBef>
              <a:spcAft>
                <a:spcPts val="0"/>
              </a:spcAft>
              <a:buClr>
                <a:schemeClr val="dk1"/>
              </a:buClr>
              <a:buSzPts val="1350"/>
              <a:buChar char="▪"/>
              <a:defRPr/>
            </a:lvl3pPr>
            <a:lvl4pPr marL="1828800" lvl="3" indent="-314325" algn="l">
              <a:lnSpc>
                <a:spcPct val="90000"/>
              </a:lnSpc>
              <a:spcBef>
                <a:spcPts val="500"/>
              </a:spcBef>
              <a:spcAft>
                <a:spcPts val="0"/>
              </a:spcAft>
              <a:buClr>
                <a:schemeClr val="dk1"/>
              </a:buClr>
              <a:buSzPts val="135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5" name="Google Shape;35;p29"/>
          <p:cNvSpPr txBox="1">
            <a:spLocks noGrp="1"/>
          </p:cNvSpPr>
          <p:nvPr>
            <p:ph type="sldNum" idx="12"/>
          </p:nvPr>
        </p:nvSpPr>
        <p:spPr>
          <a:xfrm>
            <a:off x="1105230" y="6359608"/>
            <a:ext cx="7410119" cy="365125"/>
          </a:xfrm>
          <a:prstGeom prst="rect">
            <a:avLst/>
          </a:prstGeom>
          <a:noFill/>
          <a:ln>
            <a:noFill/>
          </a:ln>
        </p:spPr>
        <p:txBody>
          <a:bodyPr spcFirstLastPara="1" wrap="square" lIns="91425" tIns="45700" rIns="91425" bIns="45700" anchor="ctr" anchorCtr="0">
            <a:noAutofit/>
          </a:bodyPr>
          <a:lstStyle>
            <a:lvl1pPr marL="0" lvl="0" indent="0" algn="ctr">
              <a:spcBef>
                <a:spcPts val="0"/>
              </a:spcBef>
              <a:buNone/>
              <a:defRPr/>
            </a:lvl1pPr>
            <a:lvl2pPr marL="0" lvl="1" indent="0" algn="ctr">
              <a:spcBef>
                <a:spcPts val="0"/>
              </a:spcBef>
              <a:buNone/>
              <a:defRPr/>
            </a:lvl2pPr>
            <a:lvl3pPr marL="0" lvl="2" indent="0" algn="ctr">
              <a:spcBef>
                <a:spcPts val="0"/>
              </a:spcBef>
              <a:buNone/>
              <a:defRPr/>
            </a:lvl3pPr>
            <a:lvl4pPr marL="0" lvl="3" indent="0" algn="ctr">
              <a:spcBef>
                <a:spcPts val="0"/>
              </a:spcBef>
              <a:buNone/>
              <a:defRPr/>
            </a:lvl4pPr>
            <a:lvl5pPr marL="0" lvl="4" indent="0" algn="ctr">
              <a:spcBef>
                <a:spcPts val="0"/>
              </a:spcBef>
              <a:buNone/>
              <a:defRPr/>
            </a:lvl5pPr>
            <a:lvl6pPr marL="0" lvl="5" indent="0" algn="ctr">
              <a:spcBef>
                <a:spcPts val="0"/>
              </a:spcBef>
              <a:buNone/>
              <a:defRPr/>
            </a:lvl6pPr>
            <a:lvl7pPr marL="0" lvl="6" indent="0" algn="ctr">
              <a:spcBef>
                <a:spcPts val="0"/>
              </a:spcBef>
              <a:buNone/>
              <a:defRPr/>
            </a:lvl7pPr>
            <a:lvl8pPr marL="0" lvl="7" indent="0" algn="ctr">
              <a:spcBef>
                <a:spcPts val="0"/>
              </a:spcBef>
              <a:buNone/>
              <a:defRPr/>
            </a:lvl8pPr>
            <a:lvl9pPr marL="0" lvl="8" indent="0" algn="ctr">
              <a:spcBef>
                <a:spcPts val="0"/>
              </a:spcBef>
              <a:buNone/>
              <a:defRPr/>
            </a:lvl9pPr>
          </a:lstStyle>
          <a:p>
            <a:pPr marL="0" lvl="0" indent="0" algn="ct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36"/>
        <p:cNvGrpSpPr/>
        <p:nvPr/>
      </p:nvGrpSpPr>
      <p:grpSpPr>
        <a:xfrm>
          <a:off x="0" y="0"/>
          <a:ext cx="0" cy="0"/>
          <a:chOff x="0" y="0"/>
          <a:chExt cx="0" cy="0"/>
        </a:xfrm>
      </p:grpSpPr>
      <p:sp>
        <p:nvSpPr>
          <p:cNvPr id="37" name="Google Shape;37;p30"/>
          <p:cNvSpPr txBox="1">
            <a:spLocks noGrp="1"/>
          </p:cNvSpPr>
          <p:nvPr>
            <p:ph type="title"/>
          </p:nvPr>
        </p:nvSpPr>
        <p:spPr>
          <a:xfrm>
            <a:off x="1105230" y="365126"/>
            <a:ext cx="7410119"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rgbClr val="08A6E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8" name="Google Shape;38;p30"/>
          <p:cNvSpPr txBox="1">
            <a:spLocks noGrp="1"/>
          </p:cNvSpPr>
          <p:nvPr>
            <p:ph type="sldNum" idx="12"/>
          </p:nvPr>
        </p:nvSpPr>
        <p:spPr>
          <a:xfrm>
            <a:off x="1105230" y="6359608"/>
            <a:ext cx="7410119" cy="365125"/>
          </a:xfrm>
          <a:prstGeom prst="rect">
            <a:avLst/>
          </a:prstGeom>
          <a:noFill/>
          <a:ln>
            <a:noFill/>
          </a:ln>
        </p:spPr>
        <p:txBody>
          <a:bodyPr spcFirstLastPara="1" wrap="square" lIns="91425" tIns="45700" rIns="91425" bIns="45700" anchor="ctr" anchorCtr="0">
            <a:noAutofit/>
          </a:bodyPr>
          <a:lstStyle>
            <a:lvl1pPr marL="0" lvl="0" indent="0" algn="ctr">
              <a:spcBef>
                <a:spcPts val="0"/>
              </a:spcBef>
              <a:buNone/>
              <a:defRPr/>
            </a:lvl1pPr>
            <a:lvl2pPr marL="0" lvl="1" indent="0" algn="ctr">
              <a:spcBef>
                <a:spcPts val="0"/>
              </a:spcBef>
              <a:buNone/>
              <a:defRPr/>
            </a:lvl2pPr>
            <a:lvl3pPr marL="0" lvl="2" indent="0" algn="ctr">
              <a:spcBef>
                <a:spcPts val="0"/>
              </a:spcBef>
              <a:buNone/>
              <a:defRPr/>
            </a:lvl3pPr>
            <a:lvl4pPr marL="0" lvl="3" indent="0" algn="ctr">
              <a:spcBef>
                <a:spcPts val="0"/>
              </a:spcBef>
              <a:buNone/>
              <a:defRPr/>
            </a:lvl4pPr>
            <a:lvl5pPr marL="0" lvl="4" indent="0" algn="ctr">
              <a:spcBef>
                <a:spcPts val="0"/>
              </a:spcBef>
              <a:buNone/>
              <a:defRPr/>
            </a:lvl5pPr>
            <a:lvl6pPr marL="0" lvl="5" indent="0" algn="ctr">
              <a:spcBef>
                <a:spcPts val="0"/>
              </a:spcBef>
              <a:buNone/>
              <a:defRPr/>
            </a:lvl6pPr>
            <a:lvl7pPr marL="0" lvl="6" indent="0" algn="ctr">
              <a:spcBef>
                <a:spcPts val="0"/>
              </a:spcBef>
              <a:buNone/>
              <a:defRPr/>
            </a:lvl7pPr>
            <a:lvl8pPr marL="0" lvl="7" indent="0" algn="ctr">
              <a:spcBef>
                <a:spcPts val="0"/>
              </a:spcBef>
              <a:buNone/>
              <a:defRPr/>
            </a:lvl8pPr>
            <a:lvl9pPr marL="0" lvl="8" indent="0" algn="ctr">
              <a:spcBef>
                <a:spcPts val="0"/>
              </a:spcBef>
              <a:buNone/>
              <a:defRPr/>
            </a:lvl9pPr>
          </a:lstStyle>
          <a:p>
            <a:pPr marL="0" lvl="0" indent="0" algn="ct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9"/>
        <p:cNvGrpSpPr/>
        <p:nvPr/>
      </p:nvGrpSpPr>
      <p:grpSpPr>
        <a:xfrm>
          <a:off x="0" y="0"/>
          <a:ext cx="0" cy="0"/>
          <a:chOff x="0" y="0"/>
          <a:chExt cx="0" cy="0"/>
        </a:xfrm>
      </p:grpSpPr>
      <p:sp>
        <p:nvSpPr>
          <p:cNvPr id="40" name="Google Shape;40;p31"/>
          <p:cNvSpPr txBox="1">
            <a:spLocks noGrp="1"/>
          </p:cNvSpPr>
          <p:nvPr>
            <p:ph type="title"/>
          </p:nvPr>
        </p:nvSpPr>
        <p:spPr>
          <a:xfrm>
            <a:off x="629841" y="365126"/>
            <a:ext cx="78867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rgbClr val="08A6E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1" name="Google Shape;41;p31"/>
          <p:cNvSpPr txBox="1">
            <a:spLocks noGrp="1"/>
          </p:cNvSpPr>
          <p:nvPr>
            <p:ph type="body" idx="1"/>
          </p:nvPr>
        </p:nvSpPr>
        <p:spPr>
          <a:xfrm>
            <a:off x="629842" y="1681163"/>
            <a:ext cx="3868340"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1200"/>
              <a:buNone/>
              <a:defRPr sz="2000" b="1"/>
            </a:lvl2pPr>
            <a:lvl3pPr marL="1371600" lvl="2" indent="-228600" algn="l">
              <a:lnSpc>
                <a:spcPct val="90000"/>
              </a:lnSpc>
              <a:spcBef>
                <a:spcPts val="500"/>
              </a:spcBef>
              <a:spcAft>
                <a:spcPts val="0"/>
              </a:spcAft>
              <a:buClr>
                <a:schemeClr val="dk1"/>
              </a:buClr>
              <a:buSzPts val="1350"/>
              <a:buNone/>
              <a:defRPr sz="1800" b="1"/>
            </a:lvl3pPr>
            <a:lvl4pPr marL="1828800" lvl="3" indent="-228600" algn="l">
              <a:lnSpc>
                <a:spcPct val="90000"/>
              </a:lnSpc>
              <a:spcBef>
                <a:spcPts val="500"/>
              </a:spcBef>
              <a:spcAft>
                <a:spcPts val="0"/>
              </a:spcAft>
              <a:buClr>
                <a:schemeClr val="dk1"/>
              </a:buClr>
              <a:buSzPts val="12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2" name="Google Shape;42;p31"/>
          <p:cNvSpPr txBox="1">
            <a:spLocks noGrp="1"/>
          </p:cNvSpPr>
          <p:nvPr>
            <p:ph type="body" idx="2"/>
          </p:nvPr>
        </p:nvSpPr>
        <p:spPr>
          <a:xfrm>
            <a:off x="629842" y="2505075"/>
            <a:ext cx="3868340" cy="3248025"/>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297180" algn="l">
              <a:lnSpc>
                <a:spcPct val="90000"/>
              </a:lnSpc>
              <a:spcBef>
                <a:spcPts val="500"/>
              </a:spcBef>
              <a:spcAft>
                <a:spcPts val="0"/>
              </a:spcAft>
              <a:buClr>
                <a:schemeClr val="dk1"/>
              </a:buClr>
              <a:buSzPts val="1080"/>
              <a:buChar char="o"/>
              <a:defRPr/>
            </a:lvl2pPr>
            <a:lvl3pPr marL="1371600" lvl="2" indent="-314325" algn="l">
              <a:lnSpc>
                <a:spcPct val="90000"/>
              </a:lnSpc>
              <a:spcBef>
                <a:spcPts val="500"/>
              </a:spcBef>
              <a:spcAft>
                <a:spcPts val="0"/>
              </a:spcAft>
              <a:buClr>
                <a:schemeClr val="dk1"/>
              </a:buClr>
              <a:buSzPts val="1350"/>
              <a:buChar char="▪"/>
              <a:defRPr/>
            </a:lvl3pPr>
            <a:lvl4pPr marL="1828800" lvl="3" indent="-314325" algn="l">
              <a:lnSpc>
                <a:spcPct val="90000"/>
              </a:lnSpc>
              <a:spcBef>
                <a:spcPts val="500"/>
              </a:spcBef>
              <a:spcAft>
                <a:spcPts val="0"/>
              </a:spcAft>
              <a:buClr>
                <a:schemeClr val="dk1"/>
              </a:buClr>
              <a:buSzPts val="135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3" name="Google Shape;43;p31"/>
          <p:cNvSpPr txBox="1">
            <a:spLocks noGrp="1"/>
          </p:cNvSpPr>
          <p:nvPr>
            <p:ph type="body" idx="3"/>
          </p:nvPr>
        </p:nvSpPr>
        <p:spPr>
          <a:xfrm>
            <a:off x="4629150" y="1681163"/>
            <a:ext cx="3887391"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1200"/>
              <a:buNone/>
              <a:defRPr sz="2000" b="1"/>
            </a:lvl2pPr>
            <a:lvl3pPr marL="1371600" lvl="2" indent="-228600" algn="l">
              <a:lnSpc>
                <a:spcPct val="90000"/>
              </a:lnSpc>
              <a:spcBef>
                <a:spcPts val="500"/>
              </a:spcBef>
              <a:spcAft>
                <a:spcPts val="0"/>
              </a:spcAft>
              <a:buClr>
                <a:schemeClr val="dk1"/>
              </a:buClr>
              <a:buSzPts val="1350"/>
              <a:buNone/>
              <a:defRPr sz="1800" b="1"/>
            </a:lvl3pPr>
            <a:lvl4pPr marL="1828800" lvl="3" indent="-228600" algn="l">
              <a:lnSpc>
                <a:spcPct val="90000"/>
              </a:lnSpc>
              <a:spcBef>
                <a:spcPts val="500"/>
              </a:spcBef>
              <a:spcAft>
                <a:spcPts val="0"/>
              </a:spcAft>
              <a:buClr>
                <a:schemeClr val="dk1"/>
              </a:buClr>
              <a:buSzPts val="12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4" name="Google Shape;44;p31"/>
          <p:cNvSpPr txBox="1">
            <a:spLocks noGrp="1"/>
          </p:cNvSpPr>
          <p:nvPr>
            <p:ph type="body" idx="4"/>
          </p:nvPr>
        </p:nvSpPr>
        <p:spPr>
          <a:xfrm>
            <a:off x="4629150" y="2505075"/>
            <a:ext cx="3887391" cy="3248025"/>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297180" algn="l">
              <a:lnSpc>
                <a:spcPct val="90000"/>
              </a:lnSpc>
              <a:spcBef>
                <a:spcPts val="500"/>
              </a:spcBef>
              <a:spcAft>
                <a:spcPts val="0"/>
              </a:spcAft>
              <a:buClr>
                <a:schemeClr val="dk1"/>
              </a:buClr>
              <a:buSzPts val="1080"/>
              <a:buChar char="o"/>
              <a:defRPr/>
            </a:lvl2pPr>
            <a:lvl3pPr marL="1371600" lvl="2" indent="-314325" algn="l">
              <a:lnSpc>
                <a:spcPct val="90000"/>
              </a:lnSpc>
              <a:spcBef>
                <a:spcPts val="500"/>
              </a:spcBef>
              <a:spcAft>
                <a:spcPts val="0"/>
              </a:spcAft>
              <a:buClr>
                <a:schemeClr val="dk1"/>
              </a:buClr>
              <a:buSzPts val="1350"/>
              <a:buChar char="▪"/>
              <a:defRPr/>
            </a:lvl3pPr>
            <a:lvl4pPr marL="1828800" lvl="3" indent="-314325" algn="l">
              <a:lnSpc>
                <a:spcPct val="90000"/>
              </a:lnSpc>
              <a:spcBef>
                <a:spcPts val="500"/>
              </a:spcBef>
              <a:spcAft>
                <a:spcPts val="0"/>
              </a:spcAft>
              <a:buClr>
                <a:schemeClr val="dk1"/>
              </a:buClr>
              <a:buSzPts val="135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5" name="Google Shape;45;p31"/>
          <p:cNvSpPr txBox="1">
            <a:spLocks noGrp="1"/>
          </p:cNvSpPr>
          <p:nvPr>
            <p:ph type="sldNum" idx="12"/>
          </p:nvPr>
        </p:nvSpPr>
        <p:spPr>
          <a:xfrm>
            <a:off x="628650" y="6359608"/>
            <a:ext cx="7886700" cy="365125"/>
          </a:xfrm>
          <a:prstGeom prst="rect">
            <a:avLst/>
          </a:prstGeom>
          <a:noFill/>
          <a:ln>
            <a:noFill/>
          </a:ln>
        </p:spPr>
        <p:txBody>
          <a:bodyPr spcFirstLastPara="1" wrap="square" lIns="91425" tIns="45700" rIns="91425" bIns="45700" anchor="ctr" anchorCtr="0">
            <a:noAutofit/>
          </a:bodyPr>
          <a:lstStyle>
            <a:lvl1pPr marL="0" lvl="0" indent="0" algn="ctr">
              <a:spcBef>
                <a:spcPts val="0"/>
              </a:spcBef>
              <a:buNone/>
              <a:defRPr/>
            </a:lvl1pPr>
            <a:lvl2pPr marL="0" lvl="1" indent="0" algn="ctr">
              <a:spcBef>
                <a:spcPts val="0"/>
              </a:spcBef>
              <a:buNone/>
              <a:defRPr/>
            </a:lvl2pPr>
            <a:lvl3pPr marL="0" lvl="2" indent="0" algn="ctr">
              <a:spcBef>
                <a:spcPts val="0"/>
              </a:spcBef>
              <a:buNone/>
              <a:defRPr/>
            </a:lvl3pPr>
            <a:lvl4pPr marL="0" lvl="3" indent="0" algn="ctr">
              <a:spcBef>
                <a:spcPts val="0"/>
              </a:spcBef>
              <a:buNone/>
              <a:defRPr/>
            </a:lvl4pPr>
            <a:lvl5pPr marL="0" lvl="4" indent="0" algn="ctr">
              <a:spcBef>
                <a:spcPts val="0"/>
              </a:spcBef>
              <a:buNone/>
              <a:defRPr/>
            </a:lvl5pPr>
            <a:lvl6pPr marL="0" lvl="5" indent="0" algn="ctr">
              <a:spcBef>
                <a:spcPts val="0"/>
              </a:spcBef>
              <a:buNone/>
              <a:defRPr/>
            </a:lvl6pPr>
            <a:lvl7pPr marL="0" lvl="6" indent="0" algn="ctr">
              <a:spcBef>
                <a:spcPts val="0"/>
              </a:spcBef>
              <a:buNone/>
              <a:defRPr/>
            </a:lvl7pPr>
            <a:lvl8pPr marL="0" lvl="7" indent="0" algn="ctr">
              <a:spcBef>
                <a:spcPts val="0"/>
              </a:spcBef>
              <a:buNone/>
              <a:defRPr/>
            </a:lvl8pPr>
            <a:lvl9pPr marL="0" lvl="8" indent="0" algn="ctr">
              <a:spcBef>
                <a:spcPts val="0"/>
              </a:spcBef>
              <a:buNone/>
              <a:defRPr/>
            </a:lvl9pPr>
          </a:lstStyle>
          <a:p>
            <a:pPr marL="0" lvl="0" indent="0" algn="ct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image" Target="../media/image3.jpg"/><Relationship Id="rId5" Type="http://schemas.openxmlformats.org/officeDocument/2006/relationships/slideLayout" Target="../slideLayouts/slideLayout5.xml"/><Relationship Id="rId10"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image" Target="../media/image1.jp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pic>
        <p:nvPicPr>
          <p:cNvPr id="10" name="Google Shape;10;p24"/>
          <p:cNvPicPr preferRelativeResize="0"/>
          <p:nvPr/>
        </p:nvPicPr>
        <p:blipFill rotWithShape="1">
          <a:blip r:embed="rId9">
            <a:alphaModFix/>
          </a:blip>
          <a:srcRect/>
          <a:stretch/>
        </p:blipFill>
        <p:spPr>
          <a:xfrm>
            <a:off x="0" y="0"/>
            <a:ext cx="9144000" cy="6858000"/>
          </a:xfrm>
          <a:prstGeom prst="rect">
            <a:avLst/>
          </a:prstGeom>
          <a:noFill/>
          <a:ln>
            <a:noFill/>
          </a:ln>
        </p:spPr>
      </p:pic>
      <p:sp>
        <p:nvSpPr>
          <p:cNvPr id="11" name="Google Shape;11;p24"/>
          <p:cNvSpPr txBox="1">
            <a:spLocks noGrp="1"/>
          </p:cNvSpPr>
          <p:nvPr>
            <p:ph type="title"/>
          </p:nvPr>
        </p:nvSpPr>
        <p:spPr>
          <a:xfrm>
            <a:off x="1105230" y="365126"/>
            <a:ext cx="7410119"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rgbClr val="08A6E2"/>
              </a:buClr>
              <a:buSzPts val="4000"/>
              <a:buFont typeface="Calibri"/>
              <a:buNone/>
              <a:defRPr sz="4000" b="1" i="0" u="none" strike="noStrike" cap="none">
                <a:solidFill>
                  <a:srgbClr val="08A6E2"/>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2" name="Google Shape;12;p24"/>
          <p:cNvSpPr txBox="1">
            <a:spLocks noGrp="1"/>
          </p:cNvSpPr>
          <p:nvPr>
            <p:ph type="body" idx="1"/>
          </p:nvPr>
        </p:nvSpPr>
        <p:spPr>
          <a:xfrm>
            <a:off x="1105230" y="1825625"/>
            <a:ext cx="7410119" cy="3925180"/>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20040" algn="l" rtl="0">
              <a:lnSpc>
                <a:spcPct val="90000"/>
              </a:lnSpc>
              <a:spcBef>
                <a:spcPts val="500"/>
              </a:spcBef>
              <a:spcAft>
                <a:spcPts val="0"/>
              </a:spcAft>
              <a:buClr>
                <a:schemeClr val="dk1"/>
              </a:buClr>
              <a:buSzPts val="1440"/>
              <a:buFont typeface="Courier New"/>
              <a:buChar char="o"/>
              <a:defRPr sz="24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500"/>
              </a:spcBef>
              <a:spcAft>
                <a:spcPts val="0"/>
              </a:spcAft>
              <a:buClr>
                <a:schemeClr val="dk1"/>
              </a:buClr>
              <a:buSzPts val="1500"/>
              <a:buFont typeface="Noto Sans Symbols"/>
              <a:buChar char="▪"/>
              <a:defRPr sz="20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500"/>
              </a:spcBef>
              <a:spcAft>
                <a:spcPts val="0"/>
              </a:spcAft>
              <a:buClr>
                <a:schemeClr val="dk1"/>
              </a:buClr>
              <a:buSzPts val="1350"/>
              <a:buFont typeface="Noto Sans Symbols"/>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3" name="Google Shape;13;p24"/>
          <p:cNvSpPr txBox="1">
            <a:spLocks noGrp="1"/>
          </p:cNvSpPr>
          <p:nvPr>
            <p:ph type="sldNum" idx="12"/>
          </p:nvPr>
        </p:nvSpPr>
        <p:spPr>
          <a:xfrm>
            <a:off x="1105230" y="6359608"/>
            <a:ext cx="7410119" cy="365125"/>
          </a:xfrm>
          <a:prstGeom prst="rect">
            <a:avLst/>
          </a:prstGeom>
          <a:noFill/>
          <a:ln>
            <a:noFill/>
          </a:ln>
        </p:spPr>
        <p:txBody>
          <a:bodyPr spcFirstLastPara="1" wrap="square" lIns="91425" tIns="45700" rIns="91425" bIns="45700" anchor="ctr" anchorCtr="0">
            <a:noAutofit/>
          </a:bodyPr>
          <a:lstStyle>
            <a:lvl1pPr marL="0" marR="0" lvl="0" indent="0" algn="ctr" rtl="0">
              <a:spcBef>
                <a:spcPts val="0"/>
              </a:spcBef>
              <a:buNone/>
              <a:defRPr sz="1100" b="0" i="0" u="none" strike="noStrike" cap="none">
                <a:solidFill>
                  <a:srgbClr val="A5A5A5"/>
                </a:solidFill>
                <a:latin typeface="Calibri"/>
                <a:ea typeface="Calibri"/>
                <a:cs typeface="Calibri"/>
                <a:sym typeface="Calibri"/>
              </a:defRPr>
            </a:lvl1pPr>
            <a:lvl2pPr marL="0" marR="0" lvl="1" indent="0" algn="ctr" rtl="0">
              <a:spcBef>
                <a:spcPts val="0"/>
              </a:spcBef>
              <a:buNone/>
              <a:defRPr sz="1100" b="0" i="0" u="none" strike="noStrike" cap="none">
                <a:solidFill>
                  <a:srgbClr val="A5A5A5"/>
                </a:solidFill>
                <a:latin typeface="Calibri"/>
                <a:ea typeface="Calibri"/>
                <a:cs typeface="Calibri"/>
                <a:sym typeface="Calibri"/>
              </a:defRPr>
            </a:lvl2pPr>
            <a:lvl3pPr marL="0" marR="0" lvl="2" indent="0" algn="ctr" rtl="0">
              <a:spcBef>
                <a:spcPts val="0"/>
              </a:spcBef>
              <a:buNone/>
              <a:defRPr sz="1100" b="0" i="0" u="none" strike="noStrike" cap="none">
                <a:solidFill>
                  <a:srgbClr val="A5A5A5"/>
                </a:solidFill>
                <a:latin typeface="Calibri"/>
                <a:ea typeface="Calibri"/>
                <a:cs typeface="Calibri"/>
                <a:sym typeface="Calibri"/>
              </a:defRPr>
            </a:lvl3pPr>
            <a:lvl4pPr marL="0" marR="0" lvl="3" indent="0" algn="ctr" rtl="0">
              <a:spcBef>
                <a:spcPts val="0"/>
              </a:spcBef>
              <a:buNone/>
              <a:defRPr sz="1100" b="0" i="0" u="none" strike="noStrike" cap="none">
                <a:solidFill>
                  <a:srgbClr val="A5A5A5"/>
                </a:solidFill>
                <a:latin typeface="Calibri"/>
                <a:ea typeface="Calibri"/>
                <a:cs typeface="Calibri"/>
                <a:sym typeface="Calibri"/>
              </a:defRPr>
            </a:lvl4pPr>
            <a:lvl5pPr marL="0" marR="0" lvl="4" indent="0" algn="ctr" rtl="0">
              <a:spcBef>
                <a:spcPts val="0"/>
              </a:spcBef>
              <a:buNone/>
              <a:defRPr sz="1100" b="0" i="0" u="none" strike="noStrike" cap="none">
                <a:solidFill>
                  <a:srgbClr val="A5A5A5"/>
                </a:solidFill>
                <a:latin typeface="Calibri"/>
                <a:ea typeface="Calibri"/>
                <a:cs typeface="Calibri"/>
                <a:sym typeface="Calibri"/>
              </a:defRPr>
            </a:lvl5pPr>
            <a:lvl6pPr marL="0" marR="0" lvl="5" indent="0" algn="ctr" rtl="0">
              <a:spcBef>
                <a:spcPts val="0"/>
              </a:spcBef>
              <a:buNone/>
              <a:defRPr sz="1100" b="0" i="0" u="none" strike="noStrike" cap="none">
                <a:solidFill>
                  <a:srgbClr val="A5A5A5"/>
                </a:solidFill>
                <a:latin typeface="Calibri"/>
                <a:ea typeface="Calibri"/>
                <a:cs typeface="Calibri"/>
                <a:sym typeface="Calibri"/>
              </a:defRPr>
            </a:lvl6pPr>
            <a:lvl7pPr marL="0" marR="0" lvl="6" indent="0" algn="ctr" rtl="0">
              <a:spcBef>
                <a:spcPts val="0"/>
              </a:spcBef>
              <a:buNone/>
              <a:defRPr sz="1100" b="0" i="0" u="none" strike="noStrike" cap="none">
                <a:solidFill>
                  <a:srgbClr val="A5A5A5"/>
                </a:solidFill>
                <a:latin typeface="Calibri"/>
                <a:ea typeface="Calibri"/>
                <a:cs typeface="Calibri"/>
                <a:sym typeface="Calibri"/>
              </a:defRPr>
            </a:lvl7pPr>
            <a:lvl8pPr marL="0" marR="0" lvl="7" indent="0" algn="ctr" rtl="0">
              <a:spcBef>
                <a:spcPts val="0"/>
              </a:spcBef>
              <a:buNone/>
              <a:defRPr sz="1100" b="0" i="0" u="none" strike="noStrike" cap="none">
                <a:solidFill>
                  <a:srgbClr val="A5A5A5"/>
                </a:solidFill>
                <a:latin typeface="Calibri"/>
                <a:ea typeface="Calibri"/>
                <a:cs typeface="Calibri"/>
                <a:sym typeface="Calibri"/>
              </a:defRPr>
            </a:lvl8pPr>
            <a:lvl9pPr marL="0" marR="0" lvl="8" indent="0" algn="ctr" rtl="0">
              <a:spcBef>
                <a:spcPts val="0"/>
              </a:spcBef>
              <a:buNone/>
              <a:defRPr sz="1100" b="0" i="0" u="none" strike="noStrike" cap="none">
                <a:solidFill>
                  <a:srgbClr val="A5A5A5"/>
                </a:solidFill>
                <a:latin typeface="Calibri"/>
                <a:ea typeface="Calibri"/>
                <a:cs typeface="Calibri"/>
                <a:sym typeface="Calibri"/>
              </a:defRPr>
            </a:lvl9pPr>
          </a:lstStyle>
          <a:p>
            <a:pPr marL="0" lvl="0" indent="0" algn="ctr" rtl="0">
              <a:spcBef>
                <a:spcPts val="0"/>
              </a:spcBef>
              <a:spcAft>
                <a:spcPts val="0"/>
              </a:spcAft>
              <a:buNone/>
            </a:pPr>
            <a:fld id="{00000000-1234-1234-1234-123412341234}" type="slidenum">
              <a:rPr lang="en-US"/>
              <a:t>‹#›</a:t>
            </a:fld>
            <a:endParaRPr/>
          </a:p>
        </p:txBody>
      </p:sp>
      <p:pic>
        <p:nvPicPr>
          <p:cNvPr id="14" name="Google Shape;14;p24"/>
          <p:cNvPicPr preferRelativeResize="0"/>
          <p:nvPr/>
        </p:nvPicPr>
        <p:blipFill rotWithShape="1">
          <a:blip r:embed="rId10">
            <a:alphaModFix/>
          </a:blip>
          <a:srcRect/>
          <a:stretch/>
        </p:blipFill>
        <p:spPr>
          <a:xfrm>
            <a:off x="7399317" y="6214075"/>
            <a:ext cx="1464800" cy="557597"/>
          </a:xfrm>
          <a:prstGeom prst="rect">
            <a:avLst/>
          </a:prstGeom>
          <a:noFill/>
          <a:ln>
            <a:noFill/>
          </a:ln>
        </p:spPr>
      </p:pic>
      <p:pic>
        <p:nvPicPr>
          <p:cNvPr id="15" name="Google Shape;15;p24"/>
          <p:cNvPicPr preferRelativeResize="0"/>
          <p:nvPr/>
        </p:nvPicPr>
        <p:blipFill rotWithShape="1">
          <a:blip r:embed="rId11">
            <a:alphaModFix/>
          </a:blip>
          <a:srcRect/>
          <a:stretch/>
        </p:blipFill>
        <p:spPr>
          <a:xfrm>
            <a:off x="279883" y="6292627"/>
            <a:ext cx="1578191" cy="392562"/>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extLst>
    <p:ext uri="{27BBF7A9-308A-43DC-89C8-2F10F3537804}">
      <p15:sldGuideLst xmlns:p15="http://schemas.microsoft.com/office/powerpoint/2012/main">
        <p15:guide id="1" orient="horz" pos="3624">
          <p15:clr>
            <a:srgbClr val="F26B43"/>
          </p15:clr>
        </p15:guide>
        <p15:guide id="2" pos="2880">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6.xml"/><Relationship Id="rId1" Type="http://schemas.openxmlformats.org/officeDocument/2006/relationships/slideLayout" Target="../slideLayouts/slideLayout3.xml"/><Relationship Id="rId4" Type="http://schemas.openxmlformats.org/officeDocument/2006/relationships/image" Target="../media/image10.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9.xml"/><Relationship Id="rId1" Type="http://schemas.openxmlformats.org/officeDocument/2006/relationships/slideLayout" Target="../slideLayouts/slideLayout4.xml"/><Relationship Id="rId4" Type="http://schemas.openxmlformats.org/officeDocument/2006/relationships/image" Target="../media/image12.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5.xml"/><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6.xml"/><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1.xml"/><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3.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4.xml"/><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7.xml"/><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8.xml"/><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9.xml"/><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30.xml"/><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32.xml"/><Relationship Id="rId1" Type="http://schemas.openxmlformats.org/officeDocument/2006/relationships/slideLayout" Target="../slideLayouts/slideLayout4.xml"/></Relationships>
</file>

<file path=ppt/slides/_rels/slide33.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33.xml"/><Relationship Id="rId1" Type="http://schemas.openxmlformats.org/officeDocument/2006/relationships/slideLayout" Target="../slideLayouts/slideLayout4.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4.xml"/></Relationships>
</file>

<file path=ppt/slides/_rels/slide35.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35.xml"/><Relationship Id="rId1" Type="http://schemas.openxmlformats.org/officeDocument/2006/relationships/slideLayout" Target="../slideLayouts/slideLayout4.xml"/><Relationship Id="rId5" Type="http://schemas.openxmlformats.org/officeDocument/2006/relationships/image" Target="../media/image30.png"/><Relationship Id="rId4" Type="http://schemas.openxmlformats.org/officeDocument/2006/relationships/image" Target="../media/image29.png"/></Relationships>
</file>

<file path=ppt/slides/_rels/slide36.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36.xml"/><Relationship Id="rId1" Type="http://schemas.openxmlformats.org/officeDocument/2006/relationships/slideLayout" Target="../slideLayouts/slideLayout4.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38.xml"/><Relationship Id="rId1" Type="http://schemas.openxmlformats.org/officeDocument/2006/relationships/slideLayout" Target="../slideLayouts/slideLayout4.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4.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42.xml"/><Relationship Id="rId1" Type="http://schemas.openxmlformats.org/officeDocument/2006/relationships/slideLayout" Target="../slideLayouts/slideLayout5.xml"/></Relationships>
</file>

<file path=ppt/slides/_rels/slide43.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43.xml"/><Relationship Id="rId1" Type="http://schemas.openxmlformats.org/officeDocument/2006/relationships/slideLayout" Target="../slideLayouts/slideLayout6.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45.xml"/><Relationship Id="rId1" Type="http://schemas.openxmlformats.org/officeDocument/2006/relationships/slideLayout" Target="../slideLayouts/slideLayout3.xml"/></Relationships>
</file>

<file path=ppt/slides/_rels/slide46.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46.xml"/><Relationship Id="rId1" Type="http://schemas.openxmlformats.org/officeDocument/2006/relationships/slideLayout" Target="../slideLayouts/slideLayout3.xml"/></Relationships>
</file>

<file path=ppt/slides/_rels/slide47.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47.xml"/><Relationship Id="rId1" Type="http://schemas.openxmlformats.org/officeDocument/2006/relationships/slideLayout" Target="../slideLayouts/slideLayout3.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49.xml"/><Relationship Id="rId1" Type="http://schemas.openxmlformats.org/officeDocument/2006/relationships/slideLayout" Target="../slideLayouts/slideLayout3.xml"/></Relationships>
</file>

<file path=ppt/slides/_rels/slide50.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50.xml"/><Relationship Id="rId1" Type="http://schemas.openxmlformats.org/officeDocument/2006/relationships/slideLayout" Target="../slideLayouts/slideLayout3.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0"/>
        <p:cNvGrpSpPr/>
        <p:nvPr/>
      </p:nvGrpSpPr>
      <p:grpSpPr>
        <a:xfrm>
          <a:off x="0" y="0"/>
          <a:ext cx="0" cy="0"/>
          <a:chOff x="0" y="0"/>
          <a:chExt cx="0" cy="0"/>
        </a:xfrm>
      </p:grpSpPr>
      <p:sp>
        <p:nvSpPr>
          <p:cNvPr id="51" name="Google Shape;51;g107d85dcbfc_3_0"/>
          <p:cNvSpPr txBox="1">
            <a:spLocks noGrp="1"/>
          </p:cNvSpPr>
          <p:nvPr>
            <p:ph type="ctrTitle"/>
          </p:nvPr>
        </p:nvSpPr>
        <p:spPr>
          <a:xfrm>
            <a:off x="1143000" y="831213"/>
            <a:ext cx="7315200" cy="2387700"/>
          </a:xfrm>
          <a:prstGeom prst="rect">
            <a:avLst/>
          </a:prstGeom>
        </p:spPr>
        <p:txBody>
          <a:bodyPr spcFirstLastPara="1" wrap="square" lIns="91425" tIns="45700" rIns="91425" bIns="45700" anchor="b" anchorCtr="0">
            <a:normAutofit/>
          </a:bodyPr>
          <a:lstStyle/>
          <a:p>
            <a:pPr marL="0" lvl="0" indent="0" algn="ctr" rtl="0">
              <a:spcBef>
                <a:spcPts val="0"/>
              </a:spcBef>
              <a:spcAft>
                <a:spcPts val="0"/>
              </a:spcAft>
              <a:buClr>
                <a:srgbClr val="08A6E2"/>
              </a:buClr>
              <a:buSzPts val="4000"/>
              <a:buFont typeface="Calibri"/>
              <a:buNone/>
            </a:pPr>
            <a:r>
              <a:rPr lang="en-US"/>
              <a:t>Zanzibar Low-Transmission Malaria Behavior Survey (MBS):</a:t>
            </a:r>
            <a:br>
              <a:rPr lang="en-US"/>
            </a:br>
            <a:r>
              <a:rPr lang="en-US"/>
              <a:t>Key Findings</a:t>
            </a:r>
            <a:endParaRPr/>
          </a:p>
        </p:txBody>
      </p:sp>
      <p:sp>
        <p:nvSpPr>
          <p:cNvPr id="52" name="Google Shape;52;g107d85dcbfc_3_0"/>
          <p:cNvSpPr txBox="1">
            <a:spLocks noGrp="1"/>
          </p:cNvSpPr>
          <p:nvPr>
            <p:ph type="subTitle" idx="1"/>
          </p:nvPr>
        </p:nvSpPr>
        <p:spPr>
          <a:xfrm>
            <a:off x="1143000" y="3607101"/>
            <a:ext cx="7315200" cy="1576500"/>
          </a:xfrm>
          <a:prstGeom prst="rect">
            <a:avLst/>
          </a:prstGeom>
        </p:spPr>
        <p:txBody>
          <a:bodyPr spcFirstLastPara="1" wrap="square" lIns="91425" tIns="45700" rIns="91425" bIns="45700" anchor="t" anchorCtr="0">
            <a:normAutofit lnSpcReduction="20000"/>
          </a:bodyPr>
          <a:lstStyle/>
          <a:p>
            <a:pPr marL="0" lvl="0" indent="0" algn="ctr" rtl="0">
              <a:spcBef>
                <a:spcPts val="1000"/>
              </a:spcBef>
              <a:spcAft>
                <a:spcPts val="0"/>
              </a:spcAft>
              <a:buNone/>
            </a:pPr>
            <a:r>
              <a:rPr lang="en-US" b="1"/>
              <a:t>Mwinyi Khamis</a:t>
            </a:r>
            <a:endParaRPr b="1"/>
          </a:p>
          <a:p>
            <a:pPr marL="0" lvl="0" indent="0" algn="ctr" rtl="0">
              <a:spcBef>
                <a:spcPts val="1000"/>
              </a:spcBef>
              <a:spcAft>
                <a:spcPts val="0"/>
              </a:spcAft>
              <a:buNone/>
            </a:pPr>
            <a:r>
              <a:rPr lang="en-US"/>
              <a:t>Co-Investigator for the MBS</a:t>
            </a:r>
            <a:endParaRPr/>
          </a:p>
          <a:p>
            <a:pPr marL="0" lvl="0" indent="0" algn="ctr" rtl="0">
              <a:spcBef>
                <a:spcPts val="1000"/>
              </a:spcBef>
              <a:spcAft>
                <a:spcPts val="0"/>
              </a:spcAft>
              <a:buNone/>
            </a:pPr>
            <a:r>
              <a:rPr lang="en-US"/>
              <a:t>Head SBCC/ITNs Unit</a:t>
            </a:r>
            <a:endParaRPr/>
          </a:p>
          <a:p>
            <a:pPr marL="0" lvl="0" indent="0" algn="ctr" rtl="0">
              <a:spcBef>
                <a:spcPts val="1000"/>
              </a:spcBef>
              <a:spcAft>
                <a:spcPts val="0"/>
              </a:spcAft>
              <a:buNone/>
            </a:pPr>
            <a:r>
              <a:rPr lang="en-US"/>
              <a:t>Zanzibar Malaria Elimination Program (ZAMEP) </a:t>
            </a:r>
            <a:endParaRPr/>
          </a:p>
        </p:txBody>
      </p:sp>
      <p:sp>
        <p:nvSpPr>
          <p:cNvPr id="53" name="Google Shape;53;g107d85dcbfc_3_0"/>
          <p:cNvSpPr txBox="1">
            <a:spLocks noGrp="1"/>
          </p:cNvSpPr>
          <p:nvPr>
            <p:ph type="body" idx="2"/>
          </p:nvPr>
        </p:nvSpPr>
        <p:spPr>
          <a:xfrm>
            <a:off x="1143000" y="5183601"/>
            <a:ext cx="7315200" cy="833400"/>
          </a:xfrm>
          <a:prstGeom prst="rect">
            <a:avLst/>
          </a:prstGeom>
        </p:spPr>
        <p:txBody>
          <a:bodyPr spcFirstLastPara="1" wrap="square" lIns="91425" tIns="45700" rIns="91425" bIns="45700" anchor="t" anchorCtr="0">
            <a:noAutofit/>
          </a:bodyPr>
          <a:lstStyle/>
          <a:p>
            <a:pPr marL="0" lvl="0" indent="0" algn="ctr" rtl="0">
              <a:spcBef>
                <a:spcPts val="0"/>
              </a:spcBef>
              <a:spcAft>
                <a:spcPts val="0"/>
              </a:spcAft>
              <a:buNone/>
            </a:pPr>
            <a:r>
              <a:rPr lang="en-US" sz="1900"/>
              <a:t>Introductions and Welcome</a:t>
            </a:r>
            <a:endParaRPr sz="190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57"/>
        <p:cNvGrpSpPr/>
        <p:nvPr/>
      </p:nvGrpSpPr>
      <p:grpSpPr>
        <a:xfrm>
          <a:off x="0" y="0"/>
          <a:ext cx="0" cy="0"/>
          <a:chOff x="0" y="0"/>
          <a:chExt cx="0" cy="0"/>
        </a:xfrm>
      </p:grpSpPr>
      <p:sp>
        <p:nvSpPr>
          <p:cNvPr id="58" name="Google Shape;58;p1"/>
          <p:cNvSpPr txBox="1">
            <a:spLocks noGrp="1"/>
          </p:cNvSpPr>
          <p:nvPr>
            <p:ph type="ctrTitle"/>
          </p:nvPr>
        </p:nvSpPr>
        <p:spPr>
          <a:xfrm>
            <a:off x="1021195" y="925118"/>
            <a:ext cx="7315200" cy="2387700"/>
          </a:xfrm>
          <a:prstGeom prst="rect">
            <a:avLst/>
          </a:prstGeom>
          <a:noFill/>
          <a:ln>
            <a:noFill/>
          </a:ln>
        </p:spPr>
        <p:txBody>
          <a:bodyPr spcFirstLastPara="1" wrap="square" lIns="91425" tIns="45700" rIns="91425" bIns="45700" anchor="b" anchorCtr="0">
            <a:normAutofit/>
          </a:bodyPr>
          <a:lstStyle/>
          <a:p>
            <a:pPr marL="0" lvl="0" indent="0" algn="ctr" rtl="0">
              <a:lnSpc>
                <a:spcPct val="90000"/>
              </a:lnSpc>
              <a:spcBef>
                <a:spcPts val="0"/>
              </a:spcBef>
              <a:spcAft>
                <a:spcPts val="0"/>
              </a:spcAft>
              <a:buClr>
                <a:srgbClr val="08A6E2"/>
              </a:buClr>
              <a:buSzPts val="4000"/>
              <a:buFont typeface="Calibri"/>
              <a:buNone/>
            </a:pPr>
            <a:r>
              <a:rPr lang="en-US"/>
              <a:t>Zanzibar Low-Transmission Malaria Behavior Survey (MBS):</a:t>
            </a:r>
            <a:br>
              <a:rPr lang="en-US"/>
            </a:br>
            <a:r>
              <a:rPr lang="en-US"/>
              <a:t>Key Findings</a:t>
            </a:r>
            <a:endParaRPr/>
          </a:p>
        </p:txBody>
      </p:sp>
      <p:sp>
        <p:nvSpPr>
          <p:cNvPr id="59" name="Google Shape;59;p1"/>
          <p:cNvSpPr txBox="1">
            <a:spLocks noGrp="1"/>
          </p:cNvSpPr>
          <p:nvPr>
            <p:ph type="subTitle" idx="1"/>
          </p:nvPr>
        </p:nvSpPr>
        <p:spPr>
          <a:xfrm>
            <a:off x="899410" y="3312826"/>
            <a:ext cx="7558790" cy="914400"/>
          </a:xfrm>
          <a:prstGeom prst="rect">
            <a:avLst/>
          </a:prstGeom>
          <a:noFill/>
          <a:ln>
            <a:noFill/>
          </a:ln>
        </p:spPr>
        <p:txBody>
          <a:bodyPr spcFirstLastPara="1" wrap="square" lIns="91425" tIns="45700" rIns="91425" bIns="45700" anchor="t" anchorCtr="0">
            <a:normAutofit/>
          </a:bodyPr>
          <a:lstStyle/>
          <a:p>
            <a:pPr marL="0" lvl="0" indent="0" algn="ctr" rtl="0">
              <a:lnSpc>
                <a:spcPct val="90000"/>
              </a:lnSpc>
              <a:spcBef>
                <a:spcPts val="0"/>
              </a:spcBef>
              <a:spcAft>
                <a:spcPts val="0"/>
              </a:spcAft>
              <a:buClr>
                <a:schemeClr val="dk1"/>
              </a:buClr>
              <a:buSzPts val="2400"/>
              <a:buNone/>
            </a:pPr>
            <a:r>
              <a:rPr lang="en-US"/>
              <a:t>Johns Hopkins University</a:t>
            </a:r>
            <a:endParaRPr/>
          </a:p>
          <a:p>
            <a:pPr marL="0" lvl="0" indent="0" algn="ctr" rtl="0">
              <a:lnSpc>
                <a:spcPct val="90000"/>
              </a:lnSpc>
              <a:spcBef>
                <a:spcPts val="1000"/>
              </a:spcBef>
              <a:spcAft>
                <a:spcPts val="0"/>
              </a:spcAft>
              <a:buClr>
                <a:schemeClr val="dk1"/>
              </a:buClr>
              <a:buSzPts val="2400"/>
              <a:buNone/>
            </a:pPr>
            <a:r>
              <a:rPr lang="en-US"/>
              <a:t>Center for Communication Programs </a:t>
            </a:r>
            <a:endParaRPr/>
          </a:p>
        </p:txBody>
      </p:sp>
      <p:sp>
        <p:nvSpPr>
          <p:cNvPr id="60" name="Google Shape;60;p1"/>
          <p:cNvSpPr txBox="1">
            <a:spLocks noGrp="1"/>
          </p:cNvSpPr>
          <p:nvPr>
            <p:ph type="body" idx="2"/>
          </p:nvPr>
        </p:nvSpPr>
        <p:spPr>
          <a:xfrm>
            <a:off x="1021205" y="4388443"/>
            <a:ext cx="7315199" cy="572811"/>
          </a:xfrm>
          <a:prstGeom prst="rect">
            <a:avLst/>
          </a:prstGeom>
          <a:noFill/>
          <a:ln>
            <a:noFill/>
          </a:ln>
        </p:spPr>
        <p:txBody>
          <a:bodyPr spcFirstLastPara="1" wrap="square" lIns="91425" tIns="45700" rIns="91425" bIns="45700" anchor="t" anchorCtr="0">
            <a:noAutofit/>
          </a:bodyPr>
          <a:lstStyle/>
          <a:p>
            <a:pPr marL="0" lvl="0" indent="0" algn="ctr" rtl="0">
              <a:lnSpc>
                <a:spcPct val="100000"/>
              </a:lnSpc>
              <a:spcBef>
                <a:spcPts val="0"/>
              </a:spcBef>
              <a:spcAft>
                <a:spcPts val="0"/>
              </a:spcAft>
              <a:buClr>
                <a:schemeClr val="dk1"/>
              </a:buClr>
              <a:buSzPts val="2000"/>
              <a:buNone/>
            </a:pPr>
            <a:endParaRPr/>
          </a:p>
          <a:p>
            <a:pPr marL="0" lvl="0" indent="0" algn="ctr" rtl="0">
              <a:lnSpc>
                <a:spcPct val="100000"/>
              </a:lnSpc>
              <a:spcBef>
                <a:spcPts val="0"/>
              </a:spcBef>
              <a:spcAft>
                <a:spcPts val="0"/>
              </a:spcAft>
              <a:buClr>
                <a:schemeClr val="dk1"/>
              </a:buClr>
              <a:buSzPts val="2000"/>
              <a:buNone/>
            </a:pPr>
            <a:r>
              <a:rPr lang="en-US" sz="2000" b="0"/>
              <a:t> Carol Underwood, PhD</a:t>
            </a:r>
            <a:endParaRPr sz="2000" b="0"/>
          </a:p>
          <a:p>
            <a:pPr marL="0" lvl="0" indent="0" algn="ctr" rtl="0">
              <a:spcBef>
                <a:spcPts val="0"/>
              </a:spcBef>
              <a:spcAft>
                <a:spcPts val="0"/>
              </a:spcAft>
              <a:buClr>
                <a:schemeClr val="dk1"/>
              </a:buClr>
              <a:buSzPts val="2000"/>
              <a:buNone/>
            </a:pPr>
            <a:r>
              <a:rPr lang="en-US" sz="2000" b="0"/>
              <a:t>Ruchita Pillai, MHS</a:t>
            </a:r>
            <a:endParaRPr/>
          </a:p>
          <a:p>
            <a:pPr marL="0" lvl="0" indent="0" algn="ctr" rtl="0">
              <a:lnSpc>
                <a:spcPct val="100000"/>
              </a:lnSpc>
              <a:spcBef>
                <a:spcPts val="0"/>
              </a:spcBef>
              <a:spcAft>
                <a:spcPts val="0"/>
              </a:spcAft>
              <a:buClr>
                <a:schemeClr val="dk1"/>
              </a:buClr>
              <a:buSzPts val="2000"/>
              <a:buNone/>
            </a:pPr>
            <a:endParaRPr sz="2000" b="0"/>
          </a:p>
          <a:p>
            <a:pPr marL="0" lvl="0" indent="0" algn="ctr" rtl="0">
              <a:lnSpc>
                <a:spcPct val="100000"/>
              </a:lnSpc>
              <a:spcBef>
                <a:spcPts val="0"/>
              </a:spcBef>
              <a:spcAft>
                <a:spcPts val="0"/>
              </a:spcAft>
              <a:buClr>
                <a:schemeClr val="dk1"/>
              </a:buClr>
              <a:buSzPts val="2000"/>
              <a:buNone/>
            </a:pPr>
            <a:endParaRPr sz="2000" b="0"/>
          </a:p>
          <a:p>
            <a:pPr marL="0" lvl="0" indent="0" algn="ctr" rtl="0">
              <a:lnSpc>
                <a:spcPct val="100000"/>
              </a:lnSpc>
              <a:spcBef>
                <a:spcPts val="0"/>
              </a:spcBef>
              <a:spcAft>
                <a:spcPts val="0"/>
              </a:spcAft>
              <a:buClr>
                <a:schemeClr val="dk1"/>
              </a:buClr>
              <a:buSzPts val="2000"/>
              <a:buNone/>
            </a:pPr>
            <a:r>
              <a:rPr lang="en-US" sz="2000" b="0"/>
              <a:t>December 16, 2021</a:t>
            </a:r>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64"/>
        <p:cNvGrpSpPr/>
        <p:nvPr/>
      </p:nvGrpSpPr>
      <p:grpSpPr>
        <a:xfrm>
          <a:off x="0" y="0"/>
          <a:ext cx="0" cy="0"/>
          <a:chOff x="0" y="0"/>
          <a:chExt cx="0" cy="0"/>
        </a:xfrm>
      </p:grpSpPr>
      <p:sp>
        <p:nvSpPr>
          <p:cNvPr id="65" name="Google Shape;65;p2"/>
          <p:cNvSpPr txBox="1">
            <a:spLocks noGrp="1"/>
          </p:cNvSpPr>
          <p:nvPr>
            <p:ph type="title"/>
          </p:nvPr>
        </p:nvSpPr>
        <p:spPr>
          <a:xfrm>
            <a:off x="623888" y="1709739"/>
            <a:ext cx="7886700" cy="2852737"/>
          </a:xfrm>
          <a:prstGeom prst="rect">
            <a:avLst/>
          </a:prstGeom>
          <a:noFill/>
          <a:ln>
            <a:noFill/>
          </a:ln>
        </p:spPr>
        <p:txBody>
          <a:bodyPr spcFirstLastPara="1" wrap="square" lIns="91425" tIns="45700" rIns="91425" bIns="45700" anchor="b" anchorCtr="0">
            <a:normAutofit/>
          </a:bodyPr>
          <a:lstStyle/>
          <a:p>
            <a:pPr marL="0" lvl="0" indent="0" algn="l" rtl="0">
              <a:lnSpc>
                <a:spcPct val="90000"/>
              </a:lnSpc>
              <a:spcBef>
                <a:spcPts val="0"/>
              </a:spcBef>
              <a:spcAft>
                <a:spcPts val="0"/>
              </a:spcAft>
              <a:buClr>
                <a:schemeClr val="lt1"/>
              </a:buClr>
              <a:buSzPts val="4400"/>
              <a:buFont typeface="Calibri"/>
              <a:buNone/>
            </a:pPr>
            <a:r>
              <a:rPr lang="en-US"/>
              <a:t>MBS Study Objectives, Methods, Design</a:t>
            </a:r>
            <a:endParaRPr/>
          </a:p>
        </p:txBody>
      </p:sp>
      <p:sp>
        <p:nvSpPr>
          <p:cNvPr id="66" name="Google Shape;66;p2"/>
          <p:cNvSpPr txBox="1">
            <a:spLocks noGrp="1"/>
          </p:cNvSpPr>
          <p:nvPr>
            <p:ph type="body" idx="1"/>
          </p:nvPr>
        </p:nvSpPr>
        <p:spPr>
          <a:xfrm>
            <a:off x="623888" y="4589464"/>
            <a:ext cx="7886700" cy="1500187"/>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chemeClr val="lt1"/>
              </a:buClr>
              <a:buSzPts val="2400"/>
              <a:buNone/>
            </a:pPr>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70"/>
        <p:cNvGrpSpPr/>
        <p:nvPr/>
      </p:nvGrpSpPr>
      <p:grpSpPr>
        <a:xfrm>
          <a:off x="0" y="0"/>
          <a:ext cx="0" cy="0"/>
          <a:chOff x="0" y="0"/>
          <a:chExt cx="0" cy="0"/>
        </a:xfrm>
      </p:grpSpPr>
      <p:sp>
        <p:nvSpPr>
          <p:cNvPr id="71" name="Google Shape;71;p3"/>
          <p:cNvSpPr txBox="1">
            <a:spLocks noGrp="1"/>
          </p:cNvSpPr>
          <p:nvPr>
            <p:ph type="title"/>
          </p:nvPr>
        </p:nvSpPr>
        <p:spPr>
          <a:xfrm>
            <a:off x="1105230" y="365126"/>
            <a:ext cx="7410119"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08A6E2"/>
              </a:buClr>
              <a:buSzPts val="4000"/>
              <a:buFont typeface="Calibri"/>
              <a:buNone/>
            </a:pPr>
            <a:r>
              <a:rPr lang="en-US"/>
              <a:t>MBS Objectives</a:t>
            </a:r>
            <a:endParaRPr/>
          </a:p>
        </p:txBody>
      </p:sp>
      <p:sp>
        <p:nvSpPr>
          <p:cNvPr id="72" name="Google Shape;72;p3"/>
          <p:cNvSpPr txBox="1">
            <a:spLocks noGrp="1"/>
          </p:cNvSpPr>
          <p:nvPr>
            <p:ph type="body" idx="1"/>
          </p:nvPr>
        </p:nvSpPr>
        <p:spPr>
          <a:xfrm>
            <a:off x="685799" y="1752600"/>
            <a:ext cx="8045245" cy="4114800"/>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chemeClr val="dk1"/>
              </a:buClr>
              <a:buSzPts val="2800"/>
              <a:buChar char="•"/>
            </a:pPr>
            <a:r>
              <a:rPr lang="en-US"/>
              <a:t>Inform SBC strategies and programs.</a:t>
            </a:r>
            <a:endParaRPr/>
          </a:p>
          <a:p>
            <a:pPr marL="685800" lvl="1" indent="-228600" algn="l" rtl="0">
              <a:lnSpc>
                <a:spcPct val="90000"/>
              </a:lnSpc>
              <a:spcBef>
                <a:spcPts val="500"/>
              </a:spcBef>
              <a:spcAft>
                <a:spcPts val="0"/>
              </a:spcAft>
              <a:buClr>
                <a:schemeClr val="dk1"/>
              </a:buClr>
              <a:buSzPts val="1440"/>
              <a:buChar char="o"/>
            </a:pPr>
            <a:r>
              <a:rPr lang="en-US"/>
              <a:t>Identify and understand the demographic, ideational (e.g., knowledge, social norms, self-efficacy, intention) and contextual factors associated with:</a:t>
            </a:r>
            <a:endParaRPr/>
          </a:p>
          <a:p>
            <a:pPr marL="1143000" lvl="2" indent="-228600" algn="l" rtl="0">
              <a:lnSpc>
                <a:spcPct val="90000"/>
              </a:lnSpc>
              <a:spcBef>
                <a:spcPts val="500"/>
              </a:spcBef>
              <a:spcAft>
                <a:spcPts val="0"/>
              </a:spcAft>
              <a:buClr>
                <a:schemeClr val="dk1"/>
              </a:buClr>
              <a:buSzPts val="1500"/>
              <a:buChar char="▪"/>
            </a:pPr>
            <a:r>
              <a:rPr lang="en-US"/>
              <a:t>The use and maintenance of mosquito nets;</a:t>
            </a:r>
            <a:endParaRPr/>
          </a:p>
          <a:p>
            <a:pPr marL="1143000" lvl="2" indent="-228600" algn="l" rtl="0">
              <a:lnSpc>
                <a:spcPct val="90000"/>
              </a:lnSpc>
              <a:spcBef>
                <a:spcPts val="500"/>
              </a:spcBef>
              <a:spcAft>
                <a:spcPts val="0"/>
              </a:spcAft>
              <a:buClr>
                <a:schemeClr val="dk1"/>
              </a:buClr>
              <a:buSzPts val="1500"/>
              <a:buChar char="▪"/>
            </a:pPr>
            <a:r>
              <a:rPr lang="en-US"/>
              <a:t>Prompt and appropriate treatment of fever;</a:t>
            </a:r>
            <a:endParaRPr/>
          </a:p>
          <a:p>
            <a:pPr marL="1143000" lvl="2" indent="-228600" algn="l" rtl="0">
              <a:lnSpc>
                <a:spcPct val="90000"/>
              </a:lnSpc>
              <a:spcBef>
                <a:spcPts val="500"/>
              </a:spcBef>
              <a:spcAft>
                <a:spcPts val="0"/>
              </a:spcAft>
              <a:buClr>
                <a:schemeClr val="dk1"/>
              </a:buClr>
              <a:buSzPts val="1500"/>
              <a:buChar char="▪"/>
            </a:pPr>
            <a:r>
              <a:rPr lang="en-US"/>
              <a:t>Larval-source management</a:t>
            </a:r>
            <a:endParaRPr/>
          </a:p>
          <a:p>
            <a:pPr marL="1143000" lvl="2" indent="-228600" algn="l" rtl="0">
              <a:lnSpc>
                <a:spcPct val="90000"/>
              </a:lnSpc>
              <a:spcBef>
                <a:spcPts val="500"/>
              </a:spcBef>
              <a:spcAft>
                <a:spcPts val="0"/>
              </a:spcAft>
              <a:buClr>
                <a:schemeClr val="dk1"/>
              </a:buClr>
              <a:buSzPts val="1500"/>
              <a:buChar char="▪"/>
            </a:pPr>
            <a:r>
              <a:rPr lang="en-US"/>
              <a:t>IRS</a:t>
            </a:r>
            <a:endParaRPr/>
          </a:p>
          <a:p>
            <a:pPr marL="1143000" lvl="2" indent="-228600" algn="l" rtl="0">
              <a:lnSpc>
                <a:spcPct val="90000"/>
              </a:lnSpc>
              <a:spcBef>
                <a:spcPts val="500"/>
              </a:spcBef>
              <a:spcAft>
                <a:spcPts val="0"/>
              </a:spcAft>
              <a:buClr>
                <a:schemeClr val="dk1"/>
              </a:buClr>
              <a:buSzPts val="1500"/>
              <a:buChar char="▪"/>
            </a:pPr>
            <a:r>
              <a:rPr lang="en-US"/>
              <a:t>Reactive case detection</a:t>
            </a:r>
            <a:endParaRPr/>
          </a:p>
          <a:p>
            <a:pPr marL="1143000" lvl="2" indent="-228600" algn="l" rtl="0">
              <a:lnSpc>
                <a:spcPct val="90000"/>
              </a:lnSpc>
              <a:spcBef>
                <a:spcPts val="500"/>
              </a:spcBef>
              <a:spcAft>
                <a:spcPts val="0"/>
              </a:spcAft>
              <a:buClr>
                <a:schemeClr val="dk1"/>
              </a:buClr>
              <a:buSzPts val="1500"/>
              <a:buChar char="▪"/>
            </a:pPr>
            <a:r>
              <a:rPr lang="en-US"/>
              <a:t>Mass drug administration</a:t>
            </a:r>
            <a:endParaRPr/>
          </a:p>
          <a:p>
            <a:pPr marL="685800" lvl="1" indent="-228600" algn="l" rtl="0">
              <a:lnSpc>
                <a:spcPct val="90000"/>
              </a:lnSpc>
              <a:spcBef>
                <a:spcPts val="500"/>
              </a:spcBef>
              <a:spcAft>
                <a:spcPts val="0"/>
              </a:spcAft>
              <a:buClr>
                <a:schemeClr val="dk1"/>
              </a:buClr>
              <a:buSzPts val="1440"/>
              <a:buChar char="o"/>
            </a:pPr>
            <a:r>
              <a:rPr lang="en-US"/>
              <a:t>Assess recall of, participation in, malaria-related SBC</a:t>
            </a:r>
            <a:endParaRPr/>
          </a:p>
        </p:txBody>
      </p:sp>
      <p:pic>
        <p:nvPicPr>
          <p:cNvPr id="73" name="Google Shape;73;p3" descr="Bullseye"/>
          <p:cNvPicPr preferRelativeResize="0"/>
          <p:nvPr/>
        </p:nvPicPr>
        <p:blipFill rotWithShape="1">
          <a:blip r:embed="rId3">
            <a:alphaModFix/>
          </a:blip>
          <a:srcRect/>
          <a:stretch/>
        </p:blipFill>
        <p:spPr>
          <a:xfrm>
            <a:off x="6662056" y="244135"/>
            <a:ext cx="1965961" cy="1965961"/>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78"/>
        <p:cNvGrpSpPr/>
        <p:nvPr/>
      </p:nvGrpSpPr>
      <p:grpSpPr>
        <a:xfrm>
          <a:off x="0" y="0"/>
          <a:ext cx="0" cy="0"/>
          <a:chOff x="0" y="0"/>
          <a:chExt cx="0" cy="0"/>
        </a:xfrm>
      </p:grpSpPr>
      <p:sp>
        <p:nvSpPr>
          <p:cNvPr id="79" name="Google Shape;79;g107a3637e0a_1_0"/>
          <p:cNvSpPr txBox="1">
            <a:spLocks noGrp="1"/>
          </p:cNvSpPr>
          <p:nvPr>
            <p:ph type="title"/>
          </p:nvPr>
        </p:nvSpPr>
        <p:spPr>
          <a:xfrm>
            <a:off x="1105230" y="123251"/>
            <a:ext cx="7410000" cy="1325700"/>
          </a:xfrm>
          <a:prstGeom prst="rect">
            <a:avLst/>
          </a:prstGeom>
        </p:spPr>
        <p:txBody>
          <a:bodyPr spcFirstLastPara="1" wrap="square" lIns="91425" tIns="45700" rIns="91425" bIns="45700" anchor="ctr" anchorCtr="0">
            <a:normAutofit/>
          </a:bodyPr>
          <a:lstStyle/>
          <a:p>
            <a:pPr marL="0" lvl="0" indent="0" algn="l" rtl="0">
              <a:spcBef>
                <a:spcPts val="0"/>
              </a:spcBef>
              <a:spcAft>
                <a:spcPts val="0"/>
              </a:spcAft>
              <a:buNone/>
            </a:pPr>
            <a:r>
              <a:rPr lang="en-US"/>
              <a:t>Conceptual Framework</a:t>
            </a:r>
            <a:endParaRPr/>
          </a:p>
        </p:txBody>
      </p:sp>
      <p:sp>
        <p:nvSpPr>
          <p:cNvPr id="80" name="Google Shape;80;g107a3637e0a_1_0"/>
          <p:cNvSpPr txBox="1">
            <a:spLocks noGrp="1"/>
          </p:cNvSpPr>
          <p:nvPr>
            <p:ph type="sldNum" idx="12"/>
          </p:nvPr>
        </p:nvSpPr>
        <p:spPr>
          <a:xfrm>
            <a:off x="1105230" y="6359608"/>
            <a:ext cx="7410000" cy="365100"/>
          </a:xfrm>
          <a:prstGeom prst="rect">
            <a:avLst/>
          </a:prstGeom>
        </p:spPr>
        <p:txBody>
          <a:bodyPr spcFirstLastPara="1" wrap="square" lIns="91425" tIns="45700" rIns="91425" bIns="45700" anchor="ctr" anchorCtr="0">
            <a:noAutofit/>
          </a:bodyPr>
          <a:lstStyle/>
          <a:p>
            <a:pPr marL="0" lvl="0" indent="0" algn="ctr" rtl="0">
              <a:spcBef>
                <a:spcPts val="0"/>
              </a:spcBef>
              <a:spcAft>
                <a:spcPts val="0"/>
              </a:spcAft>
              <a:buClr>
                <a:srgbClr val="000000"/>
              </a:buClr>
              <a:buFont typeface="Arial"/>
              <a:buNone/>
            </a:pPr>
            <a:fld id="{00000000-1234-1234-1234-123412341234}" type="slidenum">
              <a:rPr lang="en-US"/>
              <a:t>5</a:t>
            </a:fld>
            <a:endParaRPr/>
          </a:p>
        </p:txBody>
      </p:sp>
      <p:pic>
        <p:nvPicPr>
          <p:cNvPr id="81" name="Google Shape;81;g107a3637e0a_1_0"/>
          <p:cNvPicPr preferRelativeResize="0"/>
          <p:nvPr/>
        </p:nvPicPr>
        <p:blipFill>
          <a:blip r:embed="rId3">
            <a:alphaModFix/>
          </a:blip>
          <a:stretch>
            <a:fillRect/>
          </a:stretch>
        </p:blipFill>
        <p:spPr>
          <a:xfrm>
            <a:off x="991850" y="1293025"/>
            <a:ext cx="7189375" cy="495315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0">
  <p:cSld>
    <p:spTree>
      <p:nvGrpSpPr>
        <p:cNvPr id="1" name="Shape 85"/>
        <p:cNvGrpSpPr/>
        <p:nvPr/>
      </p:nvGrpSpPr>
      <p:grpSpPr>
        <a:xfrm>
          <a:off x="0" y="0"/>
          <a:ext cx="0" cy="0"/>
          <a:chOff x="0" y="0"/>
          <a:chExt cx="0" cy="0"/>
        </a:xfrm>
      </p:grpSpPr>
      <p:sp>
        <p:nvSpPr>
          <p:cNvPr id="86" name="Google Shape;86;p4"/>
          <p:cNvSpPr txBox="1">
            <a:spLocks noGrp="1"/>
          </p:cNvSpPr>
          <p:nvPr>
            <p:ph type="title"/>
          </p:nvPr>
        </p:nvSpPr>
        <p:spPr>
          <a:xfrm>
            <a:off x="1105230" y="505803"/>
            <a:ext cx="803877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08A6E2"/>
              </a:buClr>
              <a:buSzPts val="3600"/>
              <a:buFont typeface="Calibri"/>
              <a:buNone/>
            </a:pPr>
            <a:r>
              <a:rPr lang="en-US" sz="3600"/>
              <a:t>Methodology: Sample size</a:t>
            </a:r>
            <a:endParaRPr/>
          </a:p>
        </p:txBody>
      </p:sp>
      <p:sp>
        <p:nvSpPr>
          <p:cNvPr id="87" name="Google Shape;87;p4"/>
          <p:cNvSpPr txBox="1">
            <a:spLocks noGrp="1"/>
          </p:cNvSpPr>
          <p:nvPr>
            <p:ph type="body" idx="1"/>
          </p:nvPr>
        </p:nvSpPr>
        <p:spPr>
          <a:xfrm>
            <a:off x="104931" y="1831365"/>
            <a:ext cx="8699100" cy="4632183"/>
          </a:xfrm>
          <a:prstGeom prst="rect">
            <a:avLst/>
          </a:prstGeom>
          <a:blipFill rotWithShape="1">
            <a:blip r:embed="rId3">
              <a:alphaModFix/>
            </a:blip>
            <a:stretch>
              <a:fillRect l="-581" t="-546" r="-874"/>
            </a:stretch>
          </a:blip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SzPts val="2800"/>
              <a:buChar char="•"/>
            </a:pPr>
            <a:r>
              <a:rPr lang="en-US"/>
              <a:t> </a:t>
            </a:r>
            <a:endParaRPr/>
          </a:p>
        </p:txBody>
      </p:sp>
      <p:pic>
        <p:nvPicPr>
          <p:cNvPr id="88" name="Google Shape;88;p4" descr="Gears"/>
          <p:cNvPicPr preferRelativeResize="0"/>
          <p:nvPr/>
        </p:nvPicPr>
        <p:blipFill rotWithShape="1">
          <a:blip r:embed="rId4">
            <a:alphaModFix/>
          </a:blip>
          <a:srcRect/>
          <a:stretch/>
        </p:blipFill>
        <p:spPr>
          <a:xfrm>
            <a:off x="6387737" y="394451"/>
            <a:ext cx="2054834" cy="2054834"/>
          </a:xfrm>
          <a:prstGeom prst="rect">
            <a:avLst/>
          </a:prstGeom>
          <a:noFill/>
          <a:ln>
            <a:noFill/>
          </a:ln>
        </p:spPr>
      </p:pic>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92"/>
        <p:cNvGrpSpPr/>
        <p:nvPr/>
      </p:nvGrpSpPr>
      <p:grpSpPr>
        <a:xfrm>
          <a:off x="0" y="0"/>
          <a:ext cx="0" cy="0"/>
          <a:chOff x="0" y="0"/>
          <a:chExt cx="0" cy="0"/>
        </a:xfrm>
      </p:grpSpPr>
      <p:graphicFrame>
        <p:nvGraphicFramePr>
          <p:cNvPr id="93" name="Google Shape;93;p5"/>
          <p:cNvGraphicFramePr/>
          <p:nvPr/>
        </p:nvGraphicFramePr>
        <p:xfrm>
          <a:off x="569626" y="2113613"/>
          <a:ext cx="7669500" cy="3958788"/>
        </p:xfrm>
        <a:graphic>
          <a:graphicData uri="http://schemas.openxmlformats.org/drawingml/2006/table">
            <a:tbl>
              <a:tblPr firstRow="1" firstCol="1" bandRow="1">
                <a:noFill/>
                <a:tableStyleId>{12002221-D99D-4A1F-90BA-900520C405C4}</a:tableStyleId>
              </a:tblPr>
              <a:tblGrid>
                <a:gridCol w="3832975">
                  <a:extLst>
                    <a:ext uri="{9D8B030D-6E8A-4147-A177-3AD203B41FA5}">
                      <a16:colId xmlns:a16="http://schemas.microsoft.com/office/drawing/2014/main" val="20000"/>
                    </a:ext>
                  </a:extLst>
                </a:gridCol>
                <a:gridCol w="959125">
                  <a:extLst>
                    <a:ext uri="{9D8B030D-6E8A-4147-A177-3AD203B41FA5}">
                      <a16:colId xmlns:a16="http://schemas.microsoft.com/office/drawing/2014/main" val="20001"/>
                    </a:ext>
                  </a:extLst>
                </a:gridCol>
                <a:gridCol w="1662500">
                  <a:extLst>
                    <a:ext uri="{9D8B030D-6E8A-4147-A177-3AD203B41FA5}">
                      <a16:colId xmlns:a16="http://schemas.microsoft.com/office/drawing/2014/main" val="20002"/>
                    </a:ext>
                  </a:extLst>
                </a:gridCol>
                <a:gridCol w="1214900">
                  <a:extLst>
                    <a:ext uri="{9D8B030D-6E8A-4147-A177-3AD203B41FA5}">
                      <a16:colId xmlns:a16="http://schemas.microsoft.com/office/drawing/2014/main" val="20003"/>
                    </a:ext>
                  </a:extLst>
                </a:gridCol>
              </a:tblGrid>
              <a:tr h="350800">
                <a:tc gridSpan="4">
                  <a:txBody>
                    <a:bodyPr/>
                    <a:lstStyle/>
                    <a:p>
                      <a:pPr marL="0" marR="0" lvl="0" indent="0" algn="l" rtl="0">
                        <a:lnSpc>
                          <a:spcPct val="115000"/>
                        </a:lnSpc>
                        <a:spcBef>
                          <a:spcPts val="0"/>
                        </a:spcBef>
                        <a:spcAft>
                          <a:spcPts val="0"/>
                        </a:spcAft>
                        <a:buNone/>
                      </a:pPr>
                      <a:r>
                        <a:rPr lang="en-US" sz="1600" u="none" strike="noStrike" cap="none"/>
                        <a:t> Table 2: Total required sample size, by outcome and parameters (d=1.6)</a:t>
                      </a:r>
                      <a:r>
                        <a:rPr lang="en-US" sz="1600" u="none" strike="noStrike" cap="none" baseline="30000"/>
                        <a:t>+</a:t>
                      </a:r>
                      <a:endParaRPr sz="1600" u="none" strike="noStrike" cap="none">
                        <a:latin typeface="Times New Roman"/>
                        <a:ea typeface="Times New Roman"/>
                        <a:cs typeface="Times New Roman"/>
                        <a:sym typeface="Times New Roman"/>
                      </a:endParaRPr>
                    </a:p>
                  </a:txBody>
                  <a:tcPr marL="68575" marR="68575" marT="0" marB="0"/>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r h="766000">
                <a:tc>
                  <a:txBody>
                    <a:bodyPr/>
                    <a:lstStyle/>
                    <a:p>
                      <a:pPr marL="0" marR="0" lvl="0" indent="0" algn="ctr" rtl="0">
                        <a:lnSpc>
                          <a:spcPct val="115000"/>
                        </a:lnSpc>
                        <a:spcBef>
                          <a:spcPts val="0"/>
                        </a:spcBef>
                        <a:spcAft>
                          <a:spcPts val="0"/>
                        </a:spcAft>
                        <a:buNone/>
                      </a:pPr>
                      <a:r>
                        <a:rPr lang="en-US" sz="1600" u="none" strike="noStrike" cap="none"/>
                        <a:t>Sampling Indicator</a:t>
                      </a:r>
                      <a:endParaRPr sz="1600" u="none" strike="noStrike" cap="none">
                        <a:latin typeface="Times New Roman"/>
                        <a:ea typeface="Times New Roman"/>
                        <a:cs typeface="Times New Roman"/>
                        <a:sym typeface="Times New Roman"/>
                      </a:endParaRPr>
                    </a:p>
                  </a:txBody>
                  <a:tcPr marL="68575" marR="68575" marT="0" marB="0"/>
                </a:tc>
                <a:tc>
                  <a:txBody>
                    <a:bodyPr/>
                    <a:lstStyle/>
                    <a:p>
                      <a:pPr marL="0" marR="0" lvl="0" indent="0" algn="ctr" rtl="0">
                        <a:lnSpc>
                          <a:spcPct val="115000"/>
                        </a:lnSpc>
                        <a:spcBef>
                          <a:spcPts val="0"/>
                        </a:spcBef>
                        <a:spcAft>
                          <a:spcPts val="0"/>
                        </a:spcAft>
                        <a:buNone/>
                      </a:pPr>
                      <a:r>
                        <a:rPr lang="en-US" sz="1600" u="none" strike="noStrike" cap="none"/>
                        <a:t>Zanzibar</a:t>
                      </a:r>
                      <a:endParaRPr sz="1600" u="none" strike="noStrike" cap="none">
                        <a:latin typeface="Times New Roman"/>
                        <a:ea typeface="Times New Roman"/>
                        <a:cs typeface="Times New Roman"/>
                        <a:sym typeface="Times New Roman"/>
                      </a:endParaRPr>
                    </a:p>
                  </a:txBody>
                  <a:tcPr marL="68575" marR="68575" marT="0" marB="0"/>
                </a:tc>
                <a:tc>
                  <a:txBody>
                    <a:bodyPr/>
                    <a:lstStyle/>
                    <a:p>
                      <a:pPr marL="0" marR="0" lvl="0" indent="0" algn="ctr" rtl="0">
                        <a:lnSpc>
                          <a:spcPct val="115000"/>
                        </a:lnSpc>
                        <a:spcBef>
                          <a:spcPts val="0"/>
                        </a:spcBef>
                        <a:spcAft>
                          <a:spcPts val="0"/>
                        </a:spcAft>
                        <a:buNone/>
                      </a:pPr>
                      <a:r>
                        <a:rPr lang="en-US" sz="1600" u="none" strike="noStrike" cap="none"/>
                        <a:t>Oversampling high transmission areas</a:t>
                      </a:r>
                      <a:endParaRPr sz="1600" u="none" strike="noStrike" cap="none">
                        <a:latin typeface="Times New Roman"/>
                        <a:ea typeface="Times New Roman"/>
                        <a:cs typeface="Times New Roman"/>
                        <a:sym typeface="Times New Roman"/>
                      </a:endParaRPr>
                    </a:p>
                  </a:txBody>
                  <a:tcPr marL="68575" marR="68575" marT="0" marB="0"/>
                </a:tc>
                <a:tc>
                  <a:txBody>
                    <a:bodyPr/>
                    <a:lstStyle/>
                    <a:p>
                      <a:pPr marL="0" marR="0" lvl="0" indent="0" algn="ctr" rtl="0">
                        <a:lnSpc>
                          <a:spcPct val="115000"/>
                        </a:lnSpc>
                        <a:spcBef>
                          <a:spcPts val="0"/>
                        </a:spcBef>
                        <a:spcAft>
                          <a:spcPts val="0"/>
                        </a:spcAft>
                        <a:buNone/>
                      </a:pPr>
                      <a:r>
                        <a:rPr lang="en-US" sz="1600" u="none" strike="noStrike" cap="none"/>
                        <a:t>Final Zanzibar</a:t>
                      </a:r>
                      <a:endParaRPr/>
                    </a:p>
                    <a:p>
                      <a:pPr marL="0" marR="0" lvl="0" indent="0" algn="ctr" rtl="0">
                        <a:lnSpc>
                          <a:spcPct val="115000"/>
                        </a:lnSpc>
                        <a:spcBef>
                          <a:spcPts val="0"/>
                        </a:spcBef>
                        <a:spcAft>
                          <a:spcPts val="0"/>
                        </a:spcAft>
                        <a:buNone/>
                      </a:pPr>
                      <a:r>
                        <a:rPr lang="en-US" sz="1600" u="none" strike="noStrike" cap="none"/>
                        <a:t>Sample*</a:t>
                      </a:r>
                      <a:endParaRPr sz="1600" u="none" strike="noStrike" cap="none">
                        <a:latin typeface="Times New Roman"/>
                        <a:ea typeface="Times New Roman"/>
                        <a:cs typeface="Times New Roman"/>
                        <a:sym typeface="Times New Roman"/>
                      </a:endParaRPr>
                    </a:p>
                  </a:txBody>
                  <a:tcPr marL="68575" marR="68575" marT="0" marB="0"/>
                </a:tc>
                <a:extLst>
                  <a:ext uri="{0D108BD9-81ED-4DB2-BD59-A6C34878D82A}">
                    <a16:rowId xmlns:a16="http://schemas.microsoft.com/office/drawing/2014/main" val="10001"/>
                  </a:ext>
                </a:extLst>
              </a:tr>
              <a:tr h="364025">
                <a:tc>
                  <a:txBody>
                    <a:bodyPr/>
                    <a:lstStyle/>
                    <a:p>
                      <a:pPr marL="0" marR="0" lvl="0" indent="0" algn="l" rtl="0">
                        <a:lnSpc>
                          <a:spcPct val="115000"/>
                        </a:lnSpc>
                        <a:spcBef>
                          <a:spcPts val="0"/>
                        </a:spcBef>
                        <a:spcAft>
                          <a:spcPts val="0"/>
                        </a:spcAft>
                        <a:buNone/>
                      </a:pPr>
                      <a:r>
                        <a:rPr lang="en-US" sz="1600" u="none" strike="noStrike" cap="none"/>
                        <a:t>           Households</a:t>
                      </a:r>
                      <a:endParaRPr sz="1600" u="none" strike="noStrike" cap="none">
                        <a:latin typeface="Times New Roman"/>
                        <a:ea typeface="Times New Roman"/>
                        <a:cs typeface="Times New Roman"/>
                        <a:sym typeface="Times New Roman"/>
                      </a:endParaRPr>
                    </a:p>
                  </a:txBody>
                  <a:tcPr marL="68575" marR="68575" marT="0" marB="0"/>
                </a:tc>
                <a:tc>
                  <a:txBody>
                    <a:bodyPr/>
                    <a:lstStyle/>
                    <a:p>
                      <a:pPr marL="0" marR="0" lvl="0" indent="0" algn="ctr" rtl="0">
                        <a:lnSpc>
                          <a:spcPct val="115000"/>
                        </a:lnSpc>
                        <a:spcBef>
                          <a:spcPts val="0"/>
                        </a:spcBef>
                        <a:spcAft>
                          <a:spcPts val="0"/>
                        </a:spcAft>
                        <a:buNone/>
                      </a:pPr>
                      <a:r>
                        <a:rPr lang="en-US" sz="1600" u="none" strike="noStrike" cap="none"/>
                        <a:t>740</a:t>
                      </a:r>
                      <a:endParaRPr sz="1600" u="none" strike="noStrike" cap="none">
                        <a:latin typeface="Times New Roman"/>
                        <a:ea typeface="Times New Roman"/>
                        <a:cs typeface="Times New Roman"/>
                        <a:sym typeface="Times New Roman"/>
                      </a:endParaRPr>
                    </a:p>
                  </a:txBody>
                  <a:tcPr marL="68575" marR="68575" marT="0" marB="0"/>
                </a:tc>
                <a:tc>
                  <a:txBody>
                    <a:bodyPr/>
                    <a:lstStyle/>
                    <a:p>
                      <a:pPr marL="0" marR="0" lvl="0" indent="0" algn="ctr" rtl="0">
                        <a:lnSpc>
                          <a:spcPct val="115000"/>
                        </a:lnSpc>
                        <a:spcBef>
                          <a:spcPts val="0"/>
                        </a:spcBef>
                        <a:spcAft>
                          <a:spcPts val="0"/>
                        </a:spcAft>
                        <a:buNone/>
                      </a:pPr>
                      <a:r>
                        <a:rPr lang="en-US" sz="1600" u="none" strike="noStrike" cap="none"/>
                        <a:t>+158</a:t>
                      </a:r>
                      <a:endParaRPr sz="1600" u="none" strike="noStrike" cap="none">
                        <a:latin typeface="Times New Roman"/>
                        <a:ea typeface="Times New Roman"/>
                        <a:cs typeface="Times New Roman"/>
                        <a:sym typeface="Times New Roman"/>
                      </a:endParaRPr>
                    </a:p>
                  </a:txBody>
                  <a:tcPr marL="68575" marR="68575" marT="0" marB="0"/>
                </a:tc>
                <a:tc>
                  <a:txBody>
                    <a:bodyPr/>
                    <a:lstStyle/>
                    <a:p>
                      <a:pPr marL="0" marR="0" lvl="0" indent="0" algn="ctr" rtl="0">
                        <a:lnSpc>
                          <a:spcPct val="115000"/>
                        </a:lnSpc>
                        <a:spcBef>
                          <a:spcPts val="0"/>
                        </a:spcBef>
                        <a:spcAft>
                          <a:spcPts val="0"/>
                        </a:spcAft>
                        <a:buNone/>
                      </a:pPr>
                      <a:r>
                        <a:rPr lang="en-US" sz="1600" u="none" strike="noStrike" cap="none"/>
                        <a:t>898 (925)</a:t>
                      </a:r>
                      <a:endParaRPr sz="1600" u="none" strike="noStrike" cap="none">
                        <a:latin typeface="Times New Roman"/>
                        <a:ea typeface="Times New Roman"/>
                        <a:cs typeface="Times New Roman"/>
                        <a:sym typeface="Times New Roman"/>
                      </a:endParaRPr>
                    </a:p>
                  </a:txBody>
                  <a:tcPr marL="68575" marR="68575" marT="0" marB="0"/>
                </a:tc>
                <a:extLst>
                  <a:ext uri="{0D108BD9-81ED-4DB2-BD59-A6C34878D82A}">
                    <a16:rowId xmlns:a16="http://schemas.microsoft.com/office/drawing/2014/main" val="10002"/>
                  </a:ext>
                </a:extLst>
              </a:tr>
              <a:tr h="364025">
                <a:tc>
                  <a:txBody>
                    <a:bodyPr/>
                    <a:lstStyle/>
                    <a:p>
                      <a:pPr marL="0" marR="0" lvl="0" indent="0" algn="l" rtl="0">
                        <a:lnSpc>
                          <a:spcPct val="115000"/>
                        </a:lnSpc>
                        <a:spcBef>
                          <a:spcPts val="0"/>
                        </a:spcBef>
                        <a:spcAft>
                          <a:spcPts val="0"/>
                        </a:spcAft>
                        <a:buNone/>
                      </a:pPr>
                      <a:r>
                        <a:rPr lang="en-US" sz="1600" u="none" strike="noStrike" cap="none"/>
                        <a:t>           Female Respondents**</a:t>
                      </a:r>
                      <a:endParaRPr sz="1600" u="none" strike="noStrike" cap="none">
                        <a:latin typeface="Times New Roman"/>
                        <a:ea typeface="Times New Roman"/>
                        <a:cs typeface="Times New Roman"/>
                        <a:sym typeface="Times New Roman"/>
                      </a:endParaRPr>
                    </a:p>
                  </a:txBody>
                  <a:tcPr marL="68575" marR="68575" marT="0" marB="0"/>
                </a:tc>
                <a:tc>
                  <a:txBody>
                    <a:bodyPr/>
                    <a:lstStyle/>
                    <a:p>
                      <a:pPr marL="0" marR="0" lvl="0" indent="0" algn="ctr" rtl="0">
                        <a:lnSpc>
                          <a:spcPct val="115000"/>
                        </a:lnSpc>
                        <a:spcBef>
                          <a:spcPts val="0"/>
                        </a:spcBef>
                        <a:spcAft>
                          <a:spcPts val="0"/>
                        </a:spcAft>
                        <a:buNone/>
                      </a:pPr>
                      <a:r>
                        <a:rPr lang="en-US" sz="1600" u="none" strike="noStrike" cap="none"/>
                        <a:t>740</a:t>
                      </a:r>
                      <a:endParaRPr sz="1600" u="none" strike="noStrike" cap="none">
                        <a:latin typeface="Times New Roman"/>
                        <a:ea typeface="Times New Roman"/>
                        <a:cs typeface="Times New Roman"/>
                        <a:sym typeface="Times New Roman"/>
                      </a:endParaRPr>
                    </a:p>
                  </a:txBody>
                  <a:tcPr marL="68575" marR="68575" marT="0" marB="0"/>
                </a:tc>
                <a:tc>
                  <a:txBody>
                    <a:bodyPr/>
                    <a:lstStyle/>
                    <a:p>
                      <a:pPr marL="0" marR="0" lvl="0" indent="0" algn="ctr" rtl="0">
                        <a:lnSpc>
                          <a:spcPct val="115000"/>
                        </a:lnSpc>
                        <a:spcBef>
                          <a:spcPts val="0"/>
                        </a:spcBef>
                        <a:spcAft>
                          <a:spcPts val="0"/>
                        </a:spcAft>
                        <a:buNone/>
                      </a:pPr>
                      <a:r>
                        <a:rPr lang="en-US" sz="1600" u="none" strike="noStrike" cap="none"/>
                        <a:t>+158</a:t>
                      </a:r>
                      <a:endParaRPr sz="1600" u="none" strike="noStrike" cap="none">
                        <a:latin typeface="Times New Roman"/>
                        <a:ea typeface="Times New Roman"/>
                        <a:cs typeface="Times New Roman"/>
                        <a:sym typeface="Times New Roman"/>
                      </a:endParaRPr>
                    </a:p>
                  </a:txBody>
                  <a:tcPr marL="68575" marR="68575" marT="0" marB="0"/>
                </a:tc>
                <a:tc>
                  <a:txBody>
                    <a:bodyPr/>
                    <a:lstStyle/>
                    <a:p>
                      <a:pPr marL="0" marR="0" lvl="0" indent="0" algn="ctr" rtl="0">
                        <a:lnSpc>
                          <a:spcPct val="115000"/>
                        </a:lnSpc>
                        <a:spcBef>
                          <a:spcPts val="0"/>
                        </a:spcBef>
                        <a:spcAft>
                          <a:spcPts val="0"/>
                        </a:spcAft>
                        <a:buNone/>
                      </a:pPr>
                      <a:r>
                        <a:rPr lang="en-US" sz="1600" u="none" strike="noStrike" cap="none"/>
                        <a:t>898 (925)</a:t>
                      </a:r>
                      <a:endParaRPr sz="1600" u="none" strike="noStrike" cap="none">
                        <a:latin typeface="Times New Roman"/>
                        <a:ea typeface="Times New Roman"/>
                        <a:cs typeface="Times New Roman"/>
                        <a:sym typeface="Times New Roman"/>
                      </a:endParaRPr>
                    </a:p>
                  </a:txBody>
                  <a:tcPr marL="68575" marR="68575" marT="0" marB="0"/>
                </a:tc>
                <a:extLst>
                  <a:ext uri="{0D108BD9-81ED-4DB2-BD59-A6C34878D82A}">
                    <a16:rowId xmlns:a16="http://schemas.microsoft.com/office/drawing/2014/main" val="10003"/>
                  </a:ext>
                </a:extLst>
              </a:tr>
              <a:tr h="364025">
                <a:tc>
                  <a:txBody>
                    <a:bodyPr/>
                    <a:lstStyle/>
                    <a:p>
                      <a:pPr marL="0" marR="0" lvl="0" indent="0" algn="l" rtl="0">
                        <a:lnSpc>
                          <a:spcPct val="115000"/>
                        </a:lnSpc>
                        <a:spcBef>
                          <a:spcPts val="0"/>
                        </a:spcBef>
                        <a:spcAft>
                          <a:spcPts val="0"/>
                        </a:spcAft>
                        <a:buNone/>
                      </a:pPr>
                      <a:r>
                        <a:rPr lang="en-US" sz="1600" u="none" strike="noStrike" cap="none"/>
                        <a:t>          Male Respondents </a:t>
                      </a:r>
                      <a:endParaRPr sz="1600" u="none" strike="noStrike" cap="none">
                        <a:latin typeface="Times New Roman"/>
                        <a:ea typeface="Times New Roman"/>
                        <a:cs typeface="Times New Roman"/>
                        <a:sym typeface="Times New Roman"/>
                      </a:endParaRPr>
                    </a:p>
                  </a:txBody>
                  <a:tcPr marL="68575" marR="68575" marT="0" marB="0"/>
                </a:tc>
                <a:tc>
                  <a:txBody>
                    <a:bodyPr/>
                    <a:lstStyle/>
                    <a:p>
                      <a:pPr marL="0" marR="0" lvl="0" indent="0" algn="l" rtl="0">
                        <a:lnSpc>
                          <a:spcPct val="115000"/>
                        </a:lnSpc>
                        <a:spcBef>
                          <a:spcPts val="0"/>
                        </a:spcBef>
                        <a:spcAft>
                          <a:spcPts val="0"/>
                        </a:spcAft>
                        <a:buNone/>
                      </a:pPr>
                      <a:r>
                        <a:rPr lang="en-US" sz="1600" u="none" strike="noStrike" cap="none"/>
                        <a:t>      740</a:t>
                      </a:r>
                      <a:endParaRPr sz="1600" u="none" strike="noStrike" cap="none">
                        <a:latin typeface="Times New Roman"/>
                        <a:ea typeface="Times New Roman"/>
                        <a:cs typeface="Times New Roman"/>
                        <a:sym typeface="Times New Roman"/>
                      </a:endParaRPr>
                    </a:p>
                  </a:txBody>
                  <a:tcPr marL="68575" marR="68575" marT="0" marB="0"/>
                </a:tc>
                <a:tc>
                  <a:txBody>
                    <a:bodyPr/>
                    <a:lstStyle/>
                    <a:p>
                      <a:pPr marL="0" marR="0" lvl="0" indent="0" algn="l" rtl="0">
                        <a:lnSpc>
                          <a:spcPct val="115000"/>
                        </a:lnSpc>
                        <a:spcBef>
                          <a:spcPts val="0"/>
                        </a:spcBef>
                        <a:spcAft>
                          <a:spcPts val="0"/>
                        </a:spcAft>
                        <a:buNone/>
                      </a:pPr>
                      <a:r>
                        <a:rPr lang="en-US" sz="1600" u="none" strike="noStrike" cap="none"/>
                        <a:t>              +158</a:t>
                      </a:r>
                      <a:endParaRPr sz="1600" u="none" strike="noStrike" cap="none">
                        <a:latin typeface="Times New Roman"/>
                        <a:ea typeface="Times New Roman"/>
                        <a:cs typeface="Times New Roman"/>
                        <a:sym typeface="Times New Roman"/>
                      </a:endParaRPr>
                    </a:p>
                  </a:txBody>
                  <a:tcPr marL="68575" marR="68575" marT="0" marB="0"/>
                </a:tc>
                <a:tc>
                  <a:txBody>
                    <a:bodyPr/>
                    <a:lstStyle/>
                    <a:p>
                      <a:pPr marL="0" marR="0" lvl="0" indent="0" algn="l" rtl="0">
                        <a:lnSpc>
                          <a:spcPct val="115000"/>
                        </a:lnSpc>
                        <a:spcBef>
                          <a:spcPts val="0"/>
                        </a:spcBef>
                        <a:spcAft>
                          <a:spcPts val="0"/>
                        </a:spcAft>
                        <a:buNone/>
                      </a:pPr>
                      <a:r>
                        <a:rPr lang="en-US" sz="1600" u="none" strike="noStrike" cap="none"/>
                        <a:t>     898 (925)</a:t>
                      </a:r>
                      <a:endParaRPr sz="1600" u="none" strike="noStrike" cap="none">
                        <a:latin typeface="Times New Roman"/>
                        <a:ea typeface="Times New Roman"/>
                        <a:cs typeface="Times New Roman"/>
                        <a:sym typeface="Times New Roman"/>
                      </a:endParaRPr>
                    </a:p>
                  </a:txBody>
                  <a:tcPr marL="68575" marR="68575" marT="0" marB="0"/>
                </a:tc>
                <a:extLst>
                  <a:ext uri="{0D108BD9-81ED-4DB2-BD59-A6C34878D82A}">
                    <a16:rowId xmlns:a16="http://schemas.microsoft.com/office/drawing/2014/main" val="10004"/>
                  </a:ext>
                </a:extLst>
              </a:tr>
              <a:tr h="364025">
                <a:tc>
                  <a:txBody>
                    <a:bodyPr/>
                    <a:lstStyle/>
                    <a:p>
                      <a:pPr marL="0" marR="0" lvl="0" indent="0" algn="l" rtl="0">
                        <a:lnSpc>
                          <a:spcPct val="115000"/>
                        </a:lnSpc>
                        <a:spcBef>
                          <a:spcPts val="0"/>
                        </a:spcBef>
                        <a:spcAft>
                          <a:spcPts val="0"/>
                        </a:spcAft>
                        <a:buNone/>
                      </a:pPr>
                      <a:r>
                        <a:rPr lang="en-US" sz="1600" u="none" strike="noStrike" cap="none"/>
                        <a:t>Total sample size</a:t>
                      </a:r>
                      <a:endParaRPr sz="1600" u="none" strike="noStrike" cap="none">
                        <a:latin typeface="Times New Roman"/>
                        <a:ea typeface="Times New Roman"/>
                        <a:cs typeface="Times New Roman"/>
                        <a:sym typeface="Times New Roman"/>
                      </a:endParaRPr>
                    </a:p>
                  </a:txBody>
                  <a:tcPr marL="68575" marR="68575" marT="0" marB="0"/>
                </a:tc>
                <a:tc>
                  <a:txBody>
                    <a:bodyPr/>
                    <a:lstStyle/>
                    <a:p>
                      <a:pPr marL="0" marR="0" lvl="0" indent="0" algn="l" rtl="0">
                        <a:lnSpc>
                          <a:spcPct val="115000"/>
                        </a:lnSpc>
                        <a:spcBef>
                          <a:spcPts val="0"/>
                        </a:spcBef>
                        <a:spcAft>
                          <a:spcPts val="0"/>
                        </a:spcAft>
                        <a:buNone/>
                      </a:pPr>
                      <a:r>
                        <a:rPr lang="en-US" sz="1600" u="none" strike="noStrike" cap="none"/>
                        <a:t> </a:t>
                      </a:r>
                      <a:endParaRPr sz="1600" u="none" strike="noStrike" cap="none">
                        <a:latin typeface="Times New Roman"/>
                        <a:ea typeface="Times New Roman"/>
                        <a:cs typeface="Times New Roman"/>
                        <a:sym typeface="Times New Roman"/>
                      </a:endParaRPr>
                    </a:p>
                  </a:txBody>
                  <a:tcPr marL="68575" marR="68575" marT="0" marB="0"/>
                </a:tc>
                <a:tc>
                  <a:txBody>
                    <a:bodyPr/>
                    <a:lstStyle/>
                    <a:p>
                      <a:pPr marL="0" marR="0" lvl="0" indent="0" algn="l" rtl="0">
                        <a:lnSpc>
                          <a:spcPct val="115000"/>
                        </a:lnSpc>
                        <a:spcBef>
                          <a:spcPts val="0"/>
                        </a:spcBef>
                        <a:spcAft>
                          <a:spcPts val="0"/>
                        </a:spcAft>
                        <a:buNone/>
                      </a:pPr>
                      <a:r>
                        <a:rPr lang="en-US" sz="1600" u="none" strike="noStrike" cap="none"/>
                        <a:t> </a:t>
                      </a:r>
                      <a:endParaRPr sz="1600" u="none" strike="noStrike" cap="none">
                        <a:latin typeface="Times New Roman"/>
                        <a:ea typeface="Times New Roman"/>
                        <a:cs typeface="Times New Roman"/>
                        <a:sym typeface="Times New Roman"/>
                      </a:endParaRPr>
                    </a:p>
                  </a:txBody>
                  <a:tcPr marL="68575" marR="68575" marT="0" marB="0"/>
                </a:tc>
                <a:tc>
                  <a:txBody>
                    <a:bodyPr/>
                    <a:lstStyle/>
                    <a:p>
                      <a:pPr marL="0" marR="0" lvl="0" indent="0" algn="l" rtl="0">
                        <a:lnSpc>
                          <a:spcPct val="115000"/>
                        </a:lnSpc>
                        <a:spcBef>
                          <a:spcPts val="0"/>
                        </a:spcBef>
                        <a:spcAft>
                          <a:spcPts val="0"/>
                        </a:spcAft>
                        <a:buNone/>
                      </a:pPr>
                      <a:r>
                        <a:rPr lang="en-US" sz="1600" u="none" strike="noStrike" cap="none"/>
                        <a:t>      1850**</a:t>
                      </a:r>
                      <a:endParaRPr sz="1600" u="none" strike="noStrike" cap="none">
                        <a:latin typeface="Times New Roman"/>
                        <a:ea typeface="Times New Roman"/>
                        <a:cs typeface="Times New Roman"/>
                        <a:sym typeface="Times New Roman"/>
                      </a:endParaRPr>
                    </a:p>
                  </a:txBody>
                  <a:tcPr marL="68575" marR="68575" marT="0" marB="0"/>
                </a:tc>
                <a:extLst>
                  <a:ext uri="{0D108BD9-81ED-4DB2-BD59-A6C34878D82A}">
                    <a16:rowId xmlns:a16="http://schemas.microsoft.com/office/drawing/2014/main" val="10005"/>
                  </a:ext>
                </a:extLst>
              </a:tr>
              <a:tr h="1219075">
                <a:tc gridSpan="4">
                  <a:txBody>
                    <a:bodyPr/>
                    <a:lstStyle/>
                    <a:p>
                      <a:pPr marL="0" marR="0" lvl="0" indent="0" algn="l" rtl="0">
                        <a:spcBef>
                          <a:spcPts val="0"/>
                        </a:spcBef>
                        <a:spcAft>
                          <a:spcPts val="0"/>
                        </a:spcAft>
                        <a:buNone/>
                      </a:pPr>
                      <a:r>
                        <a:rPr lang="en-US" sz="1600" b="0" u="none" strike="noStrike" cap="none"/>
                        <a:t>* </a:t>
                      </a:r>
                      <a:r>
                        <a:rPr lang="en-US" sz="1400" b="0" u="none" strike="noStrike" cap="none"/>
                        <a:t>Final numbers include oversampling of high transmission top quadrant and in parentheses rounding up of the sample, which changes the total sample size.</a:t>
                      </a:r>
                      <a:endParaRPr/>
                    </a:p>
                    <a:p>
                      <a:pPr marL="0" marR="0" lvl="0" indent="0" algn="l" rtl="0">
                        <a:spcBef>
                          <a:spcPts val="0"/>
                        </a:spcBef>
                        <a:spcAft>
                          <a:spcPts val="0"/>
                        </a:spcAft>
                        <a:buNone/>
                      </a:pPr>
                      <a:r>
                        <a:rPr lang="en-US" sz="1400" b="0" u="none" strike="noStrike" cap="none"/>
                        <a:t>** The total sample will comprise a maximum of 1850 individuals from 925 households: one woman or one man or both a man and a woman from each household</a:t>
                      </a:r>
                      <a:endParaRPr/>
                    </a:p>
                    <a:p>
                      <a:pPr marL="0" marR="0" lvl="0" indent="0" algn="l" rtl="0">
                        <a:spcBef>
                          <a:spcPts val="0"/>
                        </a:spcBef>
                        <a:spcAft>
                          <a:spcPts val="0"/>
                        </a:spcAft>
                        <a:buNone/>
                      </a:pPr>
                      <a:r>
                        <a:rPr lang="en-US" sz="1400" b="0" u="none" strike="noStrike" cap="none"/>
                        <a:t>+ Final sample calculations based on key indicator ‘% of women of reproductive age sleeping under a bed net’: this yielded the highest required sample.</a:t>
                      </a:r>
                      <a:endParaRPr sz="1400" b="0" u="none" strike="noStrike" cap="none">
                        <a:latin typeface="Times New Roman"/>
                        <a:ea typeface="Times New Roman"/>
                        <a:cs typeface="Times New Roman"/>
                        <a:sym typeface="Times New Roman"/>
                      </a:endParaRPr>
                    </a:p>
                  </a:txBody>
                  <a:tcPr marL="68575" marR="68575" marT="0" marB="0"/>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6"/>
                  </a:ext>
                </a:extLst>
              </a:tr>
            </a:tbl>
          </a:graphicData>
        </a:graphic>
      </p:graphicFrame>
      <p:sp>
        <p:nvSpPr>
          <p:cNvPr id="94" name="Google Shape;94;p5"/>
          <p:cNvSpPr txBox="1"/>
          <p:nvPr/>
        </p:nvSpPr>
        <p:spPr>
          <a:xfrm>
            <a:off x="1133789" y="803305"/>
            <a:ext cx="7105200" cy="14775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b="0" i="0" u="none" strike="noStrike" cap="none">
                <a:solidFill>
                  <a:srgbClr val="000000"/>
                </a:solidFill>
                <a:latin typeface="Arial"/>
                <a:ea typeface="Arial"/>
                <a:cs typeface="Arial"/>
                <a:sym typeface="Arial"/>
              </a:rPr>
              <a:t>The equation </a:t>
            </a:r>
            <a:r>
              <a:rPr lang="en-US" sz="1800"/>
              <a:t>used to calculate sample size</a:t>
            </a:r>
            <a:r>
              <a:rPr lang="en-US" sz="1800" b="0" i="0" u="none" strike="noStrike" cap="none">
                <a:solidFill>
                  <a:srgbClr val="000000"/>
                </a:solidFill>
                <a:latin typeface="Arial"/>
                <a:ea typeface="Arial"/>
                <a:cs typeface="Arial"/>
                <a:sym typeface="Arial"/>
              </a:rPr>
              <a:t> yielded a sample of 740 households. Adding our oversampling from the top quadrant (25%) of the high transmission areas by 100%, the sample increased to 898 households.</a:t>
            </a:r>
            <a:r>
              <a:rPr lang="en-US" sz="1800" b="0" i="0" u="none" strike="noStrike" cap="none">
                <a:solidFill>
                  <a:schemeClr val="dk1"/>
                </a:solidFill>
                <a:latin typeface="Calibri"/>
                <a:ea typeface="Calibri"/>
                <a:cs typeface="Calibri"/>
                <a:sym typeface="Calibri"/>
              </a:rPr>
              <a:t> </a:t>
            </a:r>
            <a:endParaRPr sz="1800">
              <a:solidFill>
                <a:schemeClr val="dk1"/>
              </a:solidFill>
              <a:latin typeface="Calibri"/>
              <a:ea typeface="Calibri"/>
              <a:cs typeface="Calibri"/>
              <a:sym typeface="Calibri"/>
            </a:endParaRPr>
          </a:p>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99"/>
        <p:cNvGrpSpPr/>
        <p:nvPr/>
      </p:nvGrpSpPr>
      <p:grpSpPr>
        <a:xfrm>
          <a:off x="0" y="0"/>
          <a:ext cx="0" cy="0"/>
          <a:chOff x="0" y="0"/>
          <a:chExt cx="0" cy="0"/>
        </a:xfrm>
      </p:grpSpPr>
      <p:sp>
        <p:nvSpPr>
          <p:cNvPr id="100" name="Google Shape;100;p6"/>
          <p:cNvSpPr txBox="1">
            <a:spLocks noGrp="1"/>
          </p:cNvSpPr>
          <p:nvPr>
            <p:ph type="title"/>
          </p:nvPr>
        </p:nvSpPr>
        <p:spPr>
          <a:xfrm>
            <a:off x="1105230" y="365126"/>
            <a:ext cx="7410119"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08A6E2"/>
              </a:buClr>
              <a:buSzPts val="3600"/>
              <a:buFont typeface="Calibri"/>
              <a:buNone/>
            </a:pPr>
            <a:r>
              <a:rPr lang="en-US" sz="3600"/>
              <a:t>Methodology: Sampling strategy</a:t>
            </a:r>
            <a:endParaRPr/>
          </a:p>
        </p:txBody>
      </p:sp>
      <p:sp>
        <p:nvSpPr>
          <p:cNvPr id="101" name="Google Shape;101;p6"/>
          <p:cNvSpPr txBox="1">
            <a:spLocks noGrp="1"/>
          </p:cNvSpPr>
          <p:nvPr>
            <p:ph type="body" idx="1"/>
          </p:nvPr>
        </p:nvSpPr>
        <p:spPr>
          <a:xfrm>
            <a:off x="406896" y="2110438"/>
            <a:ext cx="8413972" cy="3925180"/>
          </a:xfrm>
          <a:prstGeom prst="rect">
            <a:avLst/>
          </a:prstGeom>
          <a:noFill/>
          <a:ln>
            <a:noFill/>
          </a:ln>
        </p:spPr>
        <p:txBody>
          <a:bodyPr spcFirstLastPara="1" wrap="square" lIns="91425" tIns="45700" rIns="91425" bIns="45700" anchor="t" anchorCtr="0">
            <a:normAutofit lnSpcReduction="10000"/>
          </a:bodyPr>
          <a:lstStyle/>
          <a:p>
            <a:pPr marL="228600" lvl="0" indent="-228600" algn="l" rtl="0">
              <a:lnSpc>
                <a:spcPct val="90000"/>
              </a:lnSpc>
              <a:spcBef>
                <a:spcPts val="0"/>
              </a:spcBef>
              <a:spcAft>
                <a:spcPts val="0"/>
              </a:spcAft>
              <a:buClr>
                <a:schemeClr val="dk1"/>
              </a:buClr>
              <a:buSzPts val="2800"/>
              <a:buChar char="•"/>
            </a:pPr>
            <a:r>
              <a:rPr lang="en-US"/>
              <a:t>Stratification by urban/rural within each zone</a:t>
            </a:r>
            <a:endParaRPr/>
          </a:p>
          <a:p>
            <a:pPr marL="228600" lvl="0" indent="-228600" algn="l" rtl="0">
              <a:lnSpc>
                <a:spcPct val="90000"/>
              </a:lnSpc>
              <a:spcBef>
                <a:spcPts val="1000"/>
              </a:spcBef>
              <a:spcAft>
                <a:spcPts val="0"/>
              </a:spcAft>
              <a:buClr>
                <a:schemeClr val="dk1"/>
              </a:buClr>
              <a:buSzPts val="2800"/>
              <a:buChar char="•"/>
            </a:pPr>
            <a:r>
              <a:rPr lang="en-US"/>
              <a:t>Selection of enumeration areas (EAs)/clusters</a:t>
            </a:r>
            <a:endParaRPr/>
          </a:p>
          <a:p>
            <a:pPr marL="685800" lvl="1" indent="-228600" algn="l" rtl="0">
              <a:lnSpc>
                <a:spcPct val="90000"/>
              </a:lnSpc>
              <a:spcBef>
                <a:spcPts val="500"/>
              </a:spcBef>
              <a:spcAft>
                <a:spcPts val="0"/>
              </a:spcAft>
              <a:buClr>
                <a:schemeClr val="dk1"/>
              </a:buClr>
              <a:buSzPts val="1440"/>
              <a:buChar char="o"/>
            </a:pPr>
            <a:r>
              <a:rPr lang="en-US"/>
              <a:t>Using probability proportionate to size</a:t>
            </a:r>
            <a:endParaRPr/>
          </a:p>
          <a:p>
            <a:pPr marL="228600" lvl="0" indent="-228600" algn="l" rtl="0">
              <a:lnSpc>
                <a:spcPct val="90000"/>
              </a:lnSpc>
              <a:spcBef>
                <a:spcPts val="1000"/>
              </a:spcBef>
              <a:spcAft>
                <a:spcPts val="0"/>
              </a:spcAft>
              <a:buClr>
                <a:schemeClr val="dk1"/>
              </a:buClr>
              <a:buSzPts val="2800"/>
              <a:buChar char="•"/>
            </a:pPr>
            <a:r>
              <a:rPr lang="en-US"/>
              <a:t>Selection of households</a:t>
            </a:r>
            <a:endParaRPr/>
          </a:p>
          <a:p>
            <a:pPr marL="685800" lvl="1" indent="-228600" algn="l" rtl="0">
              <a:lnSpc>
                <a:spcPct val="90000"/>
              </a:lnSpc>
              <a:spcBef>
                <a:spcPts val="500"/>
              </a:spcBef>
              <a:spcAft>
                <a:spcPts val="0"/>
              </a:spcAft>
              <a:buClr>
                <a:schemeClr val="dk1"/>
              </a:buClr>
              <a:buSzPts val="1440"/>
              <a:buChar char="o"/>
            </a:pPr>
            <a:r>
              <a:rPr lang="en-US"/>
              <a:t>20-21 households per cluster</a:t>
            </a:r>
            <a:endParaRPr/>
          </a:p>
          <a:p>
            <a:pPr marL="228600" lvl="0" indent="-228600" algn="l" rtl="0">
              <a:lnSpc>
                <a:spcPct val="90000"/>
              </a:lnSpc>
              <a:spcBef>
                <a:spcPts val="1000"/>
              </a:spcBef>
              <a:spcAft>
                <a:spcPts val="0"/>
              </a:spcAft>
              <a:buClr>
                <a:schemeClr val="dk1"/>
              </a:buClr>
              <a:buSzPts val="2800"/>
              <a:buChar char="•"/>
            </a:pPr>
            <a:r>
              <a:rPr lang="en-US"/>
              <a:t>Selection of Participants</a:t>
            </a:r>
            <a:endParaRPr/>
          </a:p>
          <a:p>
            <a:pPr marL="685800" lvl="1" indent="-228600" algn="l" rtl="0">
              <a:lnSpc>
                <a:spcPct val="90000"/>
              </a:lnSpc>
              <a:spcBef>
                <a:spcPts val="500"/>
              </a:spcBef>
              <a:spcAft>
                <a:spcPts val="0"/>
              </a:spcAft>
              <a:buClr>
                <a:schemeClr val="dk1"/>
              </a:buClr>
              <a:buSzPts val="1440"/>
              <a:buChar char="o"/>
            </a:pPr>
            <a:r>
              <a:rPr lang="en-US"/>
              <a:t>In each household, interview one eligible woman and one eligible man.</a:t>
            </a:r>
            <a:endParaRPr/>
          </a:p>
          <a:p>
            <a:pPr marL="457200" lvl="1" indent="0" algn="l" rtl="0">
              <a:lnSpc>
                <a:spcPct val="90000"/>
              </a:lnSpc>
              <a:spcBef>
                <a:spcPts val="500"/>
              </a:spcBef>
              <a:spcAft>
                <a:spcPts val="0"/>
              </a:spcAft>
              <a:buClr>
                <a:schemeClr val="dk1"/>
              </a:buClr>
              <a:buSzPts val="1440"/>
              <a:buNone/>
            </a:pPr>
            <a:endParaRPr/>
          </a:p>
          <a:p>
            <a:pPr marL="685800" lvl="1" indent="-137159" algn="l" rtl="0">
              <a:lnSpc>
                <a:spcPct val="90000"/>
              </a:lnSpc>
              <a:spcBef>
                <a:spcPts val="500"/>
              </a:spcBef>
              <a:spcAft>
                <a:spcPts val="0"/>
              </a:spcAft>
              <a:buClr>
                <a:schemeClr val="dk1"/>
              </a:buClr>
              <a:buSzPts val="1440"/>
              <a:buNone/>
            </a:pPr>
            <a:endParaRPr/>
          </a:p>
        </p:txBody>
      </p:sp>
      <p:pic>
        <p:nvPicPr>
          <p:cNvPr id="102" name="Google Shape;102;p6" descr="Gears"/>
          <p:cNvPicPr preferRelativeResize="0"/>
          <p:nvPr/>
        </p:nvPicPr>
        <p:blipFill rotWithShape="1">
          <a:blip r:embed="rId3">
            <a:alphaModFix/>
          </a:blip>
          <a:srcRect/>
          <a:stretch/>
        </p:blipFill>
        <p:spPr>
          <a:xfrm>
            <a:off x="6766034" y="351429"/>
            <a:ext cx="2054834" cy="2054834"/>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06"/>
        <p:cNvGrpSpPr/>
        <p:nvPr/>
      </p:nvGrpSpPr>
      <p:grpSpPr>
        <a:xfrm>
          <a:off x="0" y="0"/>
          <a:ext cx="0" cy="0"/>
          <a:chOff x="0" y="0"/>
          <a:chExt cx="0" cy="0"/>
        </a:xfrm>
      </p:grpSpPr>
      <p:pic>
        <p:nvPicPr>
          <p:cNvPr id="107" name="Google Shape;107;p7"/>
          <p:cNvPicPr preferRelativeResize="0"/>
          <p:nvPr/>
        </p:nvPicPr>
        <p:blipFill rotWithShape="1">
          <a:blip r:embed="rId3">
            <a:alphaModFix/>
          </a:blip>
          <a:srcRect l="10256" r="16531"/>
          <a:stretch/>
        </p:blipFill>
        <p:spPr>
          <a:xfrm>
            <a:off x="1526150" y="743200"/>
            <a:ext cx="6415549" cy="4914900"/>
          </a:xfrm>
          <a:prstGeom prst="rect">
            <a:avLst/>
          </a:prstGeom>
          <a:noFill/>
          <a:ln>
            <a:noFill/>
          </a:ln>
        </p:spPr>
      </p:pic>
      <p:pic>
        <p:nvPicPr>
          <p:cNvPr id="108" name="Google Shape;108;p7"/>
          <p:cNvPicPr preferRelativeResize="0"/>
          <p:nvPr/>
        </p:nvPicPr>
        <p:blipFill rotWithShape="1">
          <a:blip r:embed="rId4">
            <a:alphaModFix/>
          </a:blip>
          <a:srcRect/>
          <a:stretch/>
        </p:blipFill>
        <p:spPr>
          <a:xfrm>
            <a:off x="3667125" y="6053125"/>
            <a:ext cx="2133600" cy="54610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12"/>
        <p:cNvGrpSpPr/>
        <p:nvPr/>
      </p:nvGrpSpPr>
      <p:grpSpPr>
        <a:xfrm>
          <a:off x="0" y="0"/>
          <a:ext cx="0" cy="0"/>
          <a:chOff x="0" y="0"/>
          <a:chExt cx="0" cy="0"/>
        </a:xfrm>
      </p:grpSpPr>
      <p:sp>
        <p:nvSpPr>
          <p:cNvPr id="113" name="Google Shape;113;p8"/>
          <p:cNvSpPr txBox="1">
            <a:spLocks noGrp="1"/>
          </p:cNvSpPr>
          <p:nvPr>
            <p:ph type="title"/>
          </p:nvPr>
        </p:nvSpPr>
        <p:spPr>
          <a:xfrm>
            <a:off x="623888" y="1709739"/>
            <a:ext cx="7886700" cy="2852737"/>
          </a:xfrm>
          <a:prstGeom prst="rect">
            <a:avLst/>
          </a:prstGeom>
          <a:noFill/>
          <a:ln>
            <a:noFill/>
          </a:ln>
        </p:spPr>
        <p:txBody>
          <a:bodyPr spcFirstLastPara="1" wrap="square" lIns="91425" tIns="45700" rIns="91425" bIns="45700" anchor="b" anchorCtr="0">
            <a:normAutofit/>
          </a:bodyPr>
          <a:lstStyle/>
          <a:p>
            <a:pPr marL="0" lvl="0" indent="0" algn="l" rtl="0">
              <a:lnSpc>
                <a:spcPct val="90000"/>
              </a:lnSpc>
              <a:spcBef>
                <a:spcPts val="0"/>
              </a:spcBef>
              <a:spcAft>
                <a:spcPts val="0"/>
              </a:spcAft>
              <a:buClr>
                <a:schemeClr val="lt1"/>
              </a:buClr>
              <a:buSzPts val="4400"/>
              <a:buFont typeface="Calibri"/>
              <a:buNone/>
            </a:pPr>
            <a:r>
              <a:rPr lang="en-US"/>
              <a:t>Respondent Characteristics</a:t>
            </a:r>
            <a:endParaRPr/>
          </a:p>
        </p:txBody>
      </p:sp>
      <p:sp>
        <p:nvSpPr>
          <p:cNvPr id="114" name="Google Shape;114;p8"/>
          <p:cNvSpPr txBox="1">
            <a:spLocks noGrp="1"/>
          </p:cNvSpPr>
          <p:nvPr>
            <p:ph type="body" idx="1"/>
          </p:nvPr>
        </p:nvSpPr>
        <p:spPr>
          <a:xfrm>
            <a:off x="623888" y="4589464"/>
            <a:ext cx="7886700" cy="1500187"/>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chemeClr val="lt1"/>
              </a:buClr>
              <a:buSzPts val="2400"/>
              <a:buNone/>
            </a:pPr>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19"/>
        <p:cNvGrpSpPr/>
        <p:nvPr/>
      </p:nvGrpSpPr>
      <p:grpSpPr>
        <a:xfrm>
          <a:off x="0" y="0"/>
          <a:ext cx="0" cy="0"/>
          <a:chOff x="0" y="0"/>
          <a:chExt cx="0" cy="0"/>
        </a:xfrm>
      </p:grpSpPr>
      <p:pic>
        <p:nvPicPr>
          <p:cNvPr id="120" name="Google Shape;120;g107d85dcbfc_2_69"/>
          <p:cNvPicPr preferRelativeResize="0"/>
          <p:nvPr/>
        </p:nvPicPr>
        <p:blipFill>
          <a:blip r:embed="rId3">
            <a:alphaModFix/>
          </a:blip>
          <a:stretch>
            <a:fillRect/>
          </a:stretch>
        </p:blipFill>
        <p:spPr>
          <a:xfrm>
            <a:off x="152400" y="152400"/>
            <a:ext cx="8991600" cy="5404925"/>
          </a:xfrm>
          <a:prstGeom prst="rect">
            <a:avLst/>
          </a:prstGeom>
          <a:noFill/>
          <a:ln>
            <a:noFill/>
          </a:ln>
        </p:spPr>
      </p:pic>
      <p:sp>
        <p:nvSpPr>
          <p:cNvPr id="121" name="Google Shape;121;g107d85dcbfc_2_69"/>
          <p:cNvSpPr txBox="1"/>
          <p:nvPr/>
        </p:nvSpPr>
        <p:spPr>
          <a:xfrm>
            <a:off x="3130225" y="6175050"/>
            <a:ext cx="2547000" cy="615600"/>
          </a:xfrm>
          <a:prstGeom prst="rect">
            <a:avLst/>
          </a:prstGeom>
          <a:noFill/>
          <a:ln w="9525" cap="flat" cmpd="sng">
            <a:solidFill>
              <a:srgbClr val="9FC5E8"/>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None/>
            </a:pPr>
            <a:r>
              <a:rPr lang="en-US">
                <a:latin typeface="Calibri"/>
                <a:ea typeface="Calibri"/>
                <a:cs typeface="Calibri"/>
                <a:sym typeface="Calibri"/>
              </a:rPr>
              <a:t>*Differences between Pemba and Unguja  not significant</a:t>
            </a:r>
            <a:endParaRPr>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26"/>
        <p:cNvGrpSpPr/>
        <p:nvPr/>
      </p:nvGrpSpPr>
      <p:grpSpPr>
        <a:xfrm>
          <a:off x="0" y="0"/>
          <a:ext cx="0" cy="0"/>
          <a:chOff x="0" y="0"/>
          <a:chExt cx="0" cy="0"/>
        </a:xfrm>
      </p:grpSpPr>
      <p:pic>
        <p:nvPicPr>
          <p:cNvPr id="127" name="Google Shape;127;g107d85dcbfc_2_74"/>
          <p:cNvPicPr preferRelativeResize="0"/>
          <p:nvPr/>
        </p:nvPicPr>
        <p:blipFill>
          <a:blip r:embed="rId3">
            <a:alphaModFix/>
          </a:blip>
          <a:stretch>
            <a:fillRect/>
          </a:stretch>
        </p:blipFill>
        <p:spPr>
          <a:xfrm>
            <a:off x="116875" y="152400"/>
            <a:ext cx="8722325" cy="5780775"/>
          </a:xfrm>
          <a:prstGeom prst="rect">
            <a:avLst/>
          </a:prstGeom>
          <a:noFill/>
          <a:ln>
            <a:noFill/>
          </a:ln>
        </p:spPr>
      </p:pic>
      <p:sp>
        <p:nvSpPr>
          <p:cNvPr id="128" name="Google Shape;128;g107d85dcbfc_2_74"/>
          <p:cNvSpPr txBox="1"/>
          <p:nvPr/>
        </p:nvSpPr>
        <p:spPr>
          <a:xfrm>
            <a:off x="2817175" y="6246175"/>
            <a:ext cx="28314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a:latin typeface="Calibri"/>
                <a:ea typeface="Calibri"/>
                <a:cs typeface="Calibri"/>
                <a:sym typeface="Calibri"/>
              </a:rPr>
              <a:t>*Differences significant: p&lt;0.05</a:t>
            </a:r>
            <a:endParaRPr>
              <a:latin typeface="Calibri"/>
              <a:ea typeface="Calibri"/>
              <a:cs typeface="Calibri"/>
              <a:sym typeface="Calibri"/>
            </a:endParaRPr>
          </a:p>
        </p:txBody>
      </p:sp>
      <p:sp>
        <p:nvSpPr>
          <p:cNvPr id="129" name="Google Shape;129;g107d85dcbfc_2_74"/>
          <p:cNvSpPr txBox="1"/>
          <p:nvPr/>
        </p:nvSpPr>
        <p:spPr>
          <a:xfrm>
            <a:off x="2970000" y="6444000"/>
            <a:ext cx="73440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endParaRPr>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33"/>
        <p:cNvGrpSpPr/>
        <p:nvPr/>
      </p:nvGrpSpPr>
      <p:grpSpPr>
        <a:xfrm>
          <a:off x="0" y="0"/>
          <a:ext cx="0" cy="0"/>
          <a:chOff x="0" y="0"/>
          <a:chExt cx="0" cy="0"/>
        </a:xfrm>
      </p:grpSpPr>
      <p:sp>
        <p:nvSpPr>
          <p:cNvPr id="134" name="Google Shape;134;p11"/>
          <p:cNvSpPr txBox="1">
            <a:spLocks noGrp="1"/>
          </p:cNvSpPr>
          <p:nvPr>
            <p:ph type="title"/>
          </p:nvPr>
        </p:nvSpPr>
        <p:spPr>
          <a:xfrm>
            <a:off x="623888" y="1709739"/>
            <a:ext cx="7886700" cy="2852737"/>
          </a:xfrm>
          <a:prstGeom prst="rect">
            <a:avLst/>
          </a:prstGeom>
          <a:noFill/>
          <a:ln>
            <a:noFill/>
          </a:ln>
        </p:spPr>
        <p:txBody>
          <a:bodyPr spcFirstLastPara="1" wrap="square" lIns="91425" tIns="45700" rIns="91425" bIns="45700" anchor="b" anchorCtr="0">
            <a:normAutofit/>
          </a:bodyPr>
          <a:lstStyle/>
          <a:p>
            <a:pPr marL="0" lvl="0" indent="0" algn="l" rtl="0">
              <a:lnSpc>
                <a:spcPct val="90000"/>
              </a:lnSpc>
              <a:spcBef>
                <a:spcPts val="0"/>
              </a:spcBef>
              <a:spcAft>
                <a:spcPts val="0"/>
              </a:spcAft>
              <a:buClr>
                <a:schemeClr val="lt1"/>
              </a:buClr>
              <a:buSzPts val="4400"/>
              <a:buFont typeface="Calibri"/>
              <a:buNone/>
            </a:pPr>
            <a:r>
              <a:rPr lang="en-US"/>
              <a:t>Cross-cutting Ideational Factors</a:t>
            </a:r>
            <a:endParaRPr/>
          </a:p>
        </p:txBody>
      </p:sp>
      <p:sp>
        <p:nvSpPr>
          <p:cNvPr id="135" name="Google Shape;135;p11"/>
          <p:cNvSpPr txBox="1">
            <a:spLocks noGrp="1"/>
          </p:cNvSpPr>
          <p:nvPr>
            <p:ph type="body" idx="1"/>
          </p:nvPr>
        </p:nvSpPr>
        <p:spPr>
          <a:xfrm>
            <a:off x="623888" y="4589464"/>
            <a:ext cx="7886700" cy="1500187"/>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chemeClr val="lt1"/>
              </a:buClr>
              <a:buSzPts val="2400"/>
              <a:buNone/>
            </a:pPr>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40"/>
        <p:cNvGrpSpPr/>
        <p:nvPr/>
      </p:nvGrpSpPr>
      <p:grpSpPr>
        <a:xfrm>
          <a:off x="0" y="0"/>
          <a:ext cx="0" cy="0"/>
          <a:chOff x="0" y="0"/>
          <a:chExt cx="0" cy="0"/>
        </a:xfrm>
      </p:grpSpPr>
      <p:graphicFrame>
        <p:nvGraphicFramePr>
          <p:cNvPr id="141" name="Google Shape;141;g107d85dcbfc_2_9"/>
          <p:cNvGraphicFramePr/>
          <p:nvPr/>
        </p:nvGraphicFramePr>
        <p:xfrm>
          <a:off x="753575" y="565025"/>
          <a:ext cx="7636825" cy="5336540"/>
        </p:xfrm>
        <a:graphic>
          <a:graphicData uri="http://schemas.openxmlformats.org/drawingml/2006/table">
            <a:tbl>
              <a:tblPr>
                <a:noFill/>
                <a:tableStyleId>{0F5DDAFE-8A5D-45DF-BDFB-D2D1054F2A95}</a:tableStyleId>
              </a:tblPr>
              <a:tblGrid>
                <a:gridCol w="7636825">
                  <a:extLst>
                    <a:ext uri="{9D8B030D-6E8A-4147-A177-3AD203B41FA5}">
                      <a16:colId xmlns:a16="http://schemas.microsoft.com/office/drawing/2014/main" val="20000"/>
                    </a:ext>
                  </a:extLst>
                </a:gridCol>
              </a:tblGrid>
              <a:tr h="4391300">
                <a:tc>
                  <a:txBody>
                    <a:bodyPr/>
                    <a:lstStyle/>
                    <a:p>
                      <a:pPr marL="0" lvl="0" indent="0" algn="l" rtl="0">
                        <a:spcBef>
                          <a:spcPts val="1400"/>
                        </a:spcBef>
                        <a:spcAft>
                          <a:spcPts val="0"/>
                        </a:spcAft>
                        <a:buClr>
                          <a:schemeClr val="dk1"/>
                        </a:buClr>
                        <a:buSzPts val="1100"/>
                        <a:buFont typeface="Arial"/>
                        <a:buNone/>
                      </a:pPr>
                      <a:r>
                        <a:rPr lang="en-US" sz="2400" b="1">
                          <a:solidFill>
                            <a:schemeClr val="dk1"/>
                          </a:solidFill>
                          <a:latin typeface="Calibri"/>
                          <a:ea typeface="Calibri"/>
                          <a:cs typeface="Calibri"/>
                          <a:sym typeface="Calibri"/>
                        </a:rPr>
                        <a:t>Glossary of terms used in the MBS</a:t>
                      </a:r>
                      <a:endParaRPr sz="2400" b="1">
                        <a:solidFill>
                          <a:schemeClr val="dk1"/>
                        </a:solidFill>
                        <a:latin typeface="Calibri"/>
                        <a:ea typeface="Calibri"/>
                        <a:cs typeface="Calibri"/>
                        <a:sym typeface="Calibri"/>
                      </a:endParaRPr>
                    </a:p>
                    <a:p>
                      <a:pPr marL="914400" lvl="0" indent="-355600" algn="l" rtl="0">
                        <a:spcBef>
                          <a:spcPts val="400"/>
                        </a:spcBef>
                        <a:spcAft>
                          <a:spcPts val="0"/>
                        </a:spcAft>
                        <a:buClr>
                          <a:schemeClr val="dk1"/>
                        </a:buClr>
                        <a:buSzPts val="2000"/>
                        <a:buFont typeface="Calibri"/>
                        <a:buChar char="❖"/>
                      </a:pPr>
                      <a:r>
                        <a:rPr lang="en-US" sz="2000">
                          <a:solidFill>
                            <a:schemeClr val="dk1"/>
                          </a:solidFill>
                          <a:latin typeface="Calibri"/>
                          <a:ea typeface="Calibri"/>
                          <a:cs typeface="Calibri"/>
                          <a:sym typeface="Calibri"/>
                        </a:rPr>
                        <a:t>Perceived susceptibility is the belief that one is likely to be affected by a health problem.</a:t>
                      </a:r>
                      <a:endParaRPr sz="2000">
                        <a:solidFill>
                          <a:schemeClr val="dk1"/>
                        </a:solidFill>
                        <a:latin typeface="Calibri"/>
                        <a:ea typeface="Calibri"/>
                        <a:cs typeface="Calibri"/>
                        <a:sym typeface="Calibri"/>
                      </a:endParaRPr>
                    </a:p>
                    <a:p>
                      <a:pPr marL="914400" lvl="0" indent="-355600" algn="l" rtl="0">
                        <a:spcBef>
                          <a:spcPts val="0"/>
                        </a:spcBef>
                        <a:spcAft>
                          <a:spcPts val="0"/>
                        </a:spcAft>
                        <a:buClr>
                          <a:schemeClr val="dk1"/>
                        </a:buClr>
                        <a:buSzPts val="2000"/>
                        <a:buFont typeface="Calibri"/>
                        <a:buChar char="❖"/>
                      </a:pPr>
                      <a:r>
                        <a:rPr lang="en-US" sz="2000">
                          <a:solidFill>
                            <a:schemeClr val="dk1"/>
                          </a:solidFill>
                          <a:latin typeface="Calibri"/>
                          <a:ea typeface="Calibri"/>
                          <a:cs typeface="Calibri"/>
                          <a:sym typeface="Calibri"/>
                        </a:rPr>
                        <a:t>Perceived severity is the perception that the consequences of a condition are severe.</a:t>
                      </a:r>
                      <a:endParaRPr sz="2000">
                        <a:solidFill>
                          <a:schemeClr val="dk1"/>
                        </a:solidFill>
                        <a:latin typeface="Calibri"/>
                        <a:ea typeface="Calibri"/>
                        <a:cs typeface="Calibri"/>
                        <a:sym typeface="Calibri"/>
                      </a:endParaRPr>
                    </a:p>
                    <a:p>
                      <a:pPr marL="914400" lvl="0" indent="-355600" algn="l" rtl="0">
                        <a:spcBef>
                          <a:spcPts val="0"/>
                        </a:spcBef>
                        <a:spcAft>
                          <a:spcPts val="0"/>
                        </a:spcAft>
                        <a:buClr>
                          <a:schemeClr val="dk1"/>
                        </a:buClr>
                        <a:buSzPts val="2000"/>
                        <a:buFont typeface="Calibri"/>
                        <a:buChar char="❖"/>
                      </a:pPr>
                      <a:r>
                        <a:rPr lang="en-US" sz="2000">
                          <a:solidFill>
                            <a:schemeClr val="dk1"/>
                          </a:solidFill>
                          <a:latin typeface="Calibri"/>
                          <a:ea typeface="Calibri"/>
                          <a:cs typeface="Calibri"/>
                          <a:sym typeface="Calibri"/>
                        </a:rPr>
                        <a:t>Perceived response efficacy is the belief that a recommended action will help a person avoid the threat.</a:t>
                      </a:r>
                      <a:endParaRPr sz="2000">
                        <a:solidFill>
                          <a:schemeClr val="dk1"/>
                        </a:solidFill>
                        <a:latin typeface="Calibri"/>
                        <a:ea typeface="Calibri"/>
                        <a:cs typeface="Calibri"/>
                        <a:sym typeface="Calibri"/>
                      </a:endParaRPr>
                    </a:p>
                    <a:p>
                      <a:pPr marL="914400" lvl="0" indent="-355600" algn="l" rtl="0">
                        <a:spcBef>
                          <a:spcPts val="0"/>
                        </a:spcBef>
                        <a:spcAft>
                          <a:spcPts val="0"/>
                        </a:spcAft>
                        <a:buClr>
                          <a:schemeClr val="dk1"/>
                        </a:buClr>
                        <a:buSzPts val="2000"/>
                        <a:buFont typeface="Calibri"/>
                        <a:buChar char="❖"/>
                      </a:pPr>
                      <a:r>
                        <a:rPr lang="en-US" sz="2000">
                          <a:solidFill>
                            <a:schemeClr val="dk1"/>
                          </a:solidFill>
                          <a:latin typeface="Calibri"/>
                          <a:ea typeface="Calibri"/>
                          <a:cs typeface="Calibri"/>
                          <a:sym typeface="Calibri"/>
                        </a:rPr>
                        <a:t>Perceived self-efficacy is a belief in an individual’s ability to take relevant actions.</a:t>
                      </a:r>
                      <a:endParaRPr sz="2000">
                        <a:solidFill>
                          <a:schemeClr val="dk1"/>
                        </a:solidFill>
                        <a:latin typeface="Calibri"/>
                        <a:ea typeface="Calibri"/>
                        <a:cs typeface="Calibri"/>
                        <a:sym typeface="Calibri"/>
                      </a:endParaRPr>
                    </a:p>
                    <a:p>
                      <a:pPr marL="914400" lvl="0" indent="-355600" algn="l" rtl="0">
                        <a:spcBef>
                          <a:spcPts val="0"/>
                        </a:spcBef>
                        <a:spcAft>
                          <a:spcPts val="0"/>
                        </a:spcAft>
                        <a:buClr>
                          <a:schemeClr val="dk1"/>
                        </a:buClr>
                        <a:buSzPts val="2000"/>
                        <a:buFont typeface="Calibri"/>
                        <a:buChar char="❖"/>
                      </a:pPr>
                      <a:r>
                        <a:rPr lang="en-US" sz="2000">
                          <a:solidFill>
                            <a:schemeClr val="dk1"/>
                          </a:solidFill>
                          <a:latin typeface="Calibri"/>
                          <a:ea typeface="Calibri"/>
                          <a:cs typeface="Calibri"/>
                          <a:sym typeface="Calibri"/>
                        </a:rPr>
                        <a:t>Descriptive norms are the perceptions of what other people do, while injunctive norms are the perceptions of what is approved or disapproved of by others.</a:t>
                      </a:r>
                      <a:endParaRPr sz="2000">
                        <a:solidFill>
                          <a:schemeClr val="dk1"/>
                        </a:solidFill>
                        <a:latin typeface="Calibri"/>
                        <a:ea typeface="Calibri"/>
                        <a:cs typeface="Calibri"/>
                        <a:sym typeface="Calibri"/>
                      </a:endParaRPr>
                    </a:p>
                    <a:p>
                      <a:pPr marL="914400" lvl="0" indent="-355600" algn="l" rtl="0">
                        <a:spcBef>
                          <a:spcPts val="0"/>
                        </a:spcBef>
                        <a:spcAft>
                          <a:spcPts val="0"/>
                        </a:spcAft>
                        <a:buClr>
                          <a:schemeClr val="dk1"/>
                        </a:buClr>
                        <a:buSzPts val="2000"/>
                        <a:buFont typeface="Calibri"/>
                        <a:buChar char="❖"/>
                      </a:pPr>
                      <a:r>
                        <a:rPr lang="en-US" sz="2000">
                          <a:solidFill>
                            <a:schemeClr val="dk1"/>
                          </a:solidFill>
                          <a:latin typeface="Calibri"/>
                          <a:ea typeface="Calibri"/>
                          <a:cs typeface="Calibri"/>
                          <a:sym typeface="Calibri"/>
                        </a:rPr>
                        <a:t>Interpersonal communication is the discussion with others regarding relevant topics.</a:t>
                      </a:r>
                      <a:endParaRPr sz="2000">
                        <a:solidFill>
                          <a:schemeClr val="dk1"/>
                        </a:solidFill>
                        <a:latin typeface="Calibri"/>
                        <a:ea typeface="Calibri"/>
                        <a:cs typeface="Calibri"/>
                        <a:sym typeface="Calibri"/>
                      </a:endParaRPr>
                    </a:p>
                    <a:p>
                      <a:pPr marL="914400" lvl="0" indent="-355600" algn="l" rtl="0">
                        <a:spcBef>
                          <a:spcPts val="0"/>
                        </a:spcBef>
                        <a:spcAft>
                          <a:spcPts val="0"/>
                        </a:spcAft>
                        <a:buClr>
                          <a:schemeClr val="dk1"/>
                        </a:buClr>
                        <a:buSzPts val="2000"/>
                        <a:buFont typeface="Calibri"/>
                        <a:buChar char="❖"/>
                      </a:pPr>
                      <a:r>
                        <a:rPr lang="en-US" sz="2000">
                          <a:solidFill>
                            <a:schemeClr val="dk1"/>
                          </a:solidFill>
                          <a:latin typeface="Calibri"/>
                          <a:ea typeface="Calibri"/>
                          <a:cs typeface="Calibri"/>
                          <a:sym typeface="Calibri"/>
                        </a:rPr>
                        <a:t>Decision-making autonomy is a person’s active involvement in relevant decisions.</a:t>
                      </a:r>
                      <a:endParaRPr sz="2000" b="1">
                        <a:latin typeface="Calibri"/>
                        <a:ea typeface="Calibri"/>
                        <a:cs typeface="Calibri"/>
                        <a:sym typeface="Calibri"/>
                      </a:endParaRPr>
                    </a:p>
                    <a:p>
                      <a:pPr marL="457200" lvl="0" indent="0" algn="l" rtl="0">
                        <a:spcBef>
                          <a:spcPts val="300"/>
                        </a:spcBef>
                        <a:spcAft>
                          <a:spcPts val="300"/>
                        </a:spcAft>
                        <a:buNone/>
                      </a:pPr>
                      <a:endParaRPr sz="1200">
                        <a:latin typeface="Times New Roman"/>
                        <a:ea typeface="Times New Roman"/>
                        <a:cs typeface="Times New Roman"/>
                        <a:sym typeface="Times New Roman"/>
                      </a:endParaRPr>
                    </a:p>
                  </a:txBody>
                  <a:tcPr marL="63500" marR="63500" marT="63500" marB="63500">
                    <a:lnL w="12700" cap="flat" cmpd="sng">
                      <a:solidFill>
                        <a:srgbClr val="BFBFBF"/>
                      </a:solidFill>
                      <a:prstDash val="solid"/>
                      <a:round/>
                      <a:headEnd type="none" w="sm" len="sm"/>
                      <a:tailEnd type="none" w="sm" len="sm"/>
                    </a:lnL>
                    <a:lnR w="12700" cap="flat" cmpd="sng">
                      <a:solidFill>
                        <a:srgbClr val="BFBFBF"/>
                      </a:solidFill>
                      <a:prstDash val="solid"/>
                      <a:round/>
                      <a:headEnd type="none" w="sm" len="sm"/>
                      <a:tailEnd type="none" w="sm" len="sm"/>
                    </a:lnR>
                    <a:lnT w="12700" cap="flat" cmpd="sng">
                      <a:solidFill>
                        <a:srgbClr val="BFBFBF"/>
                      </a:solidFill>
                      <a:prstDash val="solid"/>
                      <a:round/>
                      <a:headEnd type="none" w="sm" len="sm"/>
                      <a:tailEnd type="none" w="sm" len="sm"/>
                    </a:lnT>
                    <a:lnB w="12700" cap="flat" cmpd="sng">
                      <a:solidFill>
                        <a:srgbClr val="BFBFBF"/>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45"/>
        <p:cNvGrpSpPr/>
        <p:nvPr/>
      </p:nvGrpSpPr>
      <p:grpSpPr>
        <a:xfrm>
          <a:off x="0" y="0"/>
          <a:ext cx="0" cy="0"/>
          <a:chOff x="0" y="0"/>
          <a:chExt cx="0" cy="0"/>
        </a:xfrm>
      </p:grpSpPr>
      <p:sp>
        <p:nvSpPr>
          <p:cNvPr id="146" name="Google Shape;146;p12"/>
          <p:cNvSpPr txBox="1">
            <a:spLocks noGrp="1"/>
          </p:cNvSpPr>
          <p:nvPr>
            <p:ph type="title"/>
          </p:nvPr>
        </p:nvSpPr>
        <p:spPr>
          <a:xfrm>
            <a:off x="1105230" y="365126"/>
            <a:ext cx="7410119"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08A6E2"/>
              </a:buClr>
              <a:buSzPts val="4000"/>
              <a:buFont typeface="Calibri"/>
              <a:buNone/>
            </a:pPr>
            <a:r>
              <a:rPr lang="en-US"/>
              <a:t>Ideational Factors: Malaria</a:t>
            </a:r>
            <a:endParaRPr/>
          </a:p>
        </p:txBody>
      </p:sp>
      <p:sp>
        <p:nvSpPr>
          <p:cNvPr id="147" name="Google Shape;147;p12"/>
          <p:cNvSpPr txBox="1">
            <a:spLocks noGrp="1"/>
          </p:cNvSpPr>
          <p:nvPr>
            <p:ph type="sldNum" idx="12"/>
          </p:nvPr>
        </p:nvSpPr>
        <p:spPr>
          <a:xfrm>
            <a:off x="1105230" y="6359608"/>
            <a:ext cx="7410119"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fld id="{00000000-1234-1234-1234-123412341234}" type="slidenum">
              <a:rPr lang="en-US"/>
              <a:t>15</a:t>
            </a:fld>
            <a:endParaRPr/>
          </a:p>
        </p:txBody>
      </p:sp>
      <p:pic>
        <p:nvPicPr>
          <p:cNvPr id="148" name="Google Shape;148;p12"/>
          <p:cNvPicPr preferRelativeResize="0">
            <a:picLocks noGrp="1"/>
          </p:cNvPicPr>
          <p:nvPr>
            <p:ph type="body" idx="2"/>
          </p:nvPr>
        </p:nvPicPr>
        <p:blipFill rotWithShape="1">
          <a:blip r:embed="rId3">
            <a:alphaModFix/>
          </a:blip>
          <a:srcRect/>
          <a:stretch/>
        </p:blipFill>
        <p:spPr>
          <a:xfrm>
            <a:off x="1622800" y="1344477"/>
            <a:ext cx="6189600" cy="4656300"/>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52"/>
        <p:cNvGrpSpPr/>
        <p:nvPr/>
      </p:nvGrpSpPr>
      <p:grpSpPr>
        <a:xfrm>
          <a:off x="0" y="0"/>
          <a:ext cx="0" cy="0"/>
          <a:chOff x="0" y="0"/>
          <a:chExt cx="0" cy="0"/>
        </a:xfrm>
      </p:grpSpPr>
      <p:sp>
        <p:nvSpPr>
          <p:cNvPr id="153" name="Google Shape;153;g107d85dcbfc_3_15"/>
          <p:cNvSpPr txBox="1">
            <a:spLocks noGrp="1"/>
          </p:cNvSpPr>
          <p:nvPr>
            <p:ph type="title"/>
          </p:nvPr>
        </p:nvSpPr>
        <p:spPr>
          <a:xfrm>
            <a:off x="1477230" y="-120124"/>
            <a:ext cx="7410000" cy="13257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08A6E2"/>
              </a:buClr>
              <a:buSzPts val="4000"/>
              <a:buFont typeface="Calibri"/>
              <a:buNone/>
            </a:pPr>
            <a:r>
              <a:rPr lang="en-US"/>
              <a:t>Ideational Factors</a:t>
            </a:r>
            <a:endParaRPr/>
          </a:p>
        </p:txBody>
      </p:sp>
      <p:sp>
        <p:nvSpPr>
          <p:cNvPr id="154" name="Google Shape;154;g107d85dcbfc_3_15"/>
          <p:cNvSpPr txBox="1">
            <a:spLocks noGrp="1"/>
          </p:cNvSpPr>
          <p:nvPr>
            <p:ph type="sldNum" idx="12"/>
          </p:nvPr>
        </p:nvSpPr>
        <p:spPr>
          <a:xfrm>
            <a:off x="1105230" y="6359608"/>
            <a:ext cx="7410000" cy="36510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fld id="{00000000-1234-1234-1234-123412341234}" type="slidenum">
              <a:rPr lang="en-US"/>
              <a:t>16</a:t>
            </a:fld>
            <a:endParaRPr/>
          </a:p>
        </p:txBody>
      </p:sp>
      <p:sp>
        <p:nvSpPr>
          <p:cNvPr id="155" name="Google Shape;155;g107d85dcbfc_3_15"/>
          <p:cNvSpPr txBox="1"/>
          <p:nvPr/>
        </p:nvSpPr>
        <p:spPr>
          <a:xfrm>
            <a:off x="5278424" y="2224655"/>
            <a:ext cx="3403200" cy="6465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endParaRPr sz="1800">
              <a:solidFill>
                <a:schemeClr val="dk1"/>
              </a:solidFill>
              <a:highlight>
                <a:srgbClr val="FFD966"/>
              </a:highlight>
              <a:latin typeface="Calibri"/>
              <a:ea typeface="Calibri"/>
              <a:cs typeface="Calibri"/>
              <a:sym typeface="Calibri"/>
            </a:endParaRPr>
          </a:p>
          <a:p>
            <a:pPr marL="0" marR="0" lvl="0" indent="0" algn="l" rtl="0">
              <a:spcBef>
                <a:spcPts val="0"/>
              </a:spcBef>
              <a:spcAft>
                <a:spcPts val="0"/>
              </a:spcAft>
              <a:buNone/>
            </a:pPr>
            <a:endParaRPr sz="1800">
              <a:solidFill>
                <a:schemeClr val="dk1"/>
              </a:solidFill>
              <a:highlight>
                <a:srgbClr val="FFD966"/>
              </a:highlight>
              <a:latin typeface="Calibri"/>
              <a:ea typeface="Calibri"/>
              <a:cs typeface="Calibri"/>
              <a:sym typeface="Calibri"/>
            </a:endParaRPr>
          </a:p>
        </p:txBody>
      </p:sp>
      <p:pic>
        <p:nvPicPr>
          <p:cNvPr id="156" name="Google Shape;156;g107d85dcbfc_3_15"/>
          <p:cNvPicPr preferRelativeResize="0"/>
          <p:nvPr/>
        </p:nvPicPr>
        <p:blipFill rotWithShape="1">
          <a:blip r:embed="rId3">
            <a:alphaModFix/>
          </a:blip>
          <a:srcRect/>
          <a:stretch/>
        </p:blipFill>
        <p:spPr>
          <a:xfrm>
            <a:off x="1105225" y="799249"/>
            <a:ext cx="7410002" cy="5488730"/>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60"/>
        <p:cNvGrpSpPr/>
        <p:nvPr/>
      </p:nvGrpSpPr>
      <p:grpSpPr>
        <a:xfrm>
          <a:off x="0" y="0"/>
          <a:ext cx="0" cy="0"/>
          <a:chOff x="0" y="0"/>
          <a:chExt cx="0" cy="0"/>
        </a:xfrm>
      </p:grpSpPr>
      <p:sp>
        <p:nvSpPr>
          <p:cNvPr id="161" name="Google Shape;161;p13"/>
          <p:cNvSpPr txBox="1">
            <a:spLocks noGrp="1"/>
          </p:cNvSpPr>
          <p:nvPr>
            <p:ph type="title"/>
          </p:nvPr>
        </p:nvSpPr>
        <p:spPr>
          <a:xfrm>
            <a:off x="1105230" y="365126"/>
            <a:ext cx="7410119"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08A6E2"/>
              </a:buClr>
              <a:buSzPts val="4000"/>
              <a:buFont typeface="Calibri"/>
              <a:buNone/>
            </a:pPr>
            <a:r>
              <a:rPr lang="en-US"/>
              <a:t>Attitudes towards health providers and workers</a:t>
            </a:r>
            <a:endParaRPr/>
          </a:p>
        </p:txBody>
      </p:sp>
      <p:sp>
        <p:nvSpPr>
          <p:cNvPr id="162" name="Google Shape;162;p13"/>
          <p:cNvSpPr txBox="1">
            <a:spLocks noGrp="1"/>
          </p:cNvSpPr>
          <p:nvPr>
            <p:ph type="body" idx="1"/>
          </p:nvPr>
        </p:nvSpPr>
        <p:spPr>
          <a:xfrm>
            <a:off x="1105230" y="1827925"/>
            <a:ext cx="7410000" cy="3925200"/>
          </a:xfrm>
          <a:prstGeom prst="rect">
            <a:avLst/>
          </a:prstGeom>
          <a:noFill/>
          <a:ln>
            <a:noFill/>
          </a:ln>
        </p:spPr>
        <p:txBody>
          <a:bodyPr spcFirstLastPara="1" wrap="square" lIns="91425" tIns="45700" rIns="91425" bIns="45700" anchor="t" anchorCtr="0">
            <a:normAutofit lnSpcReduction="20000"/>
          </a:bodyPr>
          <a:lstStyle/>
          <a:p>
            <a:pPr marL="0" lvl="0" indent="0" algn="l" rtl="0">
              <a:lnSpc>
                <a:spcPct val="100000"/>
              </a:lnSpc>
              <a:spcBef>
                <a:spcPts val="0"/>
              </a:spcBef>
              <a:spcAft>
                <a:spcPts val="0"/>
              </a:spcAft>
              <a:buNone/>
            </a:pPr>
            <a:endParaRPr sz="2400"/>
          </a:p>
          <a:p>
            <a:pPr marL="914400" lvl="1" indent="-387350" algn="l" rtl="0">
              <a:lnSpc>
                <a:spcPct val="100000"/>
              </a:lnSpc>
              <a:spcBef>
                <a:spcPts val="0"/>
              </a:spcBef>
              <a:spcAft>
                <a:spcPts val="0"/>
              </a:spcAft>
              <a:buSzPts val="2500"/>
              <a:buFont typeface="Arial"/>
              <a:buChar char="➢"/>
            </a:pPr>
            <a:r>
              <a:rPr lang="en-US" sz="2500"/>
              <a:t>Favorable attitudes towards facility-based health providers were significantly and positively associated with women, rural residence, higher transmission areas, and lower income quintiles</a:t>
            </a:r>
            <a:endParaRPr sz="2500"/>
          </a:p>
          <a:p>
            <a:pPr marL="914400" lvl="0" indent="0" algn="l" rtl="0">
              <a:lnSpc>
                <a:spcPct val="100000"/>
              </a:lnSpc>
              <a:spcBef>
                <a:spcPts val="0"/>
              </a:spcBef>
              <a:spcAft>
                <a:spcPts val="0"/>
              </a:spcAft>
              <a:buNone/>
            </a:pPr>
            <a:endParaRPr sz="2500"/>
          </a:p>
          <a:p>
            <a:pPr marL="914400" lvl="1" indent="-381000" algn="l" rtl="0">
              <a:lnSpc>
                <a:spcPct val="100000"/>
              </a:lnSpc>
              <a:spcBef>
                <a:spcPts val="0"/>
              </a:spcBef>
              <a:spcAft>
                <a:spcPts val="0"/>
              </a:spcAft>
              <a:buSzPts val="2400"/>
              <a:buFont typeface="Arial"/>
              <a:buChar char="➢"/>
            </a:pPr>
            <a:r>
              <a:rPr lang="en-US"/>
              <a:t>Women, older respondents, and those living in higher transmission areas were significantly more likely to register favorable attitudes towards CHWs.</a:t>
            </a:r>
            <a:endParaRPr/>
          </a:p>
          <a:p>
            <a:pPr marL="914400" lvl="0" indent="0" algn="l" rtl="0">
              <a:lnSpc>
                <a:spcPct val="100000"/>
              </a:lnSpc>
              <a:spcBef>
                <a:spcPts val="0"/>
              </a:spcBef>
              <a:spcAft>
                <a:spcPts val="0"/>
              </a:spcAft>
              <a:buNone/>
            </a:pPr>
            <a:endParaRPr sz="2500"/>
          </a:p>
          <a:p>
            <a:pPr marL="914400" lvl="1" indent="-303530" algn="l" rtl="0">
              <a:lnSpc>
                <a:spcPct val="100000"/>
              </a:lnSpc>
              <a:spcBef>
                <a:spcPts val="0"/>
              </a:spcBef>
              <a:spcAft>
                <a:spcPts val="0"/>
              </a:spcAft>
              <a:buSzPts val="1180"/>
              <a:buChar char="➢"/>
            </a:pPr>
            <a:endParaRPr sz="2500"/>
          </a:p>
        </p:txBody>
      </p:sp>
      <p:sp>
        <p:nvSpPr>
          <p:cNvPr id="163" name="Google Shape;163;p13"/>
          <p:cNvSpPr txBox="1">
            <a:spLocks noGrp="1"/>
          </p:cNvSpPr>
          <p:nvPr>
            <p:ph type="sldNum" idx="12"/>
          </p:nvPr>
        </p:nvSpPr>
        <p:spPr>
          <a:xfrm>
            <a:off x="1105230" y="6359608"/>
            <a:ext cx="7410119"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fld id="{00000000-1234-1234-1234-123412341234}" type="slidenum">
              <a:rPr lang="en-US"/>
              <a:t>17</a:t>
            </a:fld>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67"/>
        <p:cNvGrpSpPr/>
        <p:nvPr/>
      </p:nvGrpSpPr>
      <p:grpSpPr>
        <a:xfrm>
          <a:off x="0" y="0"/>
          <a:ext cx="0" cy="0"/>
          <a:chOff x="0" y="0"/>
          <a:chExt cx="0" cy="0"/>
        </a:xfrm>
      </p:grpSpPr>
      <p:sp>
        <p:nvSpPr>
          <p:cNvPr id="168" name="Google Shape;168;p14"/>
          <p:cNvSpPr txBox="1">
            <a:spLocks noGrp="1"/>
          </p:cNvSpPr>
          <p:nvPr>
            <p:ph type="title"/>
          </p:nvPr>
        </p:nvSpPr>
        <p:spPr>
          <a:xfrm>
            <a:off x="623888" y="1709739"/>
            <a:ext cx="7886700" cy="2852737"/>
          </a:xfrm>
          <a:prstGeom prst="rect">
            <a:avLst/>
          </a:prstGeom>
          <a:noFill/>
          <a:ln>
            <a:noFill/>
          </a:ln>
        </p:spPr>
        <p:txBody>
          <a:bodyPr spcFirstLastPara="1" wrap="square" lIns="91425" tIns="45700" rIns="91425" bIns="45700" anchor="b" anchorCtr="0">
            <a:normAutofit/>
          </a:bodyPr>
          <a:lstStyle/>
          <a:p>
            <a:pPr marL="0" lvl="0" indent="0" algn="l" rtl="0">
              <a:lnSpc>
                <a:spcPct val="90000"/>
              </a:lnSpc>
              <a:spcBef>
                <a:spcPts val="0"/>
              </a:spcBef>
              <a:spcAft>
                <a:spcPts val="0"/>
              </a:spcAft>
              <a:buClr>
                <a:schemeClr val="lt1"/>
              </a:buClr>
              <a:buSzPts val="4400"/>
              <a:buFont typeface="Calibri"/>
              <a:buNone/>
            </a:pPr>
            <a:r>
              <a:rPr lang="en-US"/>
              <a:t>Malaria Case Management</a:t>
            </a:r>
            <a:endParaRPr/>
          </a:p>
        </p:txBody>
      </p:sp>
      <p:sp>
        <p:nvSpPr>
          <p:cNvPr id="169" name="Google Shape;169;p14"/>
          <p:cNvSpPr txBox="1">
            <a:spLocks noGrp="1"/>
          </p:cNvSpPr>
          <p:nvPr>
            <p:ph type="body" idx="1"/>
          </p:nvPr>
        </p:nvSpPr>
        <p:spPr>
          <a:xfrm>
            <a:off x="623888" y="4589464"/>
            <a:ext cx="7886700" cy="1500187"/>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chemeClr val="lt1"/>
              </a:buClr>
              <a:buSzPts val="2400"/>
              <a:buNone/>
            </a:pPr>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73"/>
        <p:cNvGrpSpPr/>
        <p:nvPr/>
      </p:nvGrpSpPr>
      <p:grpSpPr>
        <a:xfrm>
          <a:off x="0" y="0"/>
          <a:ext cx="0" cy="0"/>
          <a:chOff x="0" y="0"/>
          <a:chExt cx="0" cy="0"/>
        </a:xfrm>
      </p:grpSpPr>
      <p:sp>
        <p:nvSpPr>
          <p:cNvPr id="174" name="Google Shape;174;p15"/>
          <p:cNvSpPr txBox="1">
            <a:spLocks noGrp="1"/>
          </p:cNvSpPr>
          <p:nvPr>
            <p:ph type="title"/>
          </p:nvPr>
        </p:nvSpPr>
        <p:spPr>
          <a:xfrm>
            <a:off x="1105225" y="365125"/>
            <a:ext cx="7758900" cy="13257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08A6E2"/>
              </a:buClr>
              <a:buSzPts val="4000"/>
              <a:buFont typeface="Calibri"/>
              <a:buNone/>
            </a:pPr>
            <a:r>
              <a:rPr lang="en-US" sz="3700"/>
              <a:t>Knowledge: Care-seeking &amp; Treatment</a:t>
            </a:r>
            <a:endParaRPr sz="3700"/>
          </a:p>
        </p:txBody>
      </p:sp>
      <p:sp>
        <p:nvSpPr>
          <p:cNvPr id="175" name="Google Shape;175;p15"/>
          <p:cNvSpPr txBox="1">
            <a:spLocks noGrp="1"/>
          </p:cNvSpPr>
          <p:nvPr>
            <p:ph type="sldNum" idx="12"/>
          </p:nvPr>
        </p:nvSpPr>
        <p:spPr>
          <a:xfrm>
            <a:off x="1105230" y="6359608"/>
            <a:ext cx="7410119"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fld id="{00000000-1234-1234-1234-123412341234}" type="slidenum">
              <a:rPr lang="en-US"/>
              <a:t>19</a:t>
            </a:fld>
            <a:endParaRPr/>
          </a:p>
        </p:txBody>
      </p:sp>
      <p:pic>
        <p:nvPicPr>
          <p:cNvPr id="176" name="Google Shape;176;p15"/>
          <p:cNvPicPr preferRelativeResize="0">
            <a:picLocks noGrp="1"/>
          </p:cNvPicPr>
          <p:nvPr>
            <p:ph type="body" idx="1"/>
          </p:nvPr>
        </p:nvPicPr>
        <p:blipFill rotWithShape="1">
          <a:blip r:embed="rId3">
            <a:alphaModFix/>
          </a:blip>
          <a:srcRect/>
          <a:stretch/>
        </p:blipFill>
        <p:spPr>
          <a:xfrm>
            <a:off x="852450" y="1374825"/>
            <a:ext cx="7938300" cy="4017600"/>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82"/>
        <p:cNvGrpSpPr/>
        <p:nvPr/>
      </p:nvGrpSpPr>
      <p:grpSpPr>
        <a:xfrm>
          <a:off x="0" y="0"/>
          <a:ext cx="0" cy="0"/>
          <a:chOff x="0" y="0"/>
          <a:chExt cx="0" cy="0"/>
        </a:xfrm>
      </p:grpSpPr>
      <p:sp>
        <p:nvSpPr>
          <p:cNvPr id="183" name="Google Shape;183;g107e1b577a3_2_12"/>
          <p:cNvSpPr txBox="1">
            <a:spLocks noGrp="1"/>
          </p:cNvSpPr>
          <p:nvPr>
            <p:ph type="title"/>
          </p:nvPr>
        </p:nvSpPr>
        <p:spPr>
          <a:xfrm>
            <a:off x="1105230" y="365126"/>
            <a:ext cx="7410000" cy="1325700"/>
          </a:xfrm>
          <a:prstGeom prst="rect">
            <a:avLst/>
          </a:prstGeom>
        </p:spPr>
        <p:txBody>
          <a:bodyPr spcFirstLastPara="1" wrap="square" lIns="91425" tIns="45700" rIns="91425" bIns="45700" anchor="ctr" anchorCtr="0">
            <a:normAutofit/>
          </a:bodyPr>
          <a:lstStyle/>
          <a:p>
            <a:pPr marL="0" lvl="0" indent="0" algn="l" rtl="0">
              <a:spcBef>
                <a:spcPts val="0"/>
              </a:spcBef>
              <a:spcAft>
                <a:spcPts val="0"/>
              </a:spcAft>
              <a:buNone/>
            </a:pPr>
            <a:r>
              <a:rPr lang="en-US"/>
              <a:t>Ideational Factors: Malaria Case Management</a:t>
            </a:r>
            <a:endParaRPr/>
          </a:p>
        </p:txBody>
      </p:sp>
      <p:sp>
        <p:nvSpPr>
          <p:cNvPr id="184" name="Google Shape;184;g107e1b577a3_2_12"/>
          <p:cNvSpPr txBox="1">
            <a:spLocks noGrp="1"/>
          </p:cNvSpPr>
          <p:nvPr>
            <p:ph type="sldNum" idx="12"/>
          </p:nvPr>
        </p:nvSpPr>
        <p:spPr>
          <a:xfrm>
            <a:off x="1105230" y="6359608"/>
            <a:ext cx="7410000" cy="365100"/>
          </a:xfrm>
          <a:prstGeom prst="rect">
            <a:avLst/>
          </a:prstGeom>
        </p:spPr>
        <p:txBody>
          <a:bodyPr spcFirstLastPara="1" wrap="square" lIns="91425" tIns="45700" rIns="91425" bIns="45700" anchor="ctr" anchorCtr="0">
            <a:noAutofit/>
          </a:bodyPr>
          <a:lstStyle/>
          <a:p>
            <a:pPr marL="0" lvl="0" indent="0" algn="ctr" rtl="0">
              <a:spcBef>
                <a:spcPts val="0"/>
              </a:spcBef>
              <a:spcAft>
                <a:spcPts val="0"/>
              </a:spcAft>
              <a:buClr>
                <a:srgbClr val="000000"/>
              </a:buClr>
              <a:buFont typeface="Arial"/>
              <a:buNone/>
            </a:pPr>
            <a:fld id="{00000000-1234-1234-1234-123412341234}" type="slidenum">
              <a:rPr lang="en-US"/>
              <a:t>20</a:t>
            </a:fld>
            <a:endParaRPr/>
          </a:p>
        </p:txBody>
      </p:sp>
      <p:pic>
        <p:nvPicPr>
          <p:cNvPr id="185" name="Google Shape;185;g107e1b577a3_2_12"/>
          <p:cNvPicPr preferRelativeResize="0"/>
          <p:nvPr/>
        </p:nvPicPr>
        <p:blipFill rotWithShape="1">
          <a:blip r:embed="rId3">
            <a:alphaModFix/>
          </a:blip>
          <a:srcRect/>
          <a:stretch/>
        </p:blipFill>
        <p:spPr>
          <a:xfrm>
            <a:off x="1193651" y="1615401"/>
            <a:ext cx="6756701" cy="4652900"/>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89"/>
        <p:cNvGrpSpPr/>
        <p:nvPr/>
      </p:nvGrpSpPr>
      <p:grpSpPr>
        <a:xfrm>
          <a:off x="0" y="0"/>
          <a:ext cx="0" cy="0"/>
          <a:chOff x="0" y="0"/>
          <a:chExt cx="0" cy="0"/>
        </a:xfrm>
      </p:grpSpPr>
      <p:pic>
        <p:nvPicPr>
          <p:cNvPr id="190" name="Google Shape;190;p17"/>
          <p:cNvPicPr preferRelativeResize="0"/>
          <p:nvPr/>
        </p:nvPicPr>
        <p:blipFill rotWithShape="1">
          <a:blip r:embed="rId3">
            <a:alphaModFix/>
          </a:blip>
          <a:srcRect/>
          <a:stretch/>
        </p:blipFill>
        <p:spPr>
          <a:xfrm>
            <a:off x="561006" y="1409075"/>
            <a:ext cx="8304766" cy="4182256"/>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94"/>
        <p:cNvGrpSpPr/>
        <p:nvPr/>
      </p:nvGrpSpPr>
      <p:grpSpPr>
        <a:xfrm>
          <a:off x="0" y="0"/>
          <a:ext cx="0" cy="0"/>
          <a:chOff x="0" y="0"/>
          <a:chExt cx="0" cy="0"/>
        </a:xfrm>
      </p:grpSpPr>
      <p:sp>
        <p:nvSpPr>
          <p:cNvPr id="195" name="Google Shape;195;p18"/>
          <p:cNvSpPr txBox="1">
            <a:spLocks noGrp="1"/>
          </p:cNvSpPr>
          <p:nvPr>
            <p:ph type="title"/>
          </p:nvPr>
        </p:nvSpPr>
        <p:spPr>
          <a:xfrm>
            <a:off x="623888" y="1709739"/>
            <a:ext cx="7886700" cy="2852737"/>
          </a:xfrm>
          <a:prstGeom prst="rect">
            <a:avLst/>
          </a:prstGeom>
          <a:noFill/>
          <a:ln>
            <a:noFill/>
          </a:ln>
        </p:spPr>
        <p:txBody>
          <a:bodyPr spcFirstLastPara="1" wrap="square" lIns="91425" tIns="45700" rIns="91425" bIns="45700" anchor="b" anchorCtr="0">
            <a:normAutofit/>
          </a:bodyPr>
          <a:lstStyle/>
          <a:p>
            <a:pPr marL="0" lvl="0" indent="0" algn="l" rtl="0">
              <a:lnSpc>
                <a:spcPct val="90000"/>
              </a:lnSpc>
              <a:spcBef>
                <a:spcPts val="0"/>
              </a:spcBef>
              <a:spcAft>
                <a:spcPts val="0"/>
              </a:spcAft>
              <a:buClr>
                <a:schemeClr val="lt1"/>
              </a:buClr>
              <a:buSzPts val="4000"/>
              <a:buFont typeface="Calibri"/>
              <a:buNone/>
            </a:pPr>
            <a:r>
              <a:rPr lang="en-US" sz="4000" b="0" i="0" u="none" strike="noStrike"/>
              <a:t>Mosquito Net/</a:t>
            </a:r>
            <a:endParaRPr sz="4000" b="0" i="0" u="none" strike="noStrike"/>
          </a:p>
          <a:p>
            <a:pPr marL="0" lvl="0" indent="0" algn="l" rtl="0">
              <a:lnSpc>
                <a:spcPct val="90000"/>
              </a:lnSpc>
              <a:spcBef>
                <a:spcPts val="0"/>
              </a:spcBef>
              <a:spcAft>
                <a:spcPts val="0"/>
              </a:spcAft>
              <a:buClr>
                <a:schemeClr val="lt1"/>
              </a:buClr>
              <a:buSzPts val="4000"/>
              <a:buFont typeface="Calibri"/>
              <a:buNone/>
            </a:pPr>
            <a:r>
              <a:rPr lang="en-US" sz="4000" b="0" i="0" u="none" strike="noStrike"/>
              <a:t>Insecticide-Treated Net Use</a:t>
            </a:r>
            <a:endParaRPr sz="4000"/>
          </a:p>
        </p:txBody>
      </p:sp>
      <p:sp>
        <p:nvSpPr>
          <p:cNvPr id="196" name="Google Shape;196;p18"/>
          <p:cNvSpPr txBox="1">
            <a:spLocks noGrp="1"/>
          </p:cNvSpPr>
          <p:nvPr>
            <p:ph type="body" idx="1"/>
          </p:nvPr>
        </p:nvSpPr>
        <p:spPr>
          <a:xfrm>
            <a:off x="623888" y="4589464"/>
            <a:ext cx="7886700" cy="1500187"/>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chemeClr val="lt1"/>
              </a:buClr>
              <a:buSzPts val="2400"/>
              <a:buNone/>
            </a:pPr>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01"/>
        <p:cNvGrpSpPr/>
        <p:nvPr/>
      </p:nvGrpSpPr>
      <p:grpSpPr>
        <a:xfrm>
          <a:off x="0" y="0"/>
          <a:ext cx="0" cy="0"/>
          <a:chOff x="0" y="0"/>
          <a:chExt cx="0" cy="0"/>
        </a:xfrm>
      </p:grpSpPr>
      <p:sp>
        <p:nvSpPr>
          <p:cNvPr id="202" name="Google Shape;202;g107e1b577a3_2_1"/>
          <p:cNvSpPr txBox="1">
            <a:spLocks noGrp="1"/>
          </p:cNvSpPr>
          <p:nvPr>
            <p:ph type="title"/>
          </p:nvPr>
        </p:nvSpPr>
        <p:spPr>
          <a:xfrm>
            <a:off x="1105230" y="365126"/>
            <a:ext cx="7410000" cy="1325700"/>
          </a:xfrm>
          <a:prstGeom prst="rect">
            <a:avLst/>
          </a:prstGeom>
        </p:spPr>
        <p:txBody>
          <a:bodyPr spcFirstLastPara="1" wrap="square" lIns="91425" tIns="45700" rIns="91425" bIns="45700" anchor="ctr" anchorCtr="0">
            <a:normAutofit/>
          </a:bodyPr>
          <a:lstStyle/>
          <a:p>
            <a:pPr marL="0" lvl="0" indent="0" algn="l" rtl="0">
              <a:spcBef>
                <a:spcPts val="0"/>
              </a:spcBef>
              <a:spcAft>
                <a:spcPts val="0"/>
              </a:spcAft>
              <a:buNone/>
            </a:pPr>
            <a:r>
              <a:rPr lang="en-US"/>
              <a:t>Ideational Factors Associated with Mosquito Nets</a:t>
            </a:r>
            <a:endParaRPr/>
          </a:p>
        </p:txBody>
      </p:sp>
      <p:sp>
        <p:nvSpPr>
          <p:cNvPr id="203" name="Google Shape;203;g107e1b577a3_2_1"/>
          <p:cNvSpPr txBox="1">
            <a:spLocks noGrp="1"/>
          </p:cNvSpPr>
          <p:nvPr>
            <p:ph type="sldNum" idx="12"/>
          </p:nvPr>
        </p:nvSpPr>
        <p:spPr>
          <a:xfrm>
            <a:off x="1105230" y="6359608"/>
            <a:ext cx="7410000" cy="365100"/>
          </a:xfrm>
          <a:prstGeom prst="rect">
            <a:avLst/>
          </a:prstGeom>
        </p:spPr>
        <p:txBody>
          <a:bodyPr spcFirstLastPara="1" wrap="square" lIns="91425" tIns="45700" rIns="91425" bIns="45700" anchor="ctr" anchorCtr="0">
            <a:noAutofit/>
          </a:bodyPr>
          <a:lstStyle/>
          <a:p>
            <a:pPr marL="0" lvl="0" indent="0" algn="ctr" rtl="0">
              <a:spcBef>
                <a:spcPts val="0"/>
              </a:spcBef>
              <a:spcAft>
                <a:spcPts val="0"/>
              </a:spcAft>
              <a:buClr>
                <a:srgbClr val="000000"/>
              </a:buClr>
              <a:buFont typeface="Arial"/>
              <a:buNone/>
            </a:pPr>
            <a:fld id="{00000000-1234-1234-1234-123412341234}" type="slidenum">
              <a:rPr lang="en-US"/>
              <a:t>23</a:t>
            </a:fld>
            <a:endParaRPr/>
          </a:p>
        </p:txBody>
      </p:sp>
      <p:pic>
        <p:nvPicPr>
          <p:cNvPr id="204" name="Google Shape;204;g107e1b577a3_2_1"/>
          <p:cNvPicPr preferRelativeResize="0"/>
          <p:nvPr/>
        </p:nvPicPr>
        <p:blipFill rotWithShape="1">
          <a:blip r:embed="rId3">
            <a:alphaModFix/>
          </a:blip>
          <a:srcRect/>
          <a:stretch/>
        </p:blipFill>
        <p:spPr>
          <a:xfrm>
            <a:off x="1204900" y="1690825"/>
            <a:ext cx="6734200" cy="4062275"/>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09"/>
        <p:cNvGrpSpPr/>
        <p:nvPr/>
      </p:nvGrpSpPr>
      <p:grpSpPr>
        <a:xfrm>
          <a:off x="0" y="0"/>
          <a:ext cx="0" cy="0"/>
          <a:chOff x="0" y="0"/>
          <a:chExt cx="0" cy="0"/>
        </a:xfrm>
      </p:grpSpPr>
      <p:sp>
        <p:nvSpPr>
          <p:cNvPr id="210" name="Google Shape;210;g107d85dcbfc_3_29"/>
          <p:cNvSpPr txBox="1">
            <a:spLocks noGrp="1"/>
          </p:cNvSpPr>
          <p:nvPr>
            <p:ph type="title"/>
          </p:nvPr>
        </p:nvSpPr>
        <p:spPr>
          <a:xfrm>
            <a:off x="1266955" y="66601"/>
            <a:ext cx="7410000" cy="1325700"/>
          </a:xfrm>
          <a:prstGeom prst="rect">
            <a:avLst/>
          </a:prstGeom>
        </p:spPr>
        <p:txBody>
          <a:bodyPr spcFirstLastPara="1" wrap="square" lIns="91425" tIns="45700" rIns="91425" bIns="45700" anchor="ctr" anchorCtr="0">
            <a:normAutofit/>
          </a:bodyPr>
          <a:lstStyle/>
          <a:p>
            <a:pPr marL="0" lvl="0" indent="0" algn="l" rtl="0">
              <a:spcBef>
                <a:spcPts val="0"/>
              </a:spcBef>
              <a:spcAft>
                <a:spcPts val="0"/>
              </a:spcAft>
              <a:buNone/>
            </a:pPr>
            <a:r>
              <a:rPr lang="en-US" sz="3700"/>
              <a:t>Ideational Determinants of Net Use</a:t>
            </a:r>
            <a:endParaRPr sz="3700"/>
          </a:p>
        </p:txBody>
      </p:sp>
      <p:sp>
        <p:nvSpPr>
          <p:cNvPr id="211" name="Google Shape;211;g107d85dcbfc_3_29"/>
          <p:cNvSpPr txBox="1">
            <a:spLocks noGrp="1"/>
          </p:cNvSpPr>
          <p:nvPr>
            <p:ph type="sldNum" idx="12"/>
          </p:nvPr>
        </p:nvSpPr>
        <p:spPr>
          <a:xfrm>
            <a:off x="1105230" y="6359608"/>
            <a:ext cx="7410000" cy="365100"/>
          </a:xfrm>
          <a:prstGeom prst="rect">
            <a:avLst/>
          </a:prstGeom>
        </p:spPr>
        <p:txBody>
          <a:bodyPr spcFirstLastPara="1" wrap="square" lIns="91425" tIns="45700" rIns="91425" bIns="45700" anchor="ctr" anchorCtr="0">
            <a:noAutofit/>
          </a:bodyPr>
          <a:lstStyle/>
          <a:p>
            <a:pPr marL="0" lvl="0" indent="0" algn="ctr" rtl="0">
              <a:spcBef>
                <a:spcPts val="0"/>
              </a:spcBef>
              <a:spcAft>
                <a:spcPts val="0"/>
              </a:spcAft>
              <a:buClr>
                <a:srgbClr val="000000"/>
              </a:buClr>
              <a:buFont typeface="Arial"/>
              <a:buNone/>
            </a:pPr>
            <a:fld id="{00000000-1234-1234-1234-123412341234}" type="slidenum">
              <a:rPr lang="en-US"/>
              <a:t>24</a:t>
            </a:fld>
            <a:endParaRPr/>
          </a:p>
        </p:txBody>
      </p:sp>
      <p:pic>
        <p:nvPicPr>
          <p:cNvPr id="212" name="Google Shape;212;g107d85dcbfc_3_29"/>
          <p:cNvPicPr preferRelativeResize="0"/>
          <p:nvPr/>
        </p:nvPicPr>
        <p:blipFill>
          <a:blip r:embed="rId3">
            <a:alphaModFix/>
          </a:blip>
          <a:stretch>
            <a:fillRect/>
          </a:stretch>
        </p:blipFill>
        <p:spPr>
          <a:xfrm>
            <a:off x="1523112" y="1101150"/>
            <a:ext cx="6097777" cy="3933175"/>
          </a:xfrm>
          <a:prstGeom prst="rect">
            <a:avLst/>
          </a:prstGeom>
          <a:noFill/>
          <a:ln>
            <a:noFill/>
          </a:ln>
        </p:spPr>
      </p:pic>
      <p:sp>
        <p:nvSpPr>
          <p:cNvPr id="213" name="Google Shape;213;g107d85dcbfc_3_29"/>
          <p:cNvSpPr txBox="1">
            <a:spLocks noGrp="1"/>
          </p:cNvSpPr>
          <p:nvPr>
            <p:ph type="body" idx="1"/>
          </p:nvPr>
        </p:nvSpPr>
        <p:spPr>
          <a:xfrm>
            <a:off x="1404050" y="5034325"/>
            <a:ext cx="7135800" cy="1325700"/>
          </a:xfrm>
          <a:prstGeom prst="rect">
            <a:avLst/>
          </a:prstGeom>
          <a:noFill/>
          <a:ln>
            <a:noFill/>
          </a:ln>
        </p:spPr>
        <p:txBody>
          <a:bodyPr spcFirstLastPara="1" wrap="square" lIns="91425" tIns="45700" rIns="91425" bIns="45700" anchor="t" anchorCtr="0">
            <a:normAutofit lnSpcReduction="20000"/>
          </a:bodyPr>
          <a:lstStyle/>
          <a:p>
            <a:pPr marL="0" lvl="0" indent="0" algn="l" rtl="0">
              <a:lnSpc>
                <a:spcPct val="100000"/>
              </a:lnSpc>
              <a:spcBef>
                <a:spcPts val="0"/>
              </a:spcBef>
              <a:spcAft>
                <a:spcPts val="0"/>
              </a:spcAft>
              <a:buNone/>
            </a:pPr>
            <a:r>
              <a:rPr lang="en-US" sz="2000" i="1">
                <a:solidFill>
                  <a:srgbClr val="545454"/>
                </a:solidFill>
                <a:highlight>
                  <a:srgbClr val="FFFFFF"/>
                </a:highlight>
              </a:rPr>
              <a:t>It is not easy to bring a net when I spend the night away from home </a:t>
            </a:r>
            <a:br>
              <a:rPr lang="en-US" sz="2000" i="1">
                <a:solidFill>
                  <a:srgbClr val="545454"/>
                </a:solidFill>
                <a:highlight>
                  <a:srgbClr val="FFFFFF"/>
                </a:highlight>
              </a:rPr>
            </a:br>
            <a:r>
              <a:rPr lang="en-US" sz="2000">
                <a:solidFill>
                  <a:srgbClr val="545454"/>
                </a:solidFill>
                <a:highlight>
                  <a:srgbClr val="FFFFFF"/>
                </a:highlight>
              </a:rPr>
              <a:t>(</a:t>
            </a:r>
            <a:r>
              <a:rPr lang="en-US" sz="2000" b="1">
                <a:solidFill>
                  <a:srgbClr val="545454"/>
                </a:solidFill>
                <a:highlight>
                  <a:srgbClr val="FFFFFF"/>
                </a:highlight>
              </a:rPr>
              <a:t>65%</a:t>
            </a:r>
            <a:r>
              <a:rPr lang="en-US" sz="2000">
                <a:solidFill>
                  <a:srgbClr val="545454"/>
                </a:solidFill>
                <a:highlight>
                  <a:srgbClr val="FFFFFF"/>
                </a:highlight>
              </a:rPr>
              <a:t> agreed with the statement)</a:t>
            </a:r>
            <a:endParaRPr sz="2000">
              <a:solidFill>
                <a:srgbClr val="545454"/>
              </a:solidFill>
              <a:highlight>
                <a:srgbClr val="FFFFFF"/>
              </a:highlight>
            </a:endParaRPr>
          </a:p>
          <a:p>
            <a:pPr marL="457200" lvl="0" indent="0" algn="l" rtl="0">
              <a:lnSpc>
                <a:spcPct val="100000"/>
              </a:lnSpc>
              <a:spcBef>
                <a:spcPts val="0"/>
              </a:spcBef>
              <a:spcAft>
                <a:spcPts val="0"/>
              </a:spcAft>
              <a:buNone/>
            </a:pPr>
            <a:endParaRPr sz="2000">
              <a:solidFill>
                <a:srgbClr val="545454"/>
              </a:solidFill>
              <a:highlight>
                <a:srgbClr val="FFFFFF"/>
              </a:highlight>
            </a:endParaRPr>
          </a:p>
          <a:p>
            <a:pPr marL="0" lvl="0" indent="0" algn="l" rtl="0">
              <a:lnSpc>
                <a:spcPct val="100000"/>
              </a:lnSpc>
              <a:spcBef>
                <a:spcPts val="0"/>
              </a:spcBef>
              <a:spcAft>
                <a:spcPts val="0"/>
              </a:spcAft>
              <a:buNone/>
            </a:pPr>
            <a:r>
              <a:rPr lang="en-US" sz="2000" i="1">
                <a:solidFill>
                  <a:srgbClr val="545454"/>
                </a:solidFill>
                <a:highlight>
                  <a:srgbClr val="FFFFFF"/>
                </a:highlight>
              </a:rPr>
              <a:t>Treated mosquito nets attract bed bugs and other insects</a:t>
            </a:r>
            <a:r>
              <a:rPr lang="en-US" sz="2000">
                <a:solidFill>
                  <a:srgbClr val="545454"/>
                </a:solidFill>
                <a:highlight>
                  <a:srgbClr val="FFFFFF"/>
                </a:highlight>
              </a:rPr>
              <a:t> </a:t>
            </a:r>
            <a:br>
              <a:rPr lang="en-US" sz="2000">
                <a:solidFill>
                  <a:srgbClr val="545454"/>
                </a:solidFill>
                <a:highlight>
                  <a:srgbClr val="FFFFFF"/>
                </a:highlight>
              </a:rPr>
            </a:br>
            <a:r>
              <a:rPr lang="en-US" sz="2000">
                <a:solidFill>
                  <a:srgbClr val="545454"/>
                </a:solidFill>
                <a:highlight>
                  <a:srgbClr val="FFFFFF"/>
                </a:highlight>
              </a:rPr>
              <a:t>(</a:t>
            </a:r>
            <a:r>
              <a:rPr lang="en-US" sz="2000" b="1">
                <a:solidFill>
                  <a:srgbClr val="545454"/>
                </a:solidFill>
                <a:highlight>
                  <a:srgbClr val="FFFFFF"/>
                </a:highlight>
              </a:rPr>
              <a:t>59%</a:t>
            </a:r>
            <a:r>
              <a:rPr lang="en-US" sz="2000">
                <a:solidFill>
                  <a:srgbClr val="545454"/>
                </a:solidFill>
                <a:highlight>
                  <a:srgbClr val="FFFFFF"/>
                </a:highlight>
              </a:rPr>
              <a:t> agreed with the statement)</a:t>
            </a:r>
            <a:endParaRPr sz="1800" b="0" i="0" u="none" strike="noStrike">
              <a:solidFill>
                <a:srgbClr val="000000"/>
              </a:solidFill>
              <a:latin typeface="Calibri"/>
              <a:ea typeface="Calibri"/>
              <a:cs typeface="Calibri"/>
              <a:sym typeface="Calibri"/>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show="0">
  <p:cSld>
    <p:spTree>
      <p:nvGrpSpPr>
        <p:cNvPr id="1" name="Shape 217"/>
        <p:cNvGrpSpPr/>
        <p:nvPr/>
      </p:nvGrpSpPr>
      <p:grpSpPr>
        <a:xfrm>
          <a:off x="0" y="0"/>
          <a:ext cx="0" cy="0"/>
          <a:chOff x="0" y="0"/>
          <a:chExt cx="0" cy="0"/>
        </a:xfrm>
      </p:grpSpPr>
      <p:sp>
        <p:nvSpPr>
          <p:cNvPr id="218" name="Google Shape;218;g107d85dcbfc_3_23"/>
          <p:cNvSpPr txBox="1">
            <a:spLocks noGrp="1"/>
          </p:cNvSpPr>
          <p:nvPr>
            <p:ph type="title"/>
          </p:nvPr>
        </p:nvSpPr>
        <p:spPr>
          <a:xfrm>
            <a:off x="1105230" y="365126"/>
            <a:ext cx="7410000" cy="13257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08A6E2"/>
              </a:buClr>
              <a:buSzPts val="4000"/>
              <a:buFont typeface="Calibri"/>
              <a:buNone/>
            </a:pPr>
            <a:r>
              <a:rPr lang="en-US"/>
              <a:t>Key </a:t>
            </a:r>
            <a:r>
              <a:rPr lang="en-US" u="sng"/>
              <a:t>UN</a:t>
            </a:r>
            <a:r>
              <a:rPr lang="en-US"/>
              <a:t>favorable Attitudes towards Mosquito Nets</a:t>
            </a:r>
            <a:endParaRPr/>
          </a:p>
        </p:txBody>
      </p:sp>
      <p:sp>
        <p:nvSpPr>
          <p:cNvPr id="219" name="Google Shape;219;g107d85dcbfc_3_23"/>
          <p:cNvSpPr txBox="1">
            <a:spLocks noGrp="1"/>
          </p:cNvSpPr>
          <p:nvPr>
            <p:ph type="body" idx="1"/>
          </p:nvPr>
        </p:nvSpPr>
        <p:spPr>
          <a:xfrm>
            <a:off x="1105230" y="1825625"/>
            <a:ext cx="7410000" cy="3925200"/>
          </a:xfrm>
          <a:prstGeom prst="rect">
            <a:avLst/>
          </a:prstGeom>
          <a:noFill/>
          <a:ln>
            <a:noFill/>
          </a:ln>
        </p:spPr>
        <p:txBody>
          <a:bodyPr spcFirstLastPara="1" wrap="square" lIns="91425" tIns="45700" rIns="91425" bIns="45700" anchor="t" anchorCtr="0">
            <a:normAutofit/>
          </a:bodyPr>
          <a:lstStyle/>
          <a:p>
            <a:pPr marL="457200" lvl="0" indent="-355600" algn="l" rtl="0">
              <a:lnSpc>
                <a:spcPct val="100000"/>
              </a:lnSpc>
              <a:spcBef>
                <a:spcPts val="0"/>
              </a:spcBef>
              <a:spcAft>
                <a:spcPts val="0"/>
              </a:spcAft>
              <a:buClr>
                <a:srgbClr val="545454"/>
              </a:buClr>
              <a:buSzPts val="2000"/>
              <a:buChar char="-"/>
            </a:pPr>
            <a:r>
              <a:rPr lang="en-US" sz="2000" i="1" dirty="0">
                <a:solidFill>
                  <a:srgbClr val="545454"/>
                </a:solidFill>
                <a:highlight>
                  <a:srgbClr val="FFFFFF"/>
                </a:highlight>
              </a:rPr>
              <a:t>It is not easy to bring a net when I spend the night away from home </a:t>
            </a:r>
            <a:r>
              <a:rPr lang="en-US" sz="2000" dirty="0">
                <a:solidFill>
                  <a:srgbClr val="545454"/>
                </a:solidFill>
                <a:highlight>
                  <a:srgbClr val="FFFFFF"/>
                </a:highlight>
              </a:rPr>
              <a:t>(</a:t>
            </a:r>
            <a:r>
              <a:rPr lang="en-US" sz="2000" b="1" dirty="0">
                <a:solidFill>
                  <a:srgbClr val="545454"/>
                </a:solidFill>
                <a:highlight>
                  <a:srgbClr val="FFFFFF"/>
                </a:highlight>
              </a:rPr>
              <a:t>65%</a:t>
            </a:r>
            <a:r>
              <a:rPr lang="en-US" sz="2000" dirty="0">
                <a:solidFill>
                  <a:srgbClr val="545454"/>
                </a:solidFill>
                <a:highlight>
                  <a:srgbClr val="FFFFFF"/>
                </a:highlight>
              </a:rPr>
              <a:t> agreed with the statement)</a:t>
            </a:r>
            <a:endParaRPr sz="2000" dirty="0">
              <a:solidFill>
                <a:srgbClr val="545454"/>
              </a:solidFill>
              <a:highlight>
                <a:srgbClr val="FFFFFF"/>
              </a:highlight>
            </a:endParaRPr>
          </a:p>
          <a:p>
            <a:pPr marL="457200" lvl="0" indent="0" algn="l" rtl="0">
              <a:lnSpc>
                <a:spcPct val="100000"/>
              </a:lnSpc>
              <a:spcBef>
                <a:spcPts val="0"/>
              </a:spcBef>
              <a:spcAft>
                <a:spcPts val="0"/>
              </a:spcAft>
              <a:buNone/>
            </a:pPr>
            <a:endParaRPr sz="2000" dirty="0">
              <a:solidFill>
                <a:srgbClr val="545454"/>
              </a:solidFill>
              <a:highlight>
                <a:srgbClr val="FFFFFF"/>
              </a:highlight>
            </a:endParaRPr>
          </a:p>
          <a:p>
            <a:pPr marL="457200" lvl="0" indent="-355600" algn="l" rtl="0">
              <a:lnSpc>
                <a:spcPct val="100000"/>
              </a:lnSpc>
              <a:spcBef>
                <a:spcPts val="0"/>
              </a:spcBef>
              <a:spcAft>
                <a:spcPts val="0"/>
              </a:spcAft>
              <a:buClr>
                <a:srgbClr val="545454"/>
              </a:buClr>
              <a:buSzPts val="2000"/>
              <a:buChar char="-"/>
            </a:pPr>
            <a:r>
              <a:rPr lang="en-US" sz="2000" i="1">
                <a:solidFill>
                  <a:srgbClr val="545454"/>
                </a:solidFill>
                <a:highlight>
                  <a:srgbClr val="FFFFFF"/>
                </a:highlight>
              </a:rPr>
              <a:t>Treated mosquito nets attract bed bugs and other insects</a:t>
            </a:r>
            <a:r>
              <a:rPr lang="en-US" sz="2000">
                <a:solidFill>
                  <a:srgbClr val="545454"/>
                </a:solidFill>
                <a:highlight>
                  <a:srgbClr val="FFFFFF"/>
                </a:highlight>
              </a:rPr>
              <a:t> (</a:t>
            </a:r>
            <a:r>
              <a:rPr lang="en-US" sz="2000" b="1">
                <a:solidFill>
                  <a:srgbClr val="545454"/>
                </a:solidFill>
                <a:highlight>
                  <a:srgbClr val="FFFFFF"/>
                </a:highlight>
              </a:rPr>
              <a:t>59%</a:t>
            </a:r>
            <a:r>
              <a:rPr lang="en-US" sz="2000">
                <a:solidFill>
                  <a:srgbClr val="545454"/>
                </a:solidFill>
                <a:highlight>
                  <a:srgbClr val="FFFFFF"/>
                </a:highlight>
              </a:rPr>
              <a:t> agreed with the statement)</a:t>
            </a:r>
            <a:endParaRPr sz="2000">
              <a:solidFill>
                <a:srgbClr val="545454"/>
              </a:solidFill>
              <a:highlight>
                <a:srgbClr val="FFFFFF"/>
              </a:highlight>
            </a:endParaRPr>
          </a:p>
          <a:p>
            <a:pPr marL="457200" lvl="0" indent="0" algn="l" rtl="0">
              <a:lnSpc>
                <a:spcPct val="100000"/>
              </a:lnSpc>
              <a:spcBef>
                <a:spcPts val="0"/>
              </a:spcBef>
              <a:spcAft>
                <a:spcPts val="0"/>
              </a:spcAft>
              <a:buNone/>
            </a:pPr>
            <a:endParaRPr sz="2000" dirty="0">
              <a:solidFill>
                <a:srgbClr val="545454"/>
              </a:solidFill>
              <a:highlight>
                <a:srgbClr val="FFFFFF"/>
              </a:highlight>
            </a:endParaRPr>
          </a:p>
          <a:p>
            <a:pPr marL="457200" lvl="0" indent="0" algn="l" rtl="0">
              <a:lnSpc>
                <a:spcPct val="100000"/>
              </a:lnSpc>
              <a:spcBef>
                <a:spcPts val="0"/>
              </a:spcBef>
              <a:spcAft>
                <a:spcPts val="0"/>
              </a:spcAft>
              <a:buNone/>
            </a:pPr>
            <a:endParaRPr sz="2000" dirty="0">
              <a:solidFill>
                <a:srgbClr val="545454"/>
              </a:solidFill>
              <a:highlight>
                <a:srgbClr val="FFFFFF"/>
              </a:highlight>
            </a:endParaRPr>
          </a:p>
          <a:p>
            <a:pPr marL="228600" lvl="0" indent="-114300" algn="l" rtl="0">
              <a:lnSpc>
                <a:spcPct val="90000"/>
              </a:lnSpc>
              <a:spcBef>
                <a:spcPts val="1000"/>
              </a:spcBef>
              <a:spcAft>
                <a:spcPts val="0"/>
              </a:spcAft>
              <a:buClr>
                <a:schemeClr val="dk1"/>
              </a:buClr>
              <a:buSzPts val="1800"/>
              <a:buNone/>
            </a:pPr>
            <a:endParaRPr sz="1800" b="0" i="0" u="none" strike="noStrike" dirty="0">
              <a:solidFill>
                <a:srgbClr val="000000"/>
              </a:solidFill>
              <a:latin typeface="Calibri"/>
              <a:ea typeface="Calibri"/>
              <a:cs typeface="Calibri"/>
              <a:sym typeface="Calibri"/>
            </a:endParaRPr>
          </a:p>
        </p:txBody>
      </p:sp>
      <p:sp>
        <p:nvSpPr>
          <p:cNvPr id="220" name="Google Shape;220;g107d85dcbfc_3_23"/>
          <p:cNvSpPr txBox="1">
            <a:spLocks noGrp="1"/>
          </p:cNvSpPr>
          <p:nvPr>
            <p:ph type="sldNum" idx="12"/>
          </p:nvPr>
        </p:nvSpPr>
        <p:spPr>
          <a:xfrm>
            <a:off x="1105230" y="6359608"/>
            <a:ext cx="7410000" cy="36510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fld id="{00000000-1234-1234-1234-123412341234}" type="slidenum">
              <a:rPr lang="en-US"/>
              <a:t>25</a:t>
            </a:fld>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224"/>
        <p:cNvGrpSpPr/>
        <p:nvPr/>
      </p:nvGrpSpPr>
      <p:grpSpPr>
        <a:xfrm>
          <a:off x="0" y="0"/>
          <a:ext cx="0" cy="0"/>
          <a:chOff x="0" y="0"/>
          <a:chExt cx="0" cy="0"/>
        </a:xfrm>
      </p:grpSpPr>
      <p:sp>
        <p:nvSpPr>
          <p:cNvPr id="225" name="Google Shape;225;p20"/>
          <p:cNvSpPr txBox="1">
            <a:spLocks noGrp="1"/>
          </p:cNvSpPr>
          <p:nvPr>
            <p:ph type="title"/>
          </p:nvPr>
        </p:nvSpPr>
        <p:spPr>
          <a:xfrm>
            <a:off x="1234630" y="138676"/>
            <a:ext cx="7410000" cy="13257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08A6E2"/>
              </a:buClr>
              <a:buSzPts val="4000"/>
              <a:buFont typeface="Calibri"/>
              <a:buNone/>
            </a:pPr>
            <a:r>
              <a:rPr lang="en-US" sz="3800"/>
              <a:t>Ideational Determinants of Net Use</a:t>
            </a:r>
            <a:endParaRPr sz="3800"/>
          </a:p>
        </p:txBody>
      </p:sp>
      <p:sp>
        <p:nvSpPr>
          <p:cNvPr id="226" name="Google Shape;226;p20"/>
          <p:cNvSpPr txBox="1">
            <a:spLocks noGrp="1"/>
          </p:cNvSpPr>
          <p:nvPr>
            <p:ph type="sldNum" idx="12"/>
          </p:nvPr>
        </p:nvSpPr>
        <p:spPr>
          <a:xfrm>
            <a:off x="1105230" y="6359608"/>
            <a:ext cx="7410119"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fld id="{00000000-1234-1234-1234-123412341234}" type="slidenum">
              <a:rPr lang="en-US"/>
              <a:t>26</a:t>
            </a:fld>
            <a:endParaRPr/>
          </a:p>
        </p:txBody>
      </p:sp>
      <p:sp>
        <p:nvSpPr>
          <p:cNvPr id="227" name="Google Shape;227;p20"/>
          <p:cNvSpPr txBox="1">
            <a:spLocks noGrp="1"/>
          </p:cNvSpPr>
          <p:nvPr>
            <p:ph type="body" idx="1"/>
          </p:nvPr>
        </p:nvSpPr>
        <p:spPr>
          <a:xfrm>
            <a:off x="1105275" y="1243350"/>
            <a:ext cx="7410000" cy="4870500"/>
          </a:xfrm>
          <a:prstGeom prst="rect">
            <a:avLst/>
          </a:prstGeom>
        </p:spPr>
        <p:txBody>
          <a:bodyPr spcFirstLastPara="1" wrap="square" lIns="91425" tIns="45700" rIns="91425" bIns="45700" anchor="t" anchorCtr="0">
            <a:normAutofit fontScale="70000" lnSpcReduction="10000"/>
          </a:bodyPr>
          <a:lstStyle/>
          <a:p>
            <a:pPr marL="457200" lvl="0" indent="-361950" algn="l" rtl="0">
              <a:lnSpc>
                <a:spcPct val="100000"/>
              </a:lnSpc>
              <a:spcBef>
                <a:spcPts val="1200"/>
              </a:spcBef>
              <a:spcAft>
                <a:spcPts val="0"/>
              </a:spcAft>
              <a:buSzPct val="100000"/>
              <a:buChar char="❖"/>
            </a:pPr>
            <a:r>
              <a:rPr lang="en-US" sz="3000"/>
              <a:t>Response efficacy:  67% of respondents agreed with the statement: </a:t>
            </a:r>
            <a:r>
              <a:rPr lang="en-US" sz="3000" i="1"/>
              <a:t>My chances of getting malaria are the same whether or not I sleep under a mosquito net </a:t>
            </a:r>
            <a:endParaRPr sz="3000"/>
          </a:p>
          <a:p>
            <a:pPr marL="457200" lvl="0" indent="-361950" algn="l" rtl="0">
              <a:lnSpc>
                <a:spcPct val="100000"/>
              </a:lnSpc>
              <a:spcBef>
                <a:spcPts val="0"/>
              </a:spcBef>
              <a:spcAft>
                <a:spcPts val="0"/>
              </a:spcAft>
              <a:buSzPct val="100000"/>
              <a:buChar char="❖"/>
            </a:pPr>
            <a:r>
              <a:rPr lang="en-US" sz="3000"/>
              <a:t>But most (86%) agreed that sleeping under a mosquito net every night is the best way to avoid getting malaria.</a:t>
            </a:r>
            <a:endParaRPr sz="3000"/>
          </a:p>
          <a:p>
            <a:pPr marL="457200" lvl="0" indent="-361950" algn="l" rtl="0">
              <a:lnSpc>
                <a:spcPct val="100000"/>
              </a:lnSpc>
              <a:spcBef>
                <a:spcPts val="0"/>
              </a:spcBef>
              <a:spcAft>
                <a:spcPts val="0"/>
              </a:spcAft>
              <a:buSzPct val="100000"/>
              <a:buChar char="❖"/>
            </a:pPr>
            <a:r>
              <a:rPr lang="en-US" sz="3000"/>
              <a:t>Most respondents (86%) also had high perceived self-efficacy for net use, with </a:t>
            </a:r>
            <a:r>
              <a:rPr lang="en-US" sz="3000" b="1"/>
              <a:t>sleeping outside</a:t>
            </a:r>
            <a:r>
              <a:rPr lang="en-US" sz="3000"/>
              <a:t> (55%) and </a:t>
            </a:r>
            <a:r>
              <a:rPr lang="en-US" sz="3000" b="1"/>
              <a:t>sleeping/working away from home </a:t>
            </a:r>
            <a:r>
              <a:rPr lang="en-US" sz="3000"/>
              <a:t>(60-71%)</a:t>
            </a:r>
            <a:r>
              <a:rPr lang="en-US" sz="3000" b="1"/>
              <a:t> </a:t>
            </a:r>
            <a:r>
              <a:rPr lang="en-US" sz="3000"/>
              <a:t>being two instances of lower perceived self-efficacy to net use.</a:t>
            </a:r>
            <a:endParaRPr sz="3000"/>
          </a:p>
          <a:p>
            <a:pPr marL="457200" lvl="0" indent="-361950" algn="l" rtl="0">
              <a:lnSpc>
                <a:spcPct val="100000"/>
              </a:lnSpc>
              <a:spcBef>
                <a:spcPts val="0"/>
              </a:spcBef>
              <a:spcAft>
                <a:spcPts val="0"/>
              </a:spcAft>
              <a:buSzPct val="100000"/>
              <a:buChar char="❖"/>
            </a:pPr>
            <a:r>
              <a:rPr lang="en-US" sz="3000"/>
              <a:t>Community norm: </a:t>
            </a:r>
            <a:r>
              <a:rPr lang="en-US" sz="3000" i="1"/>
              <a:t>at least half of the community members sleep under net every night</a:t>
            </a:r>
            <a:endParaRPr sz="3000" i="1"/>
          </a:p>
          <a:p>
            <a:pPr marL="914400" lvl="1" indent="-361950" algn="l" rtl="0">
              <a:lnSpc>
                <a:spcPct val="100000"/>
              </a:lnSpc>
              <a:spcBef>
                <a:spcPts val="0"/>
              </a:spcBef>
              <a:spcAft>
                <a:spcPts val="0"/>
              </a:spcAft>
              <a:buSzPct val="100000"/>
              <a:buChar char="➢"/>
            </a:pPr>
            <a:r>
              <a:rPr lang="en-US" sz="3000"/>
              <a:t>more respondents from </a:t>
            </a:r>
            <a:r>
              <a:rPr lang="en-US" sz="3000" b="1"/>
              <a:t>Pemba</a:t>
            </a:r>
            <a:r>
              <a:rPr lang="en-US" sz="3000"/>
              <a:t> (87%) reported supportive net use community norm than from </a:t>
            </a:r>
            <a:r>
              <a:rPr lang="en-US" sz="3000" b="1"/>
              <a:t>Unguja</a:t>
            </a:r>
            <a:r>
              <a:rPr lang="en-US" sz="3000"/>
              <a:t> (62%)</a:t>
            </a:r>
            <a:endParaRPr sz="3000"/>
          </a:p>
          <a:p>
            <a:pPr marL="914400" lvl="1" indent="-361950" algn="l" rtl="0">
              <a:lnSpc>
                <a:spcPct val="100000"/>
              </a:lnSpc>
              <a:spcBef>
                <a:spcPts val="0"/>
              </a:spcBef>
              <a:spcAft>
                <a:spcPts val="0"/>
              </a:spcAft>
              <a:buSzPct val="100000"/>
              <a:buChar char="➢"/>
            </a:pPr>
            <a:r>
              <a:rPr lang="en-US" sz="3000"/>
              <a:t>more </a:t>
            </a:r>
            <a:r>
              <a:rPr lang="en-US" sz="3000" b="1"/>
              <a:t>Rural</a:t>
            </a:r>
            <a:r>
              <a:rPr lang="en-US" sz="3000"/>
              <a:t> respondents (76%) reported supportive net use community norm than </a:t>
            </a:r>
            <a:r>
              <a:rPr lang="en-US" sz="3000" b="1"/>
              <a:t>Urban</a:t>
            </a:r>
            <a:r>
              <a:rPr lang="en-US" sz="3000"/>
              <a:t> respondents (64%)</a:t>
            </a:r>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231"/>
        <p:cNvGrpSpPr/>
        <p:nvPr/>
      </p:nvGrpSpPr>
      <p:grpSpPr>
        <a:xfrm>
          <a:off x="0" y="0"/>
          <a:ext cx="0" cy="0"/>
          <a:chOff x="0" y="0"/>
          <a:chExt cx="0" cy="0"/>
        </a:xfrm>
      </p:grpSpPr>
      <p:sp>
        <p:nvSpPr>
          <p:cNvPr id="232" name="Google Shape;232;p22"/>
          <p:cNvSpPr txBox="1">
            <a:spLocks noGrp="1"/>
          </p:cNvSpPr>
          <p:nvPr>
            <p:ph type="title"/>
          </p:nvPr>
        </p:nvSpPr>
        <p:spPr>
          <a:xfrm>
            <a:off x="1283130" y="187201"/>
            <a:ext cx="7410000" cy="13257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08A6E2"/>
              </a:buClr>
              <a:buSzPts val="4000"/>
              <a:buFont typeface="Calibri"/>
              <a:buNone/>
            </a:pPr>
            <a:r>
              <a:rPr lang="en-US"/>
              <a:t>Household Net and ITN Access</a:t>
            </a:r>
            <a:endParaRPr/>
          </a:p>
        </p:txBody>
      </p:sp>
      <p:sp>
        <p:nvSpPr>
          <p:cNvPr id="233" name="Google Shape;233;p22"/>
          <p:cNvSpPr txBox="1">
            <a:spLocks noGrp="1"/>
          </p:cNvSpPr>
          <p:nvPr>
            <p:ph type="sldNum" idx="12"/>
          </p:nvPr>
        </p:nvSpPr>
        <p:spPr>
          <a:xfrm>
            <a:off x="1105230" y="6359608"/>
            <a:ext cx="7410119"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fld id="{00000000-1234-1234-1234-123412341234}" type="slidenum">
              <a:rPr lang="en-US"/>
              <a:t>27</a:t>
            </a:fld>
            <a:endParaRPr/>
          </a:p>
        </p:txBody>
      </p:sp>
      <p:pic>
        <p:nvPicPr>
          <p:cNvPr id="234" name="Google Shape;234;p22"/>
          <p:cNvPicPr preferRelativeResize="0"/>
          <p:nvPr/>
        </p:nvPicPr>
        <p:blipFill>
          <a:blip r:embed="rId3">
            <a:alphaModFix/>
          </a:blip>
          <a:stretch>
            <a:fillRect/>
          </a:stretch>
        </p:blipFill>
        <p:spPr>
          <a:xfrm>
            <a:off x="297975" y="1246952"/>
            <a:ext cx="8581852" cy="4994900"/>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238"/>
        <p:cNvGrpSpPr/>
        <p:nvPr/>
      </p:nvGrpSpPr>
      <p:grpSpPr>
        <a:xfrm>
          <a:off x="0" y="0"/>
          <a:ext cx="0" cy="0"/>
          <a:chOff x="0" y="0"/>
          <a:chExt cx="0" cy="0"/>
        </a:xfrm>
      </p:grpSpPr>
      <p:sp>
        <p:nvSpPr>
          <p:cNvPr id="239" name="Google Shape;239;g107d85dcbfc_3_54"/>
          <p:cNvSpPr txBox="1">
            <a:spLocks noGrp="1"/>
          </p:cNvSpPr>
          <p:nvPr>
            <p:ph type="title"/>
          </p:nvPr>
        </p:nvSpPr>
        <p:spPr>
          <a:xfrm>
            <a:off x="1283130" y="187201"/>
            <a:ext cx="7410000" cy="13257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08A6E2"/>
              </a:buClr>
              <a:buSzPts val="4000"/>
              <a:buFont typeface="Calibri"/>
              <a:buNone/>
            </a:pPr>
            <a:r>
              <a:rPr lang="en-US"/>
              <a:t>Use of Available Nets (n=1289)</a:t>
            </a:r>
            <a:endParaRPr/>
          </a:p>
        </p:txBody>
      </p:sp>
      <p:sp>
        <p:nvSpPr>
          <p:cNvPr id="240" name="Google Shape;240;g107d85dcbfc_3_54"/>
          <p:cNvSpPr txBox="1">
            <a:spLocks noGrp="1"/>
          </p:cNvSpPr>
          <p:nvPr>
            <p:ph type="sldNum" idx="12"/>
          </p:nvPr>
        </p:nvSpPr>
        <p:spPr>
          <a:xfrm>
            <a:off x="1105230" y="6359608"/>
            <a:ext cx="7410000" cy="36510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fld id="{00000000-1234-1234-1234-123412341234}" type="slidenum">
              <a:rPr lang="en-US"/>
              <a:t>28</a:t>
            </a:fld>
            <a:endParaRPr/>
          </a:p>
        </p:txBody>
      </p:sp>
      <p:pic>
        <p:nvPicPr>
          <p:cNvPr id="241" name="Google Shape;241;g107d85dcbfc_3_54"/>
          <p:cNvPicPr preferRelativeResize="0"/>
          <p:nvPr/>
        </p:nvPicPr>
        <p:blipFill rotWithShape="1">
          <a:blip r:embed="rId3">
            <a:alphaModFix/>
          </a:blip>
          <a:srcRect/>
          <a:stretch/>
        </p:blipFill>
        <p:spPr>
          <a:xfrm>
            <a:off x="297975" y="1246952"/>
            <a:ext cx="8581852" cy="4994900"/>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246"/>
        <p:cNvGrpSpPr/>
        <p:nvPr/>
      </p:nvGrpSpPr>
      <p:grpSpPr>
        <a:xfrm>
          <a:off x="0" y="0"/>
          <a:ext cx="0" cy="0"/>
          <a:chOff x="0" y="0"/>
          <a:chExt cx="0" cy="0"/>
        </a:xfrm>
      </p:grpSpPr>
      <p:pic>
        <p:nvPicPr>
          <p:cNvPr id="247" name="Google Shape;247;g107d85dcbfc_2_27"/>
          <p:cNvPicPr preferRelativeResize="0"/>
          <p:nvPr/>
        </p:nvPicPr>
        <p:blipFill>
          <a:blip r:embed="rId3">
            <a:alphaModFix/>
          </a:blip>
          <a:stretch>
            <a:fillRect/>
          </a:stretch>
        </p:blipFill>
        <p:spPr>
          <a:xfrm>
            <a:off x="1590975" y="869625"/>
            <a:ext cx="5962050" cy="5118750"/>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252"/>
        <p:cNvGrpSpPr/>
        <p:nvPr/>
      </p:nvGrpSpPr>
      <p:grpSpPr>
        <a:xfrm>
          <a:off x="0" y="0"/>
          <a:ext cx="0" cy="0"/>
          <a:chOff x="0" y="0"/>
          <a:chExt cx="0" cy="0"/>
        </a:xfrm>
      </p:grpSpPr>
      <p:sp>
        <p:nvSpPr>
          <p:cNvPr id="253" name="Google Shape;253;g107d85dcbfc_2_19"/>
          <p:cNvSpPr txBox="1">
            <a:spLocks noGrp="1"/>
          </p:cNvSpPr>
          <p:nvPr>
            <p:ph type="sldNum" idx="12"/>
          </p:nvPr>
        </p:nvSpPr>
        <p:spPr>
          <a:xfrm>
            <a:off x="1105230" y="6359608"/>
            <a:ext cx="7410000" cy="365100"/>
          </a:xfrm>
          <a:prstGeom prst="rect">
            <a:avLst/>
          </a:prstGeom>
        </p:spPr>
        <p:txBody>
          <a:bodyPr spcFirstLastPara="1" wrap="square" lIns="91425" tIns="45700" rIns="91425" bIns="45700" anchor="ctr" anchorCtr="0">
            <a:noAutofit/>
          </a:bodyPr>
          <a:lstStyle/>
          <a:p>
            <a:pPr marL="0" lvl="0" indent="0" algn="ctr" rtl="0">
              <a:spcBef>
                <a:spcPts val="0"/>
              </a:spcBef>
              <a:spcAft>
                <a:spcPts val="0"/>
              </a:spcAft>
              <a:buClr>
                <a:srgbClr val="000000"/>
              </a:buClr>
              <a:buFont typeface="Arial"/>
              <a:buNone/>
            </a:pPr>
            <a:fld id="{00000000-1234-1234-1234-123412341234}" type="slidenum">
              <a:rPr lang="en-US"/>
              <a:t>30</a:t>
            </a:fld>
            <a:endParaRPr/>
          </a:p>
        </p:txBody>
      </p:sp>
      <p:pic>
        <p:nvPicPr>
          <p:cNvPr id="254" name="Google Shape;254;g107d85dcbfc_2_19"/>
          <p:cNvPicPr preferRelativeResize="0"/>
          <p:nvPr/>
        </p:nvPicPr>
        <p:blipFill>
          <a:blip r:embed="rId3">
            <a:alphaModFix/>
          </a:blip>
          <a:stretch>
            <a:fillRect/>
          </a:stretch>
        </p:blipFill>
        <p:spPr>
          <a:xfrm>
            <a:off x="223550" y="1044600"/>
            <a:ext cx="8839199" cy="4845876"/>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258"/>
        <p:cNvGrpSpPr/>
        <p:nvPr/>
      </p:nvGrpSpPr>
      <p:grpSpPr>
        <a:xfrm>
          <a:off x="0" y="0"/>
          <a:ext cx="0" cy="0"/>
          <a:chOff x="0" y="0"/>
          <a:chExt cx="0" cy="0"/>
        </a:xfrm>
      </p:grpSpPr>
      <p:sp>
        <p:nvSpPr>
          <p:cNvPr id="259" name="Google Shape;259;g10756c0ab36_2_7"/>
          <p:cNvSpPr txBox="1">
            <a:spLocks noGrp="1"/>
          </p:cNvSpPr>
          <p:nvPr>
            <p:ph type="title"/>
          </p:nvPr>
        </p:nvSpPr>
        <p:spPr>
          <a:xfrm>
            <a:off x="623888" y="1709739"/>
            <a:ext cx="7886700" cy="2852700"/>
          </a:xfrm>
          <a:prstGeom prst="rect">
            <a:avLst/>
          </a:prstGeom>
          <a:noFill/>
          <a:ln>
            <a:noFill/>
          </a:ln>
        </p:spPr>
        <p:txBody>
          <a:bodyPr spcFirstLastPara="1" wrap="square" lIns="91425" tIns="45700" rIns="91425" bIns="45700" anchor="b" anchorCtr="0">
            <a:normAutofit/>
          </a:bodyPr>
          <a:lstStyle/>
          <a:p>
            <a:pPr marL="0" lvl="0" indent="0" algn="l" rtl="0">
              <a:lnSpc>
                <a:spcPct val="90000"/>
              </a:lnSpc>
              <a:spcBef>
                <a:spcPts val="0"/>
              </a:spcBef>
              <a:spcAft>
                <a:spcPts val="0"/>
              </a:spcAft>
              <a:buClr>
                <a:schemeClr val="lt1"/>
              </a:buClr>
              <a:buSzPts val="4000"/>
              <a:buFont typeface="Calibri"/>
              <a:buNone/>
            </a:pPr>
            <a:r>
              <a:rPr lang="en-US" sz="4000" b="0"/>
              <a:t>Indoor Residual Spraying (IRS)</a:t>
            </a:r>
            <a:endParaRPr sz="4000"/>
          </a:p>
        </p:txBody>
      </p:sp>
      <p:sp>
        <p:nvSpPr>
          <p:cNvPr id="260" name="Google Shape;260;g10756c0ab36_2_7"/>
          <p:cNvSpPr txBox="1">
            <a:spLocks noGrp="1"/>
          </p:cNvSpPr>
          <p:nvPr>
            <p:ph type="body" idx="1"/>
          </p:nvPr>
        </p:nvSpPr>
        <p:spPr>
          <a:xfrm>
            <a:off x="623888" y="4589464"/>
            <a:ext cx="7886700" cy="1500300"/>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chemeClr val="lt1"/>
              </a:buClr>
              <a:buSzPts val="2400"/>
              <a:buNone/>
            </a:pPr>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265"/>
        <p:cNvGrpSpPr/>
        <p:nvPr/>
      </p:nvGrpSpPr>
      <p:grpSpPr>
        <a:xfrm>
          <a:off x="0" y="0"/>
          <a:ext cx="0" cy="0"/>
          <a:chOff x="0" y="0"/>
          <a:chExt cx="0" cy="0"/>
        </a:xfrm>
      </p:grpSpPr>
      <p:sp>
        <p:nvSpPr>
          <p:cNvPr id="266" name="Google Shape;266;g10756c0ab36_2_0"/>
          <p:cNvSpPr txBox="1">
            <a:spLocks noGrp="1"/>
          </p:cNvSpPr>
          <p:nvPr>
            <p:ph type="title" idx="4294967295"/>
          </p:nvPr>
        </p:nvSpPr>
        <p:spPr>
          <a:xfrm>
            <a:off x="1105230" y="365126"/>
            <a:ext cx="7410000" cy="1325700"/>
          </a:xfrm>
          <a:prstGeom prst="rect">
            <a:avLst/>
          </a:prstGeom>
        </p:spPr>
        <p:txBody>
          <a:bodyPr spcFirstLastPara="1" wrap="square" lIns="91425" tIns="45700" rIns="91425" bIns="45700" anchor="ctr" anchorCtr="0">
            <a:normAutofit/>
          </a:bodyPr>
          <a:lstStyle/>
          <a:p>
            <a:pPr marL="0" lvl="0" indent="0" algn="l" rtl="0">
              <a:spcBef>
                <a:spcPts val="0"/>
              </a:spcBef>
              <a:spcAft>
                <a:spcPts val="0"/>
              </a:spcAft>
              <a:buNone/>
            </a:pPr>
            <a:r>
              <a:rPr lang="en-US"/>
              <a:t>IRS Awareness</a:t>
            </a:r>
            <a:endParaRPr/>
          </a:p>
        </p:txBody>
      </p:sp>
      <p:pic>
        <p:nvPicPr>
          <p:cNvPr id="267" name="Google Shape;267;g10756c0ab36_2_0"/>
          <p:cNvPicPr preferRelativeResize="0"/>
          <p:nvPr/>
        </p:nvPicPr>
        <p:blipFill>
          <a:blip r:embed="rId3">
            <a:alphaModFix/>
          </a:blip>
          <a:stretch>
            <a:fillRect/>
          </a:stretch>
        </p:blipFill>
        <p:spPr>
          <a:xfrm>
            <a:off x="614500" y="1374825"/>
            <a:ext cx="7915000" cy="4624200"/>
          </a:xfrm>
          <a:prstGeom prst="rect">
            <a:avLst/>
          </a:prstGeom>
          <a:noFill/>
          <a:ln>
            <a:noFill/>
          </a:ln>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272"/>
        <p:cNvGrpSpPr/>
        <p:nvPr/>
      </p:nvGrpSpPr>
      <p:grpSpPr>
        <a:xfrm>
          <a:off x="0" y="0"/>
          <a:ext cx="0" cy="0"/>
          <a:chOff x="0" y="0"/>
          <a:chExt cx="0" cy="0"/>
        </a:xfrm>
      </p:grpSpPr>
      <p:pic>
        <p:nvPicPr>
          <p:cNvPr id="273" name="Google Shape;273;g107a3637e0a_1_13"/>
          <p:cNvPicPr preferRelativeResize="0"/>
          <p:nvPr/>
        </p:nvPicPr>
        <p:blipFill>
          <a:blip r:embed="rId3">
            <a:alphaModFix/>
          </a:blip>
          <a:stretch>
            <a:fillRect/>
          </a:stretch>
        </p:blipFill>
        <p:spPr>
          <a:xfrm>
            <a:off x="365850" y="1408600"/>
            <a:ext cx="8648375" cy="4083500"/>
          </a:xfrm>
          <a:prstGeom prst="rect">
            <a:avLst/>
          </a:prstGeom>
          <a:noFill/>
          <a:ln>
            <a:noFill/>
          </a:ln>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278"/>
        <p:cNvGrpSpPr/>
        <p:nvPr/>
      </p:nvGrpSpPr>
      <p:grpSpPr>
        <a:xfrm>
          <a:off x="0" y="0"/>
          <a:ext cx="0" cy="0"/>
          <a:chOff x="0" y="0"/>
          <a:chExt cx="0" cy="0"/>
        </a:xfrm>
      </p:grpSpPr>
      <p:sp>
        <p:nvSpPr>
          <p:cNvPr id="279" name="Google Shape;279;g107d85dcbfc_3_60"/>
          <p:cNvSpPr txBox="1">
            <a:spLocks noGrp="1"/>
          </p:cNvSpPr>
          <p:nvPr>
            <p:ph type="title" idx="4294967295"/>
          </p:nvPr>
        </p:nvSpPr>
        <p:spPr>
          <a:xfrm>
            <a:off x="1234630" y="138676"/>
            <a:ext cx="7410000" cy="13257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08A6E2"/>
              </a:buClr>
              <a:buSzPts val="4000"/>
              <a:buFont typeface="Calibri"/>
              <a:buNone/>
            </a:pPr>
            <a:r>
              <a:rPr lang="en-US" sz="3800"/>
              <a:t>Ideational Determinants of IRS </a:t>
            </a:r>
            <a:endParaRPr sz="3800"/>
          </a:p>
        </p:txBody>
      </p:sp>
      <p:sp>
        <p:nvSpPr>
          <p:cNvPr id="280" name="Google Shape;280;g107d85dcbfc_3_60"/>
          <p:cNvSpPr txBox="1">
            <a:spLocks noGrp="1"/>
          </p:cNvSpPr>
          <p:nvPr>
            <p:ph type="body" idx="4294967295"/>
          </p:nvPr>
        </p:nvSpPr>
        <p:spPr>
          <a:xfrm>
            <a:off x="1105275" y="1243350"/>
            <a:ext cx="7410000" cy="4870500"/>
          </a:xfrm>
          <a:prstGeom prst="rect">
            <a:avLst/>
          </a:prstGeom>
        </p:spPr>
        <p:txBody>
          <a:bodyPr spcFirstLastPara="1" wrap="square" lIns="91425" tIns="45700" rIns="91425" bIns="45700" anchor="t" anchorCtr="0">
            <a:normAutofit lnSpcReduction="10000"/>
          </a:bodyPr>
          <a:lstStyle/>
          <a:p>
            <a:pPr marL="0" lvl="0" indent="0" algn="l" rtl="0">
              <a:lnSpc>
                <a:spcPct val="100000"/>
              </a:lnSpc>
              <a:spcBef>
                <a:spcPts val="0"/>
              </a:spcBef>
              <a:spcAft>
                <a:spcPts val="0"/>
              </a:spcAft>
              <a:buNone/>
            </a:pPr>
            <a:r>
              <a:rPr lang="en-US" sz="2000" b="1" u="sng">
                <a:solidFill>
                  <a:srgbClr val="545454"/>
                </a:solidFill>
                <a:highlight>
                  <a:srgbClr val="FFFFFF"/>
                </a:highlight>
              </a:rPr>
              <a:t>Attitudes (limiting)</a:t>
            </a:r>
            <a:endParaRPr sz="2000" b="1" u="sng">
              <a:solidFill>
                <a:srgbClr val="545454"/>
              </a:solidFill>
              <a:highlight>
                <a:srgbClr val="FFFFFF"/>
              </a:highlight>
            </a:endParaRPr>
          </a:p>
          <a:p>
            <a:pPr marL="457200" lvl="0" indent="-355600" algn="l" rtl="0">
              <a:lnSpc>
                <a:spcPct val="100000"/>
              </a:lnSpc>
              <a:spcBef>
                <a:spcPts val="0"/>
              </a:spcBef>
              <a:spcAft>
                <a:spcPts val="0"/>
              </a:spcAft>
              <a:buClr>
                <a:srgbClr val="545454"/>
              </a:buClr>
              <a:buSzPts val="2000"/>
              <a:buChar char="-"/>
            </a:pPr>
            <a:r>
              <a:rPr lang="en-US" sz="2000" i="1">
                <a:solidFill>
                  <a:srgbClr val="545454"/>
                </a:solidFill>
                <a:highlight>
                  <a:srgbClr val="FFFFFF"/>
                </a:highlight>
              </a:rPr>
              <a:t>Many people develop skin problems (rashes, itching) after the walls  inside their houses are sprayed with insecticide</a:t>
            </a:r>
            <a:endParaRPr sz="2000" i="1">
              <a:solidFill>
                <a:srgbClr val="545454"/>
              </a:solidFill>
              <a:highlight>
                <a:srgbClr val="FFFFFF"/>
              </a:highlight>
            </a:endParaRPr>
          </a:p>
          <a:p>
            <a:pPr marL="914400" lvl="1" indent="-355600" algn="l" rtl="0">
              <a:lnSpc>
                <a:spcPct val="100000"/>
              </a:lnSpc>
              <a:spcBef>
                <a:spcPts val="0"/>
              </a:spcBef>
              <a:spcAft>
                <a:spcPts val="0"/>
              </a:spcAft>
              <a:buClr>
                <a:srgbClr val="545454"/>
              </a:buClr>
              <a:buSzPts val="2000"/>
              <a:buChar char="-"/>
            </a:pPr>
            <a:r>
              <a:rPr lang="en-US" sz="2000" b="1">
                <a:solidFill>
                  <a:srgbClr val="FF0000"/>
                </a:solidFill>
                <a:highlight>
                  <a:srgbClr val="FFFFFF"/>
                </a:highlight>
              </a:rPr>
              <a:t>60% agreed</a:t>
            </a:r>
            <a:r>
              <a:rPr lang="en-US" sz="2000">
                <a:solidFill>
                  <a:srgbClr val="545454"/>
                </a:solidFill>
                <a:highlight>
                  <a:srgbClr val="FFFFFF"/>
                </a:highlight>
              </a:rPr>
              <a:t> with this statement</a:t>
            </a:r>
            <a:endParaRPr sz="2000">
              <a:solidFill>
                <a:srgbClr val="545454"/>
              </a:solidFill>
              <a:highlight>
                <a:srgbClr val="FFFFFF"/>
              </a:highlight>
            </a:endParaRPr>
          </a:p>
          <a:p>
            <a:pPr marL="457200" lvl="0" indent="-355600" algn="l" rtl="0">
              <a:lnSpc>
                <a:spcPct val="100000"/>
              </a:lnSpc>
              <a:spcBef>
                <a:spcPts val="0"/>
              </a:spcBef>
              <a:spcAft>
                <a:spcPts val="0"/>
              </a:spcAft>
              <a:buClr>
                <a:srgbClr val="545454"/>
              </a:buClr>
              <a:buSzPts val="2000"/>
              <a:buChar char="-"/>
            </a:pPr>
            <a:r>
              <a:rPr lang="en-US" sz="2000" i="1">
                <a:solidFill>
                  <a:srgbClr val="545454"/>
                </a:solidFill>
                <a:highlight>
                  <a:srgbClr val="FFFFFF"/>
                </a:highlight>
              </a:rPr>
              <a:t>People have problems with bugs/bed bugs after the walls are sprayed</a:t>
            </a:r>
            <a:endParaRPr sz="2000" i="1">
              <a:solidFill>
                <a:srgbClr val="545454"/>
              </a:solidFill>
              <a:highlight>
                <a:srgbClr val="FFFFFF"/>
              </a:highlight>
            </a:endParaRPr>
          </a:p>
          <a:p>
            <a:pPr marL="914400" lvl="1" indent="-355600" algn="l" rtl="0">
              <a:lnSpc>
                <a:spcPct val="100000"/>
              </a:lnSpc>
              <a:spcBef>
                <a:spcPts val="0"/>
              </a:spcBef>
              <a:spcAft>
                <a:spcPts val="0"/>
              </a:spcAft>
              <a:buClr>
                <a:srgbClr val="545454"/>
              </a:buClr>
              <a:buSzPts val="2000"/>
              <a:buChar char="-"/>
            </a:pPr>
            <a:r>
              <a:rPr lang="en-US" sz="2000" b="1">
                <a:solidFill>
                  <a:srgbClr val="FF0000"/>
                </a:solidFill>
                <a:highlight>
                  <a:srgbClr val="FFFFFF"/>
                </a:highlight>
              </a:rPr>
              <a:t>48% agreed</a:t>
            </a:r>
            <a:r>
              <a:rPr lang="en-US" sz="2000">
                <a:solidFill>
                  <a:srgbClr val="545454"/>
                </a:solidFill>
                <a:highlight>
                  <a:srgbClr val="FFFFFF"/>
                </a:highlight>
              </a:rPr>
              <a:t> with this statement</a:t>
            </a:r>
            <a:endParaRPr sz="2000">
              <a:solidFill>
                <a:srgbClr val="545454"/>
              </a:solidFill>
              <a:highlight>
                <a:srgbClr val="FFFFFF"/>
              </a:highlight>
            </a:endParaRPr>
          </a:p>
          <a:p>
            <a:pPr marL="457200" lvl="0" indent="-355600" algn="l" rtl="0">
              <a:lnSpc>
                <a:spcPct val="100000"/>
              </a:lnSpc>
              <a:spcBef>
                <a:spcPts val="0"/>
              </a:spcBef>
              <a:spcAft>
                <a:spcPts val="0"/>
              </a:spcAft>
              <a:buClr>
                <a:srgbClr val="545454"/>
              </a:buClr>
              <a:buSzPts val="2000"/>
              <a:buChar char="-"/>
            </a:pPr>
            <a:r>
              <a:rPr lang="en-US" sz="2000" i="1">
                <a:solidFill>
                  <a:srgbClr val="545454"/>
                </a:solidFill>
                <a:highlight>
                  <a:srgbClr val="FFFFFF"/>
                </a:highlight>
              </a:rPr>
              <a:t>It bothers me to leave my possessions outside of my house while my walls are being sprayed</a:t>
            </a:r>
            <a:endParaRPr sz="2000" i="1">
              <a:solidFill>
                <a:srgbClr val="545454"/>
              </a:solidFill>
              <a:highlight>
                <a:srgbClr val="FFFFFF"/>
              </a:highlight>
            </a:endParaRPr>
          </a:p>
          <a:p>
            <a:pPr marL="914400" lvl="1" indent="-355600" algn="l" rtl="0">
              <a:lnSpc>
                <a:spcPct val="100000"/>
              </a:lnSpc>
              <a:spcBef>
                <a:spcPts val="0"/>
              </a:spcBef>
              <a:spcAft>
                <a:spcPts val="0"/>
              </a:spcAft>
              <a:buClr>
                <a:srgbClr val="545454"/>
              </a:buClr>
              <a:buSzPts val="2000"/>
              <a:buChar char="-"/>
            </a:pPr>
            <a:r>
              <a:rPr lang="en-US" sz="2000" b="1">
                <a:solidFill>
                  <a:srgbClr val="FF0000"/>
                </a:solidFill>
                <a:highlight>
                  <a:srgbClr val="FFFFFF"/>
                </a:highlight>
              </a:rPr>
              <a:t>44% agreed</a:t>
            </a:r>
            <a:r>
              <a:rPr lang="en-US" sz="2000">
                <a:solidFill>
                  <a:srgbClr val="545454"/>
                </a:solidFill>
                <a:highlight>
                  <a:srgbClr val="FFFFFF"/>
                </a:highlight>
              </a:rPr>
              <a:t> with this statement</a:t>
            </a:r>
            <a:endParaRPr sz="2000">
              <a:solidFill>
                <a:srgbClr val="545454"/>
              </a:solidFill>
              <a:highlight>
                <a:srgbClr val="FFFFFF"/>
              </a:highlight>
            </a:endParaRPr>
          </a:p>
          <a:p>
            <a:pPr marL="0" lvl="0" indent="0" algn="l" rtl="0">
              <a:lnSpc>
                <a:spcPct val="100000"/>
              </a:lnSpc>
              <a:spcBef>
                <a:spcPts val="0"/>
              </a:spcBef>
              <a:spcAft>
                <a:spcPts val="0"/>
              </a:spcAft>
              <a:buNone/>
            </a:pPr>
            <a:r>
              <a:rPr lang="en-US" sz="2000" b="1" u="sng">
                <a:solidFill>
                  <a:srgbClr val="545454"/>
                </a:solidFill>
                <a:highlight>
                  <a:srgbClr val="FFFFFF"/>
                </a:highlight>
              </a:rPr>
              <a:t>Response Efficacy (supporting)</a:t>
            </a:r>
            <a:endParaRPr sz="2000" b="1" u="sng">
              <a:solidFill>
                <a:srgbClr val="545454"/>
              </a:solidFill>
              <a:highlight>
                <a:srgbClr val="FFFFFF"/>
              </a:highlight>
            </a:endParaRPr>
          </a:p>
          <a:p>
            <a:pPr marL="457200" lvl="0" indent="-355600" algn="l" rtl="0">
              <a:lnSpc>
                <a:spcPct val="100000"/>
              </a:lnSpc>
              <a:spcBef>
                <a:spcPts val="0"/>
              </a:spcBef>
              <a:spcAft>
                <a:spcPts val="0"/>
              </a:spcAft>
              <a:buClr>
                <a:srgbClr val="545454"/>
              </a:buClr>
              <a:buSzPts val="2000"/>
              <a:buChar char="-"/>
            </a:pPr>
            <a:r>
              <a:rPr lang="en-US" sz="2000" i="1">
                <a:solidFill>
                  <a:srgbClr val="545454"/>
                </a:solidFill>
                <a:highlight>
                  <a:srgbClr val="FFFFFF"/>
                </a:highlight>
              </a:rPr>
              <a:t>Spraying the inside walls of a house is an effective way  to prevent malaria</a:t>
            </a:r>
            <a:endParaRPr sz="2000" i="1">
              <a:solidFill>
                <a:srgbClr val="545454"/>
              </a:solidFill>
              <a:highlight>
                <a:srgbClr val="FFFFFF"/>
              </a:highlight>
            </a:endParaRPr>
          </a:p>
          <a:p>
            <a:pPr marL="914400" lvl="1" indent="-355600" algn="l" rtl="0">
              <a:lnSpc>
                <a:spcPct val="100000"/>
              </a:lnSpc>
              <a:spcBef>
                <a:spcPts val="0"/>
              </a:spcBef>
              <a:spcAft>
                <a:spcPts val="0"/>
              </a:spcAft>
              <a:buClr>
                <a:srgbClr val="545454"/>
              </a:buClr>
              <a:buSzPts val="2000"/>
              <a:buChar char="-"/>
            </a:pPr>
            <a:r>
              <a:rPr lang="en-US" sz="2000" b="1">
                <a:solidFill>
                  <a:schemeClr val="accent6"/>
                </a:solidFill>
                <a:highlight>
                  <a:srgbClr val="FFFFFF"/>
                </a:highlight>
              </a:rPr>
              <a:t>94% agreed</a:t>
            </a:r>
            <a:r>
              <a:rPr lang="en-US" sz="2000">
                <a:solidFill>
                  <a:srgbClr val="545454"/>
                </a:solidFill>
                <a:highlight>
                  <a:srgbClr val="FFFFFF"/>
                </a:highlight>
              </a:rPr>
              <a:t> with this statement</a:t>
            </a:r>
            <a:endParaRPr sz="2000">
              <a:solidFill>
                <a:srgbClr val="545454"/>
              </a:solidFill>
              <a:highlight>
                <a:srgbClr val="FFFFFF"/>
              </a:highlight>
            </a:endParaRPr>
          </a:p>
          <a:p>
            <a:pPr marL="457200" lvl="0" indent="-355600" algn="l" rtl="0">
              <a:lnSpc>
                <a:spcPct val="100000"/>
              </a:lnSpc>
              <a:spcBef>
                <a:spcPts val="0"/>
              </a:spcBef>
              <a:spcAft>
                <a:spcPts val="0"/>
              </a:spcAft>
              <a:buClr>
                <a:srgbClr val="545454"/>
              </a:buClr>
              <a:buSzPts val="2000"/>
              <a:buChar char="-"/>
            </a:pPr>
            <a:r>
              <a:rPr lang="en-US" sz="2000" i="1">
                <a:solidFill>
                  <a:srgbClr val="545454"/>
                </a:solidFill>
                <a:highlight>
                  <a:srgbClr val="FFFFFF"/>
                </a:highlight>
              </a:rPr>
              <a:t>People who live in houses that have been sprayed are  less likely to get malaria</a:t>
            </a:r>
            <a:endParaRPr sz="2000" i="1">
              <a:solidFill>
                <a:srgbClr val="545454"/>
              </a:solidFill>
              <a:highlight>
                <a:srgbClr val="FFFFFF"/>
              </a:highlight>
            </a:endParaRPr>
          </a:p>
          <a:p>
            <a:pPr marL="914400" lvl="1" indent="-355600" algn="l" rtl="0">
              <a:lnSpc>
                <a:spcPct val="100000"/>
              </a:lnSpc>
              <a:spcBef>
                <a:spcPts val="0"/>
              </a:spcBef>
              <a:spcAft>
                <a:spcPts val="0"/>
              </a:spcAft>
              <a:buClr>
                <a:srgbClr val="545454"/>
              </a:buClr>
              <a:buSzPts val="2000"/>
              <a:buChar char="-"/>
            </a:pPr>
            <a:r>
              <a:rPr lang="en-US" sz="2000" b="1">
                <a:solidFill>
                  <a:schemeClr val="accent6"/>
                </a:solidFill>
                <a:highlight>
                  <a:srgbClr val="FFFFFF"/>
                </a:highlight>
              </a:rPr>
              <a:t>92% agreed</a:t>
            </a:r>
            <a:r>
              <a:rPr lang="en-US" sz="2000">
                <a:solidFill>
                  <a:srgbClr val="545454"/>
                </a:solidFill>
                <a:highlight>
                  <a:srgbClr val="FFFFFF"/>
                </a:highlight>
              </a:rPr>
              <a:t> with this statement</a:t>
            </a:r>
            <a:endParaRPr sz="2000">
              <a:solidFill>
                <a:srgbClr val="545454"/>
              </a:solidFill>
              <a:highlight>
                <a:srgbClr val="FFFFFF"/>
              </a:highlight>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285"/>
        <p:cNvGrpSpPr/>
        <p:nvPr/>
      </p:nvGrpSpPr>
      <p:grpSpPr>
        <a:xfrm>
          <a:off x="0" y="0"/>
          <a:ext cx="0" cy="0"/>
          <a:chOff x="0" y="0"/>
          <a:chExt cx="0" cy="0"/>
        </a:xfrm>
      </p:grpSpPr>
      <p:pic>
        <p:nvPicPr>
          <p:cNvPr id="286" name="Google Shape;286;g107a3637e0a_1_19"/>
          <p:cNvPicPr preferRelativeResize="0"/>
          <p:nvPr/>
        </p:nvPicPr>
        <p:blipFill>
          <a:blip r:embed="rId3">
            <a:alphaModFix/>
          </a:blip>
          <a:stretch>
            <a:fillRect/>
          </a:stretch>
        </p:blipFill>
        <p:spPr>
          <a:xfrm>
            <a:off x="394275" y="675800"/>
            <a:ext cx="4087625" cy="2963500"/>
          </a:xfrm>
          <a:prstGeom prst="rect">
            <a:avLst/>
          </a:prstGeom>
          <a:noFill/>
          <a:ln w="12700" cap="flat" cmpd="sng">
            <a:solidFill>
              <a:srgbClr val="D9D9D9"/>
            </a:solidFill>
            <a:prstDash val="solid"/>
            <a:miter lim="8000"/>
            <a:headEnd type="none" w="sm" len="sm"/>
            <a:tailEnd type="none" w="sm" len="sm"/>
          </a:ln>
        </p:spPr>
      </p:pic>
      <p:pic>
        <p:nvPicPr>
          <p:cNvPr id="287" name="Google Shape;287;g107a3637e0a_1_19"/>
          <p:cNvPicPr preferRelativeResize="0"/>
          <p:nvPr/>
        </p:nvPicPr>
        <p:blipFill>
          <a:blip r:embed="rId4">
            <a:alphaModFix/>
          </a:blip>
          <a:stretch>
            <a:fillRect/>
          </a:stretch>
        </p:blipFill>
        <p:spPr>
          <a:xfrm>
            <a:off x="4638600" y="670213"/>
            <a:ext cx="4087625" cy="2974666"/>
          </a:xfrm>
          <a:prstGeom prst="rect">
            <a:avLst/>
          </a:prstGeom>
          <a:noFill/>
          <a:ln w="12700" cap="flat" cmpd="sng">
            <a:solidFill>
              <a:srgbClr val="D9D9D9"/>
            </a:solidFill>
            <a:prstDash val="solid"/>
            <a:miter lim="8000"/>
            <a:headEnd type="none" w="sm" len="sm"/>
            <a:tailEnd type="none" w="sm" len="sm"/>
          </a:ln>
        </p:spPr>
      </p:pic>
      <p:pic>
        <p:nvPicPr>
          <p:cNvPr id="288" name="Google Shape;288;g107a3637e0a_1_19"/>
          <p:cNvPicPr preferRelativeResize="0"/>
          <p:nvPr/>
        </p:nvPicPr>
        <p:blipFill>
          <a:blip r:embed="rId5">
            <a:alphaModFix/>
          </a:blip>
          <a:stretch>
            <a:fillRect/>
          </a:stretch>
        </p:blipFill>
        <p:spPr>
          <a:xfrm>
            <a:off x="2489950" y="3752700"/>
            <a:ext cx="3918091" cy="3105300"/>
          </a:xfrm>
          <a:prstGeom prst="rect">
            <a:avLst/>
          </a:prstGeom>
          <a:noFill/>
          <a:ln w="12700" cap="flat" cmpd="sng">
            <a:solidFill>
              <a:srgbClr val="D9D9D9"/>
            </a:solidFill>
            <a:prstDash val="solid"/>
            <a:miter lim="8000"/>
            <a:headEnd type="none" w="sm" len="sm"/>
            <a:tailEnd type="none" w="sm" len="sm"/>
          </a:ln>
        </p:spPr>
      </p:pic>
      <p:sp>
        <p:nvSpPr>
          <p:cNvPr id="289" name="Google Shape;289;g107a3637e0a_1_19"/>
          <p:cNvSpPr txBox="1"/>
          <p:nvPr/>
        </p:nvSpPr>
        <p:spPr>
          <a:xfrm>
            <a:off x="7099875" y="4183100"/>
            <a:ext cx="1479900" cy="831300"/>
          </a:xfrm>
          <a:prstGeom prst="rect">
            <a:avLst/>
          </a:prstGeom>
          <a:noFill/>
          <a:ln w="9525" cap="flat" cmpd="sng">
            <a:solidFill>
              <a:srgbClr val="3C78D8"/>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None/>
            </a:pPr>
            <a:r>
              <a:rPr lang="en-US">
                <a:latin typeface="Calibri"/>
                <a:ea typeface="Calibri"/>
                <a:cs typeface="Calibri"/>
                <a:sym typeface="Calibri"/>
              </a:rPr>
              <a:t>Among those aware of IRS (n=1016)</a:t>
            </a:r>
            <a:endParaRPr>
              <a:latin typeface="Calibri"/>
              <a:ea typeface="Calibri"/>
              <a:cs typeface="Calibri"/>
              <a:sym typeface="Calibri"/>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294"/>
        <p:cNvGrpSpPr/>
        <p:nvPr/>
      </p:nvGrpSpPr>
      <p:grpSpPr>
        <a:xfrm>
          <a:off x="0" y="0"/>
          <a:ext cx="0" cy="0"/>
          <a:chOff x="0" y="0"/>
          <a:chExt cx="0" cy="0"/>
        </a:xfrm>
      </p:grpSpPr>
      <p:pic>
        <p:nvPicPr>
          <p:cNvPr id="295" name="Google Shape;295;g107a3637e0a_1_48"/>
          <p:cNvPicPr preferRelativeResize="0"/>
          <p:nvPr/>
        </p:nvPicPr>
        <p:blipFill>
          <a:blip r:embed="rId3">
            <a:alphaModFix/>
          </a:blip>
          <a:stretch>
            <a:fillRect/>
          </a:stretch>
        </p:blipFill>
        <p:spPr>
          <a:xfrm>
            <a:off x="2205375" y="964675"/>
            <a:ext cx="5036775" cy="3976400"/>
          </a:xfrm>
          <a:prstGeom prst="rect">
            <a:avLst/>
          </a:prstGeom>
          <a:noFill/>
          <a:ln w="12700" cap="flat" cmpd="sng">
            <a:solidFill>
              <a:srgbClr val="D9D9D9"/>
            </a:solidFill>
            <a:prstDash val="solid"/>
            <a:miter lim="8000"/>
            <a:headEnd type="none" w="sm" len="sm"/>
            <a:tailEnd type="none" w="sm" len="sm"/>
          </a:ln>
        </p:spPr>
      </p:pic>
      <p:sp>
        <p:nvSpPr>
          <p:cNvPr id="296" name="Google Shape;296;g107a3637e0a_1_48"/>
          <p:cNvSpPr txBox="1"/>
          <p:nvPr/>
        </p:nvSpPr>
        <p:spPr>
          <a:xfrm>
            <a:off x="1693150" y="5292900"/>
            <a:ext cx="5933100" cy="615600"/>
          </a:xfrm>
          <a:prstGeom prst="rect">
            <a:avLst/>
          </a:prstGeom>
          <a:noFill/>
          <a:ln w="9525" cap="flat" cmpd="sng">
            <a:solidFill>
              <a:srgbClr val="3C78D8"/>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None/>
            </a:pPr>
            <a:r>
              <a:rPr lang="en-US">
                <a:latin typeface="Calibri"/>
                <a:ea typeface="Calibri"/>
                <a:cs typeface="Calibri"/>
                <a:sym typeface="Calibri"/>
              </a:rPr>
              <a:t>All respondents; N=1745. Only significant difference by transmission risk: higher transmission risk areas: 89%; lower transmission risk areas: 84%.</a:t>
            </a:r>
            <a:endParaRPr>
              <a:latin typeface="Calibri"/>
              <a:ea typeface="Calibri"/>
              <a:cs typeface="Calibri"/>
              <a:sym typeface="Calibri"/>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300"/>
        <p:cNvGrpSpPr/>
        <p:nvPr/>
      </p:nvGrpSpPr>
      <p:grpSpPr>
        <a:xfrm>
          <a:off x="0" y="0"/>
          <a:ext cx="0" cy="0"/>
          <a:chOff x="0" y="0"/>
          <a:chExt cx="0" cy="0"/>
        </a:xfrm>
      </p:grpSpPr>
      <p:sp>
        <p:nvSpPr>
          <p:cNvPr id="301" name="Google Shape;301;g107a3637e0a_1_55"/>
          <p:cNvSpPr txBox="1">
            <a:spLocks noGrp="1"/>
          </p:cNvSpPr>
          <p:nvPr>
            <p:ph type="title"/>
          </p:nvPr>
        </p:nvSpPr>
        <p:spPr>
          <a:xfrm>
            <a:off x="623901" y="1709750"/>
            <a:ext cx="8240400" cy="2852700"/>
          </a:xfrm>
          <a:prstGeom prst="rect">
            <a:avLst/>
          </a:prstGeom>
          <a:noFill/>
          <a:ln>
            <a:noFill/>
          </a:ln>
        </p:spPr>
        <p:txBody>
          <a:bodyPr spcFirstLastPara="1" wrap="square" lIns="91425" tIns="45700" rIns="91425" bIns="45700" anchor="b" anchorCtr="0">
            <a:normAutofit/>
          </a:bodyPr>
          <a:lstStyle/>
          <a:p>
            <a:pPr marL="0" lvl="0" indent="0" algn="l" rtl="0">
              <a:lnSpc>
                <a:spcPct val="90000"/>
              </a:lnSpc>
              <a:spcBef>
                <a:spcPts val="0"/>
              </a:spcBef>
              <a:spcAft>
                <a:spcPts val="0"/>
              </a:spcAft>
              <a:buClr>
                <a:schemeClr val="lt1"/>
              </a:buClr>
              <a:buSzPts val="4000"/>
              <a:buFont typeface="Calibri"/>
              <a:buNone/>
            </a:pPr>
            <a:r>
              <a:rPr lang="en-US" sz="3800" b="0"/>
              <a:t>Larval Source Management: </a:t>
            </a:r>
            <a:endParaRPr sz="3800" b="0"/>
          </a:p>
          <a:p>
            <a:pPr marL="0" lvl="0" indent="0" algn="l" rtl="0">
              <a:lnSpc>
                <a:spcPct val="90000"/>
              </a:lnSpc>
              <a:spcBef>
                <a:spcPts val="0"/>
              </a:spcBef>
              <a:spcAft>
                <a:spcPts val="0"/>
              </a:spcAft>
              <a:buClr>
                <a:schemeClr val="lt1"/>
              </a:buClr>
              <a:buSzPts val="4000"/>
              <a:buFont typeface="Calibri"/>
              <a:buNone/>
            </a:pPr>
            <a:r>
              <a:rPr lang="en-US" sz="3800" b="0"/>
              <a:t>Larviciding</a:t>
            </a:r>
            <a:endParaRPr sz="3800"/>
          </a:p>
        </p:txBody>
      </p:sp>
      <p:sp>
        <p:nvSpPr>
          <p:cNvPr id="302" name="Google Shape;302;g107a3637e0a_1_55"/>
          <p:cNvSpPr txBox="1">
            <a:spLocks noGrp="1"/>
          </p:cNvSpPr>
          <p:nvPr>
            <p:ph type="body" idx="1"/>
          </p:nvPr>
        </p:nvSpPr>
        <p:spPr>
          <a:xfrm>
            <a:off x="623888" y="4589464"/>
            <a:ext cx="7886700" cy="1500300"/>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chemeClr val="lt1"/>
              </a:buClr>
              <a:buSzPts val="2400"/>
              <a:buNone/>
            </a:pPr>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307"/>
        <p:cNvGrpSpPr/>
        <p:nvPr/>
      </p:nvGrpSpPr>
      <p:grpSpPr>
        <a:xfrm>
          <a:off x="0" y="0"/>
          <a:ext cx="0" cy="0"/>
          <a:chOff x="0" y="0"/>
          <a:chExt cx="0" cy="0"/>
        </a:xfrm>
      </p:grpSpPr>
      <p:pic>
        <p:nvPicPr>
          <p:cNvPr id="308" name="Google Shape;308;g107a3637e0a_1_66"/>
          <p:cNvPicPr preferRelativeResize="0"/>
          <p:nvPr/>
        </p:nvPicPr>
        <p:blipFill>
          <a:blip r:embed="rId3">
            <a:alphaModFix/>
          </a:blip>
          <a:stretch>
            <a:fillRect/>
          </a:stretch>
        </p:blipFill>
        <p:spPr>
          <a:xfrm>
            <a:off x="892250" y="1276425"/>
            <a:ext cx="7899100" cy="4319950"/>
          </a:xfrm>
          <a:prstGeom prst="rect">
            <a:avLst/>
          </a:prstGeom>
          <a:noFill/>
          <a:ln>
            <a:noFill/>
          </a:ln>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313"/>
        <p:cNvGrpSpPr/>
        <p:nvPr/>
      </p:nvGrpSpPr>
      <p:grpSpPr>
        <a:xfrm>
          <a:off x="0" y="0"/>
          <a:ext cx="0" cy="0"/>
          <a:chOff x="0" y="0"/>
          <a:chExt cx="0" cy="0"/>
        </a:xfrm>
      </p:grpSpPr>
      <p:sp>
        <p:nvSpPr>
          <p:cNvPr id="314" name="Google Shape;314;g107d85dcbfc_3_66"/>
          <p:cNvSpPr txBox="1">
            <a:spLocks noGrp="1"/>
          </p:cNvSpPr>
          <p:nvPr>
            <p:ph type="title" idx="4294967295"/>
          </p:nvPr>
        </p:nvSpPr>
        <p:spPr>
          <a:xfrm>
            <a:off x="1234625" y="138675"/>
            <a:ext cx="7580400" cy="13257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08A6E2"/>
              </a:buClr>
              <a:buSzPts val="4000"/>
              <a:buFont typeface="Calibri"/>
              <a:buNone/>
            </a:pPr>
            <a:r>
              <a:rPr lang="en-US" sz="3600"/>
              <a:t>Ideational Determinants of Larviciding </a:t>
            </a:r>
            <a:endParaRPr sz="3600"/>
          </a:p>
        </p:txBody>
      </p:sp>
      <p:sp>
        <p:nvSpPr>
          <p:cNvPr id="315" name="Google Shape;315;g107d85dcbfc_3_66"/>
          <p:cNvSpPr txBox="1">
            <a:spLocks noGrp="1"/>
          </p:cNvSpPr>
          <p:nvPr>
            <p:ph type="body" idx="4294967295"/>
          </p:nvPr>
        </p:nvSpPr>
        <p:spPr>
          <a:xfrm>
            <a:off x="522975" y="1243350"/>
            <a:ext cx="8195100" cy="4870500"/>
          </a:xfrm>
          <a:prstGeom prst="rect">
            <a:avLst/>
          </a:prstGeom>
        </p:spPr>
        <p:txBody>
          <a:bodyPr spcFirstLastPara="1" wrap="square" lIns="91425" tIns="45700" rIns="91425" bIns="45700" anchor="t" anchorCtr="0">
            <a:normAutofit lnSpcReduction="20000"/>
          </a:bodyPr>
          <a:lstStyle/>
          <a:p>
            <a:pPr marL="0" lvl="0" indent="0" algn="l" rtl="0">
              <a:lnSpc>
                <a:spcPct val="100000"/>
              </a:lnSpc>
              <a:spcBef>
                <a:spcPts val="0"/>
              </a:spcBef>
              <a:spcAft>
                <a:spcPts val="0"/>
              </a:spcAft>
              <a:buNone/>
            </a:pPr>
            <a:r>
              <a:rPr lang="en-US" sz="2000" b="1" u="sng">
                <a:solidFill>
                  <a:srgbClr val="545454"/>
                </a:solidFill>
                <a:highlight>
                  <a:srgbClr val="FFFFFF"/>
                </a:highlight>
              </a:rPr>
              <a:t>Awareness</a:t>
            </a:r>
            <a:endParaRPr sz="2000" b="1" u="sng">
              <a:solidFill>
                <a:srgbClr val="545454"/>
              </a:solidFill>
              <a:highlight>
                <a:srgbClr val="FFFFFF"/>
              </a:highlight>
            </a:endParaRPr>
          </a:p>
          <a:p>
            <a:pPr marL="457200" lvl="0" indent="-355600" algn="l" rtl="0">
              <a:lnSpc>
                <a:spcPct val="100000"/>
              </a:lnSpc>
              <a:spcBef>
                <a:spcPts val="0"/>
              </a:spcBef>
              <a:spcAft>
                <a:spcPts val="0"/>
              </a:spcAft>
              <a:buClr>
                <a:srgbClr val="545454"/>
              </a:buClr>
              <a:buSzPts val="2000"/>
              <a:buChar char="-"/>
            </a:pPr>
            <a:r>
              <a:rPr lang="en-US" sz="2000" b="1">
                <a:solidFill>
                  <a:srgbClr val="545454"/>
                </a:solidFill>
                <a:highlight>
                  <a:srgbClr val="FFFFFF"/>
                </a:highlight>
              </a:rPr>
              <a:t>More respondents in Unguja</a:t>
            </a:r>
            <a:r>
              <a:rPr lang="en-US" sz="2000">
                <a:solidFill>
                  <a:srgbClr val="545454"/>
                </a:solidFill>
                <a:highlight>
                  <a:srgbClr val="FFFFFF"/>
                </a:highlight>
              </a:rPr>
              <a:t> (40%) reported being aware of larviciding programs than those in Pemba (7%; p&lt;0.001)</a:t>
            </a:r>
            <a:endParaRPr sz="2000">
              <a:solidFill>
                <a:srgbClr val="545454"/>
              </a:solidFill>
              <a:highlight>
                <a:srgbClr val="FFFFFF"/>
              </a:highlight>
            </a:endParaRPr>
          </a:p>
          <a:p>
            <a:pPr marL="457200" lvl="0" indent="-355600" algn="l" rtl="0">
              <a:lnSpc>
                <a:spcPct val="100000"/>
              </a:lnSpc>
              <a:spcBef>
                <a:spcPts val="0"/>
              </a:spcBef>
              <a:spcAft>
                <a:spcPts val="0"/>
              </a:spcAft>
              <a:buClr>
                <a:srgbClr val="545454"/>
              </a:buClr>
              <a:buSzPts val="2000"/>
              <a:buChar char="-"/>
            </a:pPr>
            <a:r>
              <a:rPr lang="en-US" sz="2000" b="1">
                <a:solidFill>
                  <a:srgbClr val="545454"/>
                </a:solidFill>
                <a:highlight>
                  <a:srgbClr val="FFFFFF"/>
                </a:highlight>
              </a:rPr>
              <a:t>More Urban respondents</a:t>
            </a:r>
            <a:r>
              <a:rPr lang="en-US" sz="2000">
                <a:solidFill>
                  <a:srgbClr val="545454"/>
                </a:solidFill>
                <a:highlight>
                  <a:srgbClr val="FFFFFF"/>
                </a:highlight>
              </a:rPr>
              <a:t> (42%) than Rural respondents (17%; p&lt;0.001)</a:t>
            </a:r>
            <a:endParaRPr sz="2000">
              <a:solidFill>
                <a:srgbClr val="545454"/>
              </a:solidFill>
              <a:highlight>
                <a:srgbClr val="FFFFFF"/>
              </a:highlight>
            </a:endParaRPr>
          </a:p>
          <a:p>
            <a:pPr marL="0" lvl="0" indent="0" algn="l" rtl="0">
              <a:lnSpc>
                <a:spcPct val="100000"/>
              </a:lnSpc>
              <a:spcBef>
                <a:spcPts val="0"/>
              </a:spcBef>
              <a:spcAft>
                <a:spcPts val="0"/>
              </a:spcAft>
              <a:buNone/>
            </a:pPr>
            <a:r>
              <a:rPr lang="en-US" sz="2000" b="1" u="sng">
                <a:solidFill>
                  <a:srgbClr val="545454"/>
                </a:solidFill>
                <a:highlight>
                  <a:srgbClr val="FFFFFF"/>
                </a:highlight>
              </a:rPr>
              <a:t>Favorable Attitudes</a:t>
            </a:r>
            <a:endParaRPr sz="2000" b="1" u="sng">
              <a:solidFill>
                <a:srgbClr val="545454"/>
              </a:solidFill>
              <a:highlight>
                <a:srgbClr val="FFFFFF"/>
              </a:highlight>
            </a:endParaRPr>
          </a:p>
          <a:p>
            <a:pPr marL="457200" lvl="0" indent="-355600" algn="l" rtl="0">
              <a:lnSpc>
                <a:spcPct val="100000"/>
              </a:lnSpc>
              <a:spcBef>
                <a:spcPts val="0"/>
              </a:spcBef>
              <a:spcAft>
                <a:spcPts val="0"/>
              </a:spcAft>
              <a:buClr>
                <a:srgbClr val="545454"/>
              </a:buClr>
              <a:buSzPts val="2000"/>
              <a:buChar char="-"/>
            </a:pPr>
            <a:r>
              <a:rPr lang="en-US" sz="2000" b="1">
                <a:solidFill>
                  <a:srgbClr val="545454"/>
                </a:solidFill>
                <a:highlight>
                  <a:srgbClr val="FFFFFF"/>
                </a:highlight>
              </a:rPr>
              <a:t>More Urban respondents</a:t>
            </a:r>
            <a:r>
              <a:rPr lang="en-US" sz="2000">
                <a:solidFill>
                  <a:srgbClr val="545454"/>
                </a:solidFill>
                <a:highlight>
                  <a:srgbClr val="FFFFFF"/>
                </a:highlight>
              </a:rPr>
              <a:t> (94%) with favorable attitudes than Rural respondents (90%; p&lt;0.01)</a:t>
            </a:r>
            <a:endParaRPr sz="2000">
              <a:solidFill>
                <a:srgbClr val="545454"/>
              </a:solidFill>
              <a:highlight>
                <a:srgbClr val="FFFFFF"/>
              </a:highlight>
            </a:endParaRPr>
          </a:p>
          <a:p>
            <a:pPr marL="457200" lvl="0" indent="-355600" algn="l" rtl="0">
              <a:lnSpc>
                <a:spcPct val="100000"/>
              </a:lnSpc>
              <a:spcBef>
                <a:spcPts val="0"/>
              </a:spcBef>
              <a:spcAft>
                <a:spcPts val="0"/>
              </a:spcAft>
              <a:buClr>
                <a:srgbClr val="545454"/>
              </a:buClr>
              <a:buSzPts val="2000"/>
              <a:buChar char="-"/>
            </a:pPr>
            <a:r>
              <a:rPr lang="en-US" sz="2000" b="1">
                <a:solidFill>
                  <a:srgbClr val="545454"/>
                </a:solidFill>
                <a:highlight>
                  <a:srgbClr val="FFFFFF"/>
                </a:highlight>
              </a:rPr>
              <a:t>More respondents in higher transmission areas</a:t>
            </a:r>
            <a:r>
              <a:rPr lang="en-US" sz="2000">
                <a:solidFill>
                  <a:srgbClr val="545454"/>
                </a:solidFill>
                <a:highlight>
                  <a:srgbClr val="FFFFFF"/>
                </a:highlight>
              </a:rPr>
              <a:t> (95%) than those in lower transmission areas (90%; p&lt;0.001)</a:t>
            </a:r>
            <a:endParaRPr sz="2000">
              <a:solidFill>
                <a:srgbClr val="545454"/>
              </a:solidFill>
              <a:highlight>
                <a:srgbClr val="FFFFFF"/>
              </a:highlight>
            </a:endParaRPr>
          </a:p>
          <a:p>
            <a:pPr marL="0" lvl="0" indent="0" algn="l" rtl="0">
              <a:lnSpc>
                <a:spcPct val="100000"/>
              </a:lnSpc>
              <a:spcBef>
                <a:spcPts val="0"/>
              </a:spcBef>
              <a:spcAft>
                <a:spcPts val="0"/>
              </a:spcAft>
              <a:buNone/>
            </a:pPr>
            <a:r>
              <a:rPr lang="en-US" sz="2000" b="1" u="sng">
                <a:solidFill>
                  <a:srgbClr val="545454"/>
                </a:solidFill>
                <a:highlight>
                  <a:srgbClr val="FFFFFF"/>
                </a:highlight>
              </a:rPr>
              <a:t>Perceiving Larvicing as effective</a:t>
            </a:r>
            <a:endParaRPr sz="2000" b="1" u="sng">
              <a:solidFill>
                <a:srgbClr val="545454"/>
              </a:solidFill>
              <a:highlight>
                <a:srgbClr val="FFFFFF"/>
              </a:highlight>
            </a:endParaRPr>
          </a:p>
          <a:p>
            <a:pPr marL="457200" lvl="0" indent="-355600" algn="l" rtl="0">
              <a:lnSpc>
                <a:spcPct val="100000"/>
              </a:lnSpc>
              <a:spcBef>
                <a:spcPts val="0"/>
              </a:spcBef>
              <a:spcAft>
                <a:spcPts val="0"/>
              </a:spcAft>
              <a:buClr>
                <a:srgbClr val="545454"/>
              </a:buClr>
              <a:buSzPts val="2000"/>
              <a:buChar char="-"/>
            </a:pPr>
            <a:r>
              <a:rPr lang="en-US" sz="2000" b="1">
                <a:solidFill>
                  <a:srgbClr val="545454"/>
                </a:solidFill>
                <a:highlight>
                  <a:srgbClr val="FFFFFF"/>
                </a:highlight>
              </a:rPr>
              <a:t>More respondents in Pemba</a:t>
            </a:r>
            <a:r>
              <a:rPr lang="en-US" sz="2000">
                <a:solidFill>
                  <a:srgbClr val="545454"/>
                </a:solidFill>
                <a:highlight>
                  <a:srgbClr val="FFFFFF"/>
                </a:highlight>
              </a:rPr>
              <a:t> (35%) perceived larviciding as effective than those in Unguja (22%; p&lt;0.001)</a:t>
            </a:r>
            <a:endParaRPr sz="2000">
              <a:solidFill>
                <a:srgbClr val="545454"/>
              </a:solidFill>
              <a:highlight>
                <a:srgbClr val="FFFFFF"/>
              </a:highlight>
            </a:endParaRPr>
          </a:p>
          <a:p>
            <a:pPr marL="457200" lvl="0" indent="-355600" algn="l" rtl="0">
              <a:lnSpc>
                <a:spcPct val="100000"/>
              </a:lnSpc>
              <a:spcBef>
                <a:spcPts val="0"/>
              </a:spcBef>
              <a:spcAft>
                <a:spcPts val="0"/>
              </a:spcAft>
              <a:buClr>
                <a:srgbClr val="545454"/>
              </a:buClr>
              <a:buSzPts val="2000"/>
              <a:buChar char="-"/>
            </a:pPr>
            <a:r>
              <a:rPr lang="en-US" sz="2000" b="1">
                <a:solidFill>
                  <a:srgbClr val="545454"/>
                </a:solidFill>
                <a:highlight>
                  <a:srgbClr val="FFFFFF"/>
                </a:highlight>
              </a:rPr>
              <a:t>More Rural respondents</a:t>
            </a:r>
            <a:r>
              <a:rPr lang="en-US" sz="2000">
                <a:solidFill>
                  <a:srgbClr val="545454"/>
                </a:solidFill>
                <a:highlight>
                  <a:srgbClr val="FFFFFF"/>
                </a:highlight>
              </a:rPr>
              <a:t> (33%) than Urban respondents (19%; p&lt;0.001)</a:t>
            </a:r>
            <a:endParaRPr sz="2000">
              <a:solidFill>
                <a:srgbClr val="545454"/>
              </a:solidFill>
              <a:highlight>
                <a:srgbClr val="FFFFFF"/>
              </a:highlight>
            </a:endParaRPr>
          </a:p>
          <a:p>
            <a:pPr marL="457200" lvl="0" indent="-355600" algn="l" rtl="0">
              <a:lnSpc>
                <a:spcPct val="100000"/>
              </a:lnSpc>
              <a:spcBef>
                <a:spcPts val="0"/>
              </a:spcBef>
              <a:spcAft>
                <a:spcPts val="0"/>
              </a:spcAft>
              <a:buClr>
                <a:srgbClr val="545454"/>
              </a:buClr>
              <a:buSzPts val="2000"/>
              <a:buChar char="-"/>
            </a:pPr>
            <a:r>
              <a:rPr lang="en-US" sz="2000">
                <a:solidFill>
                  <a:srgbClr val="545454"/>
                </a:solidFill>
                <a:highlight>
                  <a:srgbClr val="FFFFFF"/>
                </a:highlight>
              </a:rPr>
              <a:t>While most (</a:t>
            </a:r>
            <a:r>
              <a:rPr lang="en-US" sz="2000" b="1">
                <a:solidFill>
                  <a:schemeClr val="accent6"/>
                </a:solidFill>
                <a:highlight>
                  <a:srgbClr val="FFFFFF"/>
                </a:highlight>
              </a:rPr>
              <a:t>82%</a:t>
            </a:r>
            <a:r>
              <a:rPr lang="en-US" sz="2000">
                <a:solidFill>
                  <a:srgbClr val="545454"/>
                </a:solidFill>
                <a:highlight>
                  <a:srgbClr val="FFFFFF"/>
                </a:highlight>
              </a:rPr>
              <a:t>) agreed with the statement: </a:t>
            </a:r>
            <a:r>
              <a:rPr lang="en-US" sz="2000" i="1">
                <a:solidFill>
                  <a:srgbClr val="545454"/>
                </a:solidFill>
                <a:highlight>
                  <a:srgbClr val="FFFFFF"/>
                </a:highlight>
              </a:rPr>
              <a:t>Treating water bodies with larvicide as frequently as once per week throughout the year is a good way to avoid getting malaria.</a:t>
            </a:r>
            <a:endParaRPr sz="2000" i="1">
              <a:solidFill>
                <a:srgbClr val="545454"/>
              </a:solidFill>
              <a:highlight>
                <a:srgbClr val="FFFFFF"/>
              </a:highlight>
            </a:endParaRPr>
          </a:p>
          <a:p>
            <a:pPr marL="457200" lvl="0" indent="-355600" algn="l" rtl="0">
              <a:lnSpc>
                <a:spcPct val="100000"/>
              </a:lnSpc>
              <a:spcBef>
                <a:spcPts val="0"/>
              </a:spcBef>
              <a:spcAft>
                <a:spcPts val="0"/>
              </a:spcAft>
              <a:buClr>
                <a:srgbClr val="545454"/>
              </a:buClr>
              <a:buSzPts val="2000"/>
              <a:buChar char="-"/>
            </a:pPr>
            <a:r>
              <a:rPr lang="en-US" sz="2000" b="1">
                <a:solidFill>
                  <a:srgbClr val="FF0000"/>
                </a:solidFill>
                <a:highlight>
                  <a:srgbClr val="FFFFFF"/>
                </a:highlight>
              </a:rPr>
              <a:t>Only 27%</a:t>
            </a:r>
            <a:r>
              <a:rPr lang="en-US" sz="2000">
                <a:solidFill>
                  <a:srgbClr val="545454"/>
                </a:solidFill>
                <a:highlight>
                  <a:srgbClr val="FFFFFF"/>
                </a:highlight>
              </a:rPr>
              <a:t> disagreed with the statement:</a:t>
            </a:r>
            <a:r>
              <a:rPr lang="en-US" sz="2000" i="1">
                <a:solidFill>
                  <a:srgbClr val="545454"/>
                </a:solidFill>
                <a:highlight>
                  <a:srgbClr val="FFFFFF"/>
                </a:highlight>
              </a:rPr>
              <a:t> The chances of getting malaria are the same whether or not water bodies in the area are treated with larvicide.</a:t>
            </a:r>
            <a:endParaRPr sz="2000">
              <a:solidFill>
                <a:srgbClr val="545454"/>
              </a:solidFill>
              <a:highlight>
                <a:srgbClr val="FFFFFF"/>
              </a:highlight>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320"/>
        <p:cNvGrpSpPr/>
        <p:nvPr/>
      </p:nvGrpSpPr>
      <p:grpSpPr>
        <a:xfrm>
          <a:off x="0" y="0"/>
          <a:ext cx="0" cy="0"/>
          <a:chOff x="0" y="0"/>
          <a:chExt cx="0" cy="0"/>
        </a:xfrm>
      </p:grpSpPr>
      <p:sp>
        <p:nvSpPr>
          <p:cNvPr id="321" name="Google Shape;321;g107a3637e0a_1_75"/>
          <p:cNvSpPr txBox="1">
            <a:spLocks noGrp="1"/>
          </p:cNvSpPr>
          <p:nvPr>
            <p:ph type="title"/>
          </p:nvPr>
        </p:nvSpPr>
        <p:spPr>
          <a:xfrm>
            <a:off x="1105230" y="365126"/>
            <a:ext cx="7410000" cy="1325700"/>
          </a:xfrm>
          <a:prstGeom prst="rect">
            <a:avLst/>
          </a:prstGeom>
        </p:spPr>
        <p:txBody>
          <a:bodyPr spcFirstLastPara="1" wrap="square" lIns="91425" tIns="45700" rIns="91425" bIns="45700" anchor="ctr" anchorCtr="0">
            <a:normAutofit/>
          </a:bodyPr>
          <a:lstStyle/>
          <a:p>
            <a:pPr marL="0" lvl="0" indent="0" algn="l" rtl="0">
              <a:spcBef>
                <a:spcPts val="0"/>
              </a:spcBef>
              <a:spcAft>
                <a:spcPts val="0"/>
              </a:spcAft>
              <a:buNone/>
            </a:pPr>
            <a:r>
              <a:rPr lang="en-US"/>
              <a:t>Larviciding coverage</a:t>
            </a:r>
            <a:endParaRPr/>
          </a:p>
        </p:txBody>
      </p:sp>
      <p:sp>
        <p:nvSpPr>
          <p:cNvPr id="322" name="Google Shape;322;g107a3637e0a_1_75"/>
          <p:cNvSpPr txBox="1">
            <a:spLocks noGrp="1"/>
          </p:cNvSpPr>
          <p:nvPr>
            <p:ph type="body" idx="1"/>
          </p:nvPr>
        </p:nvSpPr>
        <p:spPr>
          <a:xfrm>
            <a:off x="1008180" y="1466400"/>
            <a:ext cx="7410000" cy="3925200"/>
          </a:xfrm>
          <a:prstGeom prst="rect">
            <a:avLst/>
          </a:prstGeom>
        </p:spPr>
        <p:txBody>
          <a:bodyPr spcFirstLastPara="1" wrap="square" lIns="91425" tIns="45700" rIns="91425" bIns="45700" anchor="t" anchorCtr="0">
            <a:normAutofit/>
          </a:bodyPr>
          <a:lstStyle/>
          <a:p>
            <a:pPr marL="457200" lvl="0" indent="-419100" algn="l" rtl="0">
              <a:lnSpc>
                <a:spcPct val="100000"/>
              </a:lnSpc>
              <a:spcBef>
                <a:spcPts val="1200"/>
              </a:spcBef>
              <a:spcAft>
                <a:spcPts val="0"/>
              </a:spcAft>
              <a:buSzPts val="3000"/>
              <a:buChar char="❖"/>
            </a:pPr>
            <a:r>
              <a:rPr lang="en-US" sz="3000"/>
              <a:t>Only 6% of households reported that a larviciding program had come to their communities in the past 12 months. </a:t>
            </a:r>
            <a:endParaRPr sz="3000"/>
          </a:p>
          <a:p>
            <a:pPr marL="457200" lvl="0" indent="-419100" algn="l" rtl="0">
              <a:lnSpc>
                <a:spcPct val="100000"/>
              </a:lnSpc>
              <a:spcBef>
                <a:spcPts val="0"/>
              </a:spcBef>
              <a:spcAft>
                <a:spcPts val="0"/>
              </a:spcAft>
              <a:buSzPts val="3000"/>
              <a:buChar char="❖"/>
            </a:pPr>
            <a:r>
              <a:rPr lang="en-US" sz="3000"/>
              <a:t>The only difference was associated with wealth quintiles; the relationship was not linear. </a:t>
            </a:r>
            <a:endParaRPr sz="3000"/>
          </a:p>
          <a:p>
            <a:pPr marL="0" lvl="0" indent="0" algn="l" rtl="0">
              <a:spcBef>
                <a:spcPts val="1200"/>
              </a:spcBef>
              <a:spcAft>
                <a:spcPts val="0"/>
              </a:spcAft>
              <a:buNone/>
            </a:pPr>
            <a:endParaRPr/>
          </a:p>
        </p:txBody>
      </p:sp>
      <p:sp>
        <p:nvSpPr>
          <p:cNvPr id="323" name="Google Shape;323;g107a3637e0a_1_75"/>
          <p:cNvSpPr txBox="1">
            <a:spLocks noGrp="1"/>
          </p:cNvSpPr>
          <p:nvPr>
            <p:ph type="sldNum" idx="12"/>
          </p:nvPr>
        </p:nvSpPr>
        <p:spPr>
          <a:xfrm>
            <a:off x="1105230" y="6359608"/>
            <a:ext cx="7410000" cy="365100"/>
          </a:xfrm>
          <a:prstGeom prst="rect">
            <a:avLst/>
          </a:prstGeom>
        </p:spPr>
        <p:txBody>
          <a:bodyPr spcFirstLastPara="1" wrap="square" lIns="91425" tIns="45700" rIns="91425" bIns="45700" anchor="ctr" anchorCtr="0">
            <a:noAutofit/>
          </a:bodyPr>
          <a:lstStyle/>
          <a:p>
            <a:pPr marL="0" lvl="0" indent="0" algn="ctr" rtl="0">
              <a:spcBef>
                <a:spcPts val="0"/>
              </a:spcBef>
              <a:spcAft>
                <a:spcPts val="0"/>
              </a:spcAft>
              <a:buClr>
                <a:srgbClr val="000000"/>
              </a:buClr>
              <a:buFont typeface="Arial"/>
              <a:buNone/>
            </a:pPr>
            <a:fld id="{00000000-1234-1234-1234-123412341234}" type="slidenum">
              <a:rPr lang="en-US"/>
              <a:t>40</a:t>
            </a:fld>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328"/>
        <p:cNvGrpSpPr/>
        <p:nvPr/>
      </p:nvGrpSpPr>
      <p:grpSpPr>
        <a:xfrm>
          <a:off x="0" y="0"/>
          <a:ext cx="0" cy="0"/>
          <a:chOff x="0" y="0"/>
          <a:chExt cx="0" cy="0"/>
        </a:xfrm>
      </p:grpSpPr>
      <p:sp>
        <p:nvSpPr>
          <p:cNvPr id="329" name="Google Shape;329;g107a3637e0a_1_60"/>
          <p:cNvSpPr txBox="1">
            <a:spLocks noGrp="1"/>
          </p:cNvSpPr>
          <p:nvPr>
            <p:ph type="title"/>
          </p:nvPr>
        </p:nvSpPr>
        <p:spPr>
          <a:xfrm>
            <a:off x="623888" y="1709739"/>
            <a:ext cx="7886700" cy="2852700"/>
          </a:xfrm>
          <a:prstGeom prst="rect">
            <a:avLst/>
          </a:prstGeom>
        </p:spPr>
        <p:txBody>
          <a:bodyPr spcFirstLastPara="1" wrap="square" lIns="91425" tIns="45700" rIns="91425" bIns="45700" anchor="b" anchorCtr="0">
            <a:normAutofit/>
          </a:bodyPr>
          <a:lstStyle/>
          <a:p>
            <a:pPr marL="0" lvl="0" indent="0" algn="l" rtl="0">
              <a:spcBef>
                <a:spcPts val="0"/>
              </a:spcBef>
              <a:spcAft>
                <a:spcPts val="0"/>
              </a:spcAft>
              <a:buNone/>
            </a:pPr>
            <a:r>
              <a:rPr lang="en-US"/>
              <a:t>Media Consumption &amp; </a:t>
            </a:r>
            <a:endParaRPr/>
          </a:p>
          <a:p>
            <a:pPr marL="0" lvl="0" indent="0" algn="l" rtl="0">
              <a:spcBef>
                <a:spcPts val="0"/>
              </a:spcBef>
              <a:spcAft>
                <a:spcPts val="0"/>
              </a:spcAft>
              <a:buNone/>
            </a:pPr>
            <a:r>
              <a:rPr lang="en-US"/>
              <a:t>Message Recall</a:t>
            </a:r>
            <a:endParaRPr/>
          </a:p>
        </p:txBody>
      </p:sp>
      <p:sp>
        <p:nvSpPr>
          <p:cNvPr id="330" name="Google Shape;330;g107a3637e0a_1_60"/>
          <p:cNvSpPr txBox="1">
            <a:spLocks noGrp="1"/>
          </p:cNvSpPr>
          <p:nvPr>
            <p:ph type="body" idx="1"/>
          </p:nvPr>
        </p:nvSpPr>
        <p:spPr>
          <a:xfrm>
            <a:off x="623888" y="4589464"/>
            <a:ext cx="7886700" cy="1500300"/>
          </a:xfrm>
          <a:prstGeom prst="rect">
            <a:avLst/>
          </a:prstGeom>
        </p:spPr>
        <p:txBody>
          <a:bodyPr spcFirstLastPara="1" wrap="square" lIns="91425" tIns="45700" rIns="91425" bIns="45700" anchor="t" anchorCtr="0">
            <a:normAutofit/>
          </a:bodyPr>
          <a:lstStyle/>
          <a:p>
            <a:pPr marL="0" lvl="0" indent="0" algn="l" rtl="0">
              <a:spcBef>
                <a:spcPts val="1000"/>
              </a:spcBef>
              <a:spcAft>
                <a:spcPts val="0"/>
              </a:spcAft>
              <a:buNone/>
            </a:pPr>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335"/>
        <p:cNvGrpSpPr/>
        <p:nvPr/>
      </p:nvGrpSpPr>
      <p:grpSpPr>
        <a:xfrm>
          <a:off x="0" y="0"/>
          <a:ext cx="0" cy="0"/>
          <a:chOff x="0" y="0"/>
          <a:chExt cx="0" cy="0"/>
        </a:xfrm>
      </p:grpSpPr>
      <p:sp>
        <p:nvSpPr>
          <p:cNvPr id="336" name="Google Shape;336;g107a3637e0a_1_82"/>
          <p:cNvSpPr txBox="1">
            <a:spLocks noGrp="1"/>
          </p:cNvSpPr>
          <p:nvPr>
            <p:ph type="title"/>
          </p:nvPr>
        </p:nvSpPr>
        <p:spPr>
          <a:xfrm>
            <a:off x="1105230" y="365126"/>
            <a:ext cx="7410000" cy="1325700"/>
          </a:xfrm>
          <a:prstGeom prst="rect">
            <a:avLst/>
          </a:prstGeom>
        </p:spPr>
        <p:txBody>
          <a:bodyPr spcFirstLastPara="1" wrap="square" lIns="91425" tIns="45700" rIns="91425" bIns="45700" anchor="ctr" anchorCtr="0">
            <a:normAutofit/>
          </a:bodyPr>
          <a:lstStyle/>
          <a:p>
            <a:pPr marL="0" lvl="0" indent="0" algn="l" rtl="0">
              <a:spcBef>
                <a:spcPts val="0"/>
              </a:spcBef>
              <a:spcAft>
                <a:spcPts val="0"/>
              </a:spcAft>
              <a:buNone/>
            </a:pPr>
            <a:r>
              <a:rPr lang="en-US"/>
              <a:t>Media Access &amp; Consumption</a:t>
            </a:r>
            <a:endParaRPr/>
          </a:p>
          <a:p>
            <a:pPr marL="0" lvl="0" indent="0" algn="l" rtl="0">
              <a:spcBef>
                <a:spcPts val="0"/>
              </a:spcBef>
              <a:spcAft>
                <a:spcPts val="0"/>
              </a:spcAft>
              <a:buNone/>
            </a:pPr>
            <a:r>
              <a:rPr lang="en-US" sz="2533"/>
              <a:t>(from Individual Questionnaire; N=1745)</a:t>
            </a:r>
            <a:endParaRPr sz="2533"/>
          </a:p>
        </p:txBody>
      </p:sp>
      <p:sp>
        <p:nvSpPr>
          <p:cNvPr id="337" name="Google Shape;337;g107a3637e0a_1_82"/>
          <p:cNvSpPr txBox="1">
            <a:spLocks noGrp="1"/>
          </p:cNvSpPr>
          <p:nvPr>
            <p:ph type="sldNum" idx="12"/>
          </p:nvPr>
        </p:nvSpPr>
        <p:spPr>
          <a:xfrm>
            <a:off x="1105230" y="6359608"/>
            <a:ext cx="7410000" cy="365100"/>
          </a:xfrm>
          <a:prstGeom prst="rect">
            <a:avLst/>
          </a:prstGeom>
        </p:spPr>
        <p:txBody>
          <a:bodyPr spcFirstLastPara="1" wrap="square" lIns="91425" tIns="45700" rIns="91425" bIns="45700" anchor="ctr" anchorCtr="0">
            <a:noAutofit/>
          </a:bodyPr>
          <a:lstStyle/>
          <a:p>
            <a:pPr marL="0" lvl="0" indent="0" algn="ctr" rtl="0">
              <a:spcBef>
                <a:spcPts val="0"/>
              </a:spcBef>
              <a:spcAft>
                <a:spcPts val="0"/>
              </a:spcAft>
              <a:buClr>
                <a:srgbClr val="000000"/>
              </a:buClr>
              <a:buFont typeface="Arial"/>
              <a:buNone/>
            </a:pPr>
            <a:fld id="{00000000-1234-1234-1234-123412341234}" type="slidenum">
              <a:rPr lang="en-US"/>
              <a:t>42</a:t>
            </a:fld>
            <a:endParaRPr/>
          </a:p>
        </p:txBody>
      </p:sp>
      <p:sp>
        <p:nvSpPr>
          <p:cNvPr id="338" name="Google Shape;338;g107a3637e0a_1_82"/>
          <p:cNvSpPr txBox="1">
            <a:spLocks noGrp="1"/>
          </p:cNvSpPr>
          <p:nvPr>
            <p:ph type="body" idx="2"/>
          </p:nvPr>
        </p:nvSpPr>
        <p:spPr>
          <a:xfrm>
            <a:off x="5040925" y="1781600"/>
            <a:ext cx="3474300" cy="4578000"/>
          </a:xfrm>
          <a:prstGeom prst="rect">
            <a:avLst/>
          </a:prstGeom>
        </p:spPr>
        <p:txBody>
          <a:bodyPr spcFirstLastPara="1" wrap="square" lIns="91425" tIns="45700" rIns="91425" bIns="45700" anchor="t" anchorCtr="0">
            <a:normAutofit fontScale="85000" lnSpcReduction="20000"/>
          </a:bodyPr>
          <a:lstStyle/>
          <a:p>
            <a:pPr marL="0" lvl="0" indent="0" algn="l" rtl="0">
              <a:lnSpc>
                <a:spcPct val="115000"/>
              </a:lnSpc>
              <a:spcBef>
                <a:spcPts val="1000"/>
              </a:spcBef>
              <a:spcAft>
                <a:spcPts val="0"/>
              </a:spcAft>
              <a:buNone/>
            </a:pPr>
            <a:r>
              <a:rPr lang="en-US" sz="2200" b="1"/>
              <a:t>Radio/TV</a:t>
            </a:r>
            <a:r>
              <a:rPr lang="en-US" sz="2200"/>
              <a:t>: Men, Unguja residents, urban dwellers, higher educational attainment, higher wealth brackets</a:t>
            </a:r>
            <a:endParaRPr sz="2200"/>
          </a:p>
          <a:p>
            <a:pPr marL="0" lvl="0" indent="0" algn="l" rtl="0">
              <a:lnSpc>
                <a:spcPct val="115000"/>
              </a:lnSpc>
              <a:spcBef>
                <a:spcPts val="1000"/>
              </a:spcBef>
              <a:spcAft>
                <a:spcPts val="0"/>
              </a:spcAft>
              <a:buNone/>
            </a:pPr>
            <a:r>
              <a:rPr lang="en-US" sz="2200" b="1"/>
              <a:t>Mobile phone</a:t>
            </a:r>
            <a:r>
              <a:rPr lang="en-US" sz="2200"/>
              <a:t>: Men, older respondents, urban dwellers, higher transmission areas, at least a secondary education, upper wealth quintiles associated with significantly higher levels of ownership. </a:t>
            </a:r>
            <a:endParaRPr sz="2200"/>
          </a:p>
          <a:p>
            <a:pPr marL="0" lvl="0" indent="0" algn="l" rtl="0">
              <a:lnSpc>
                <a:spcPct val="115000"/>
              </a:lnSpc>
              <a:spcBef>
                <a:spcPts val="0"/>
              </a:spcBef>
              <a:spcAft>
                <a:spcPts val="0"/>
              </a:spcAft>
              <a:buNone/>
            </a:pPr>
            <a:endParaRPr sz="2200" b="1"/>
          </a:p>
          <a:p>
            <a:pPr marL="0" lvl="0" indent="0" algn="l" rtl="0">
              <a:lnSpc>
                <a:spcPct val="115000"/>
              </a:lnSpc>
              <a:spcBef>
                <a:spcPts val="0"/>
              </a:spcBef>
              <a:spcAft>
                <a:spcPts val="0"/>
              </a:spcAft>
              <a:buClr>
                <a:schemeClr val="dk1"/>
              </a:buClr>
              <a:buSzPct val="50000"/>
              <a:buFont typeface="Arial"/>
              <a:buNone/>
            </a:pPr>
            <a:r>
              <a:rPr lang="en-US" sz="2200" b="1"/>
              <a:t>Smartphone</a:t>
            </a:r>
            <a:r>
              <a:rPr lang="en-US" sz="2200"/>
              <a:t>: Ownership significantly different by zone: Unguja: 53%; Pemba 15%</a:t>
            </a:r>
            <a:endParaRPr sz="2200"/>
          </a:p>
        </p:txBody>
      </p:sp>
      <p:pic>
        <p:nvPicPr>
          <p:cNvPr id="339" name="Google Shape;339;g107a3637e0a_1_82"/>
          <p:cNvPicPr preferRelativeResize="0"/>
          <p:nvPr/>
        </p:nvPicPr>
        <p:blipFill>
          <a:blip r:embed="rId3">
            <a:alphaModFix/>
          </a:blip>
          <a:stretch>
            <a:fillRect/>
          </a:stretch>
        </p:blipFill>
        <p:spPr>
          <a:xfrm>
            <a:off x="105600" y="1931225"/>
            <a:ext cx="4746225" cy="3435800"/>
          </a:xfrm>
          <a:prstGeom prst="rect">
            <a:avLst/>
          </a:prstGeom>
          <a:noFill/>
          <a:ln>
            <a:noFill/>
          </a:ln>
        </p:spPr>
      </p:pic>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344"/>
        <p:cNvGrpSpPr/>
        <p:nvPr/>
      </p:nvGrpSpPr>
      <p:grpSpPr>
        <a:xfrm>
          <a:off x="0" y="0"/>
          <a:ext cx="0" cy="0"/>
          <a:chOff x="0" y="0"/>
          <a:chExt cx="0" cy="0"/>
        </a:xfrm>
      </p:grpSpPr>
      <p:sp>
        <p:nvSpPr>
          <p:cNvPr id="345" name="Google Shape;345;g107a3637e0a_1_120"/>
          <p:cNvSpPr txBox="1">
            <a:spLocks noGrp="1"/>
          </p:cNvSpPr>
          <p:nvPr>
            <p:ph type="title"/>
          </p:nvPr>
        </p:nvSpPr>
        <p:spPr>
          <a:xfrm>
            <a:off x="1105230" y="365126"/>
            <a:ext cx="7410000" cy="1325700"/>
          </a:xfrm>
          <a:prstGeom prst="rect">
            <a:avLst/>
          </a:prstGeom>
        </p:spPr>
        <p:txBody>
          <a:bodyPr spcFirstLastPara="1" wrap="square" lIns="91425" tIns="45700" rIns="91425" bIns="45700" anchor="ctr" anchorCtr="0">
            <a:normAutofit/>
          </a:bodyPr>
          <a:lstStyle/>
          <a:p>
            <a:pPr marL="0" lvl="0" indent="0" algn="l" rtl="0">
              <a:spcBef>
                <a:spcPts val="0"/>
              </a:spcBef>
              <a:spcAft>
                <a:spcPts val="0"/>
              </a:spcAft>
              <a:buNone/>
            </a:pPr>
            <a:r>
              <a:rPr lang="en-US"/>
              <a:t>Malaria Message Recall</a:t>
            </a:r>
            <a:endParaRPr/>
          </a:p>
        </p:txBody>
      </p:sp>
      <p:sp>
        <p:nvSpPr>
          <p:cNvPr id="346" name="Google Shape;346;g107a3637e0a_1_120"/>
          <p:cNvSpPr txBox="1">
            <a:spLocks noGrp="1"/>
          </p:cNvSpPr>
          <p:nvPr>
            <p:ph type="sldNum" idx="12"/>
          </p:nvPr>
        </p:nvSpPr>
        <p:spPr>
          <a:xfrm>
            <a:off x="1105230" y="6359608"/>
            <a:ext cx="7410000" cy="365100"/>
          </a:xfrm>
          <a:prstGeom prst="rect">
            <a:avLst/>
          </a:prstGeom>
        </p:spPr>
        <p:txBody>
          <a:bodyPr spcFirstLastPara="1" wrap="square" lIns="91425" tIns="45700" rIns="91425" bIns="45700" anchor="ctr" anchorCtr="0">
            <a:noAutofit/>
          </a:bodyPr>
          <a:lstStyle/>
          <a:p>
            <a:pPr marL="0" lvl="0" indent="0" algn="ctr" rtl="0">
              <a:spcBef>
                <a:spcPts val="0"/>
              </a:spcBef>
              <a:spcAft>
                <a:spcPts val="0"/>
              </a:spcAft>
              <a:buClr>
                <a:srgbClr val="000000"/>
              </a:buClr>
              <a:buFont typeface="Arial"/>
              <a:buNone/>
            </a:pPr>
            <a:fld id="{00000000-1234-1234-1234-123412341234}" type="slidenum">
              <a:rPr lang="en-US"/>
              <a:t>43</a:t>
            </a:fld>
            <a:endParaRPr/>
          </a:p>
        </p:txBody>
      </p:sp>
      <p:pic>
        <p:nvPicPr>
          <p:cNvPr id="347" name="Google Shape;347;g107a3637e0a_1_120"/>
          <p:cNvPicPr preferRelativeResize="0"/>
          <p:nvPr/>
        </p:nvPicPr>
        <p:blipFill>
          <a:blip r:embed="rId3">
            <a:alphaModFix/>
          </a:blip>
          <a:stretch>
            <a:fillRect/>
          </a:stretch>
        </p:blipFill>
        <p:spPr>
          <a:xfrm>
            <a:off x="152400" y="1573524"/>
            <a:ext cx="8991600" cy="2547620"/>
          </a:xfrm>
          <a:prstGeom prst="rect">
            <a:avLst/>
          </a:prstGeom>
          <a:noFill/>
          <a:ln>
            <a:noFill/>
          </a:ln>
        </p:spPr>
      </p:pic>
      <p:sp>
        <p:nvSpPr>
          <p:cNvPr id="348" name="Google Shape;348;g107a3637e0a_1_120"/>
          <p:cNvSpPr txBox="1"/>
          <p:nvPr/>
        </p:nvSpPr>
        <p:spPr>
          <a:xfrm>
            <a:off x="452538" y="4121150"/>
            <a:ext cx="2426100" cy="14160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US" sz="1600" b="1">
                <a:latin typeface="Calibri"/>
                <a:ea typeface="Calibri"/>
                <a:cs typeface="Calibri"/>
                <a:sym typeface="Calibri"/>
              </a:rPr>
              <a:t>Zone</a:t>
            </a:r>
            <a:r>
              <a:rPr lang="en-US" sz="1600">
                <a:latin typeface="Calibri"/>
                <a:ea typeface="Calibri"/>
                <a:cs typeface="Calibri"/>
                <a:sym typeface="Calibri"/>
              </a:rPr>
              <a:t>***:</a:t>
            </a:r>
            <a:endParaRPr sz="1600">
              <a:latin typeface="Calibri"/>
              <a:ea typeface="Calibri"/>
              <a:cs typeface="Calibri"/>
              <a:sym typeface="Calibri"/>
            </a:endParaRPr>
          </a:p>
          <a:p>
            <a:pPr marL="0" lvl="0" indent="0" algn="ctr" rtl="0">
              <a:spcBef>
                <a:spcPts val="0"/>
              </a:spcBef>
              <a:spcAft>
                <a:spcPts val="0"/>
              </a:spcAft>
              <a:buNone/>
            </a:pPr>
            <a:r>
              <a:rPr lang="en-US" sz="1600">
                <a:latin typeface="Calibri"/>
                <a:ea typeface="Calibri"/>
                <a:cs typeface="Calibri"/>
                <a:sym typeface="Calibri"/>
              </a:rPr>
              <a:t>Unguja: 44%   Pemba: 31%</a:t>
            </a:r>
            <a:endParaRPr sz="1600">
              <a:latin typeface="Calibri"/>
              <a:ea typeface="Calibri"/>
              <a:cs typeface="Calibri"/>
              <a:sym typeface="Calibri"/>
            </a:endParaRPr>
          </a:p>
          <a:p>
            <a:pPr marL="0" lvl="0" indent="0" algn="ctr" rtl="0">
              <a:spcBef>
                <a:spcPts val="0"/>
              </a:spcBef>
              <a:spcAft>
                <a:spcPts val="0"/>
              </a:spcAft>
              <a:buNone/>
            </a:pPr>
            <a:endParaRPr sz="1600">
              <a:latin typeface="Calibri"/>
              <a:ea typeface="Calibri"/>
              <a:cs typeface="Calibri"/>
              <a:sym typeface="Calibri"/>
            </a:endParaRPr>
          </a:p>
          <a:p>
            <a:pPr marL="0" lvl="0" indent="0" algn="ctr" rtl="0">
              <a:spcBef>
                <a:spcPts val="0"/>
              </a:spcBef>
              <a:spcAft>
                <a:spcPts val="0"/>
              </a:spcAft>
              <a:buNone/>
            </a:pPr>
            <a:r>
              <a:rPr lang="en-US" sz="1600" b="1">
                <a:latin typeface="Calibri"/>
                <a:ea typeface="Calibri"/>
                <a:cs typeface="Calibri"/>
                <a:sym typeface="Calibri"/>
              </a:rPr>
              <a:t>Residence</a:t>
            </a:r>
            <a:r>
              <a:rPr lang="en-US" sz="1600">
                <a:latin typeface="Calibri"/>
                <a:ea typeface="Calibri"/>
                <a:cs typeface="Calibri"/>
                <a:sym typeface="Calibri"/>
              </a:rPr>
              <a:t>***:</a:t>
            </a:r>
            <a:endParaRPr sz="1600">
              <a:latin typeface="Calibri"/>
              <a:ea typeface="Calibri"/>
              <a:cs typeface="Calibri"/>
              <a:sym typeface="Calibri"/>
            </a:endParaRPr>
          </a:p>
          <a:p>
            <a:pPr marL="0" lvl="0" indent="0" algn="ctr" rtl="0">
              <a:spcBef>
                <a:spcPts val="0"/>
              </a:spcBef>
              <a:spcAft>
                <a:spcPts val="0"/>
              </a:spcAft>
              <a:buNone/>
            </a:pPr>
            <a:r>
              <a:rPr lang="en-US" sz="1600">
                <a:latin typeface="Calibri"/>
                <a:ea typeface="Calibri"/>
                <a:cs typeface="Calibri"/>
                <a:sym typeface="Calibri"/>
              </a:rPr>
              <a:t>Urban: 45%     Rural: 35%</a:t>
            </a:r>
            <a:endParaRPr sz="1600">
              <a:latin typeface="Calibri"/>
              <a:ea typeface="Calibri"/>
              <a:cs typeface="Calibri"/>
              <a:sym typeface="Calibri"/>
            </a:endParaRPr>
          </a:p>
        </p:txBody>
      </p:sp>
      <p:sp>
        <p:nvSpPr>
          <p:cNvPr id="349" name="Google Shape;349;g107a3637e0a_1_120"/>
          <p:cNvSpPr txBox="1"/>
          <p:nvPr/>
        </p:nvSpPr>
        <p:spPr>
          <a:xfrm>
            <a:off x="3402463" y="4121150"/>
            <a:ext cx="2426100" cy="14160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US" sz="1600" b="1">
                <a:latin typeface="Calibri"/>
                <a:ea typeface="Calibri"/>
                <a:cs typeface="Calibri"/>
                <a:sym typeface="Calibri"/>
              </a:rPr>
              <a:t>Zone</a:t>
            </a:r>
            <a:r>
              <a:rPr lang="en-US" sz="1600">
                <a:latin typeface="Calibri"/>
                <a:ea typeface="Calibri"/>
                <a:cs typeface="Calibri"/>
                <a:sym typeface="Calibri"/>
              </a:rPr>
              <a:t>***:</a:t>
            </a:r>
            <a:endParaRPr sz="1600">
              <a:latin typeface="Calibri"/>
              <a:ea typeface="Calibri"/>
              <a:cs typeface="Calibri"/>
              <a:sym typeface="Calibri"/>
            </a:endParaRPr>
          </a:p>
          <a:p>
            <a:pPr marL="0" lvl="0" indent="0" algn="ctr" rtl="0">
              <a:spcBef>
                <a:spcPts val="0"/>
              </a:spcBef>
              <a:spcAft>
                <a:spcPts val="0"/>
              </a:spcAft>
              <a:buNone/>
            </a:pPr>
            <a:r>
              <a:rPr lang="en-US" sz="1600">
                <a:latin typeface="Calibri"/>
                <a:ea typeface="Calibri"/>
                <a:cs typeface="Calibri"/>
                <a:sym typeface="Calibri"/>
              </a:rPr>
              <a:t>Unguja: 66%   Pemba: 45%</a:t>
            </a:r>
            <a:endParaRPr sz="1600">
              <a:latin typeface="Calibri"/>
              <a:ea typeface="Calibri"/>
              <a:cs typeface="Calibri"/>
              <a:sym typeface="Calibri"/>
            </a:endParaRPr>
          </a:p>
          <a:p>
            <a:pPr marL="0" lvl="0" indent="0" algn="ctr" rtl="0">
              <a:spcBef>
                <a:spcPts val="0"/>
              </a:spcBef>
              <a:spcAft>
                <a:spcPts val="0"/>
              </a:spcAft>
              <a:buNone/>
            </a:pPr>
            <a:endParaRPr sz="1600">
              <a:latin typeface="Calibri"/>
              <a:ea typeface="Calibri"/>
              <a:cs typeface="Calibri"/>
              <a:sym typeface="Calibri"/>
            </a:endParaRPr>
          </a:p>
          <a:p>
            <a:pPr marL="0" lvl="0" indent="0" algn="ctr" rtl="0">
              <a:spcBef>
                <a:spcPts val="0"/>
              </a:spcBef>
              <a:spcAft>
                <a:spcPts val="0"/>
              </a:spcAft>
              <a:buNone/>
            </a:pPr>
            <a:r>
              <a:rPr lang="en-US" sz="1600" b="1">
                <a:latin typeface="Calibri"/>
                <a:ea typeface="Calibri"/>
                <a:cs typeface="Calibri"/>
                <a:sym typeface="Calibri"/>
              </a:rPr>
              <a:t>Residence</a:t>
            </a:r>
            <a:r>
              <a:rPr lang="en-US" sz="1600">
                <a:latin typeface="Calibri"/>
                <a:ea typeface="Calibri"/>
                <a:cs typeface="Calibri"/>
                <a:sym typeface="Calibri"/>
              </a:rPr>
              <a:t>***:</a:t>
            </a:r>
            <a:endParaRPr sz="1600">
              <a:latin typeface="Calibri"/>
              <a:ea typeface="Calibri"/>
              <a:cs typeface="Calibri"/>
              <a:sym typeface="Calibri"/>
            </a:endParaRPr>
          </a:p>
          <a:p>
            <a:pPr marL="0" lvl="0" indent="0" algn="ctr" rtl="0">
              <a:spcBef>
                <a:spcPts val="0"/>
              </a:spcBef>
              <a:spcAft>
                <a:spcPts val="0"/>
              </a:spcAft>
              <a:buNone/>
            </a:pPr>
            <a:r>
              <a:rPr lang="en-US" sz="1600">
                <a:latin typeface="Calibri"/>
                <a:ea typeface="Calibri"/>
                <a:cs typeface="Calibri"/>
                <a:sym typeface="Calibri"/>
              </a:rPr>
              <a:t>Urban: 69%     Rural: 51%</a:t>
            </a:r>
            <a:endParaRPr sz="1600">
              <a:latin typeface="Calibri"/>
              <a:ea typeface="Calibri"/>
              <a:cs typeface="Calibri"/>
              <a:sym typeface="Calibri"/>
            </a:endParaRPr>
          </a:p>
        </p:txBody>
      </p:sp>
      <p:sp>
        <p:nvSpPr>
          <p:cNvPr id="350" name="Google Shape;350;g107a3637e0a_1_120"/>
          <p:cNvSpPr txBox="1"/>
          <p:nvPr/>
        </p:nvSpPr>
        <p:spPr>
          <a:xfrm>
            <a:off x="6417763" y="4121150"/>
            <a:ext cx="2426100" cy="14160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US" sz="1600" b="1">
                <a:latin typeface="Calibri"/>
                <a:ea typeface="Calibri"/>
                <a:cs typeface="Calibri"/>
                <a:sym typeface="Calibri"/>
              </a:rPr>
              <a:t>Zone</a:t>
            </a:r>
            <a:r>
              <a:rPr lang="en-US" sz="1600">
                <a:latin typeface="Calibri"/>
                <a:ea typeface="Calibri"/>
                <a:cs typeface="Calibri"/>
                <a:sym typeface="Calibri"/>
              </a:rPr>
              <a:t>***:</a:t>
            </a:r>
            <a:endParaRPr sz="1600">
              <a:latin typeface="Calibri"/>
              <a:ea typeface="Calibri"/>
              <a:cs typeface="Calibri"/>
              <a:sym typeface="Calibri"/>
            </a:endParaRPr>
          </a:p>
          <a:p>
            <a:pPr marL="0" lvl="0" indent="0" algn="ctr" rtl="0">
              <a:spcBef>
                <a:spcPts val="0"/>
              </a:spcBef>
              <a:spcAft>
                <a:spcPts val="0"/>
              </a:spcAft>
              <a:buNone/>
            </a:pPr>
            <a:r>
              <a:rPr lang="en-US" sz="1600">
                <a:latin typeface="Calibri"/>
                <a:ea typeface="Calibri"/>
                <a:cs typeface="Calibri"/>
                <a:sym typeface="Calibri"/>
              </a:rPr>
              <a:t>Unguja: 26%   Pemba: 20%</a:t>
            </a:r>
            <a:endParaRPr sz="1600">
              <a:latin typeface="Calibri"/>
              <a:ea typeface="Calibri"/>
              <a:cs typeface="Calibri"/>
              <a:sym typeface="Calibri"/>
            </a:endParaRPr>
          </a:p>
          <a:p>
            <a:pPr marL="0" lvl="0" indent="0" algn="ctr" rtl="0">
              <a:spcBef>
                <a:spcPts val="0"/>
              </a:spcBef>
              <a:spcAft>
                <a:spcPts val="0"/>
              </a:spcAft>
              <a:buNone/>
            </a:pPr>
            <a:endParaRPr sz="1600">
              <a:latin typeface="Calibri"/>
              <a:ea typeface="Calibri"/>
              <a:cs typeface="Calibri"/>
              <a:sym typeface="Calibri"/>
            </a:endParaRPr>
          </a:p>
          <a:p>
            <a:pPr marL="0" lvl="0" indent="0" algn="ctr" rtl="0">
              <a:spcBef>
                <a:spcPts val="0"/>
              </a:spcBef>
              <a:spcAft>
                <a:spcPts val="0"/>
              </a:spcAft>
              <a:buNone/>
            </a:pPr>
            <a:r>
              <a:rPr lang="en-US" sz="1600" b="1">
                <a:latin typeface="Calibri"/>
                <a:ea typeface="Calibri"/>
                <a:cs typeface="Calibri"/>
                <a:sym typeface="Calibri"/>
              </a:rPr>
              <a:t>Residence</a:t>
            </a:r>
            <a:r>
              <a:rPr lang="en-US" sz="1600">
                <a:latin typeface="Calibri"/>
                <a:ea typeface="Calibri"/>
                <a:cs typeface="Calibri"/>
                <a:sym typeface="Calibri"/>
              </a:rPr>
              <a:t>**:</a:t>
            </a:r>
            <a:endParaRPr sz="1600">
              <a:latin typeface="Calibri"/>
              <a:ea typeface="Calibri"/>
              <a:cs typeface="Calibri"/>
              <a:sym typeface="Calibri"/>
            </a:endParaRPr>
          </a:p>
          <a:p>
            <a:pPr marL="0" lvl="0" indent="0" algn="ctr" rtl="0">
              <a:spcBef>
                <a:spcPts val="0"/>
              </a:spcBef>
              <a:spcAft>
                <a:spcPts val="0"/>
              </a:spcAft>
              <a:buNone/>
            </a:pPr>
            <a:r>
              <a:rPr lang="en-US" sz="1600">
                <a:latin typeface="Calibri"/>
                <a:ea typeface="Calibri"/>
                <a:cs typeface="Calibri"/>
                <a:sym typeface="Calibri"/>
              </a:rPr>
              <a:t>Urban: 28%     Rural: 21%</a:t>
            </a:r>
            <a:endParaRPr sz="1600">
              <a:latin typeface="Calibri"/>
              <a:ea typeface="Calibri"/>
              <a:cs typeface="Calibri"/>
              <a:sym typeface="Calibri"/>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355"/>
        <p:cNvGrpSpPr/>
        <p:nvPr/>
      </p:nvGrpSpPr>
      <p:grpSpPr>
        <a:xfrm>
          <a:off x="0" y="0"/>
          <a:ext cx="0" cy="0"/>
          <a:chOff x="0" y="0"/>
          <a:chExt cx="0" cy="0"/>
        </a:xfrm>
      </p:grpSpPr>
      <p:sp>
        <p:nvSpPr>
          <p:cNvPr id="356" name="Google Shape;356;g107a3637e0a_1_89"/>
          <p:cNvSpPr txBox="1">
            <a:spLocks noGrp="1"/>
          </p:cNvSpPr>
          <p:nvPr>
            <p:ph type="title"/>
          </p:nvPr>
        </p:nvSpPr>
        <p:spPr>
          <a:xfrm>
            <a:off x="623888" y="1709739"/>
            <a:ext cx="7886700" cy="2852700"/>
          </a:xfrm>
          <a:prstGeom prst="rect">
            <a:avLst/>
          </a:prstGeom>
        </p:spPr>
        <p:txBody>
          <a:bodyPr spcFirstLastPara="1" wrap="square" lIns="91425" tIns="45700" rIns="91425" bIns="45700" anchor="b" anchorCtr="0">
            <a:normAutofit/>
          </a:bodyPr>
          <a:lstStyle/>
          <a:p>
            <a:pPr marL="0" lvl="0" indent="0" algn="l" rtl="0">
              <a:spcBef>
                <a:spcPts val="0"/>
              </a:spcBef>
              <a:spcAft>
                <a:spcPts val="0"/>
              </a:spcAft>
              <a:buNone/>
            </a:pPr>
            <a:r>
              <a:rPr lang="en-US"/>
              <a:t>Reactive Case Detection (RCD)</a:t>
            </a:r>
            <a:endParaRPr/>
          </a:p>
        </p:txBody>
      </p:sp>
      <p:sp>
        <p:nvSpPr>
          <p:cNvPr id="357" name="Google Shape;357;g107a3637e0a_1_89"/>
          <p:cNvSpPr txBox="1">
            <a:spLocks noGrp="1"/>
          </p:cNvSpPr>
          <p:nvPr>
            <p:ph type="body" idx="1"/>
          </p:nvPr>
        </p:nvSpPr>
        <p:spPr>
          <a:xfrm>
            <a:off x="623888" y="4589464"/>
            <a:ext cx="7886700" cy="1500300"/>
          </a:xfrm>
          <a:prstGeom prst="rect">
            <a:avLst/>
          </a:prstGeom>
        </p:spPr>
        <p:txBody>
          <a:bodyPr spcFirstLastPara="1" wrap="square" lIns="91425" tIns="45700" rIns="91425" bIns="45700" anchor="t" anchorCtr="0">
            <a:noAutofit/>
          </a:bodyPr>
          <a:lstStyle/>
          <a:p>
            <a:pPr marL="0" lvl="0" indent="0" algn="l" rtl="0">
              <a:spcBef>
                <a:spcPts val="1000"/>
              </a:spcBef>
              <a:spcAft>
                <a:spcPts val="0"/>
              </a:spcAft>
              <a:buNone/>
            </a:pPr>
            <a:r>
              <a:rPr lang="en-US" sz="2100"/>
              <a:t>Households and individuals within a specific area are tested and treated for malaria at their home/community when malaria cases in that area become detected, with the goal of preventing further malaria transmission by identifying additional infections, whether symptomatic or asymptomatic, and treating them.</a:t>
            </a:r>
            <a:endParaRPr sz="330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362"/>
        <p:cNvGrpSpPr/>
        <p:nvPr/>
      </p:nvGrpSpPr>
      <p:grpSpPr>
        <a:xfrm>
          <a:off x="0" y="0"/>
          <a:ext cx="0" cy="0"/>
          <a:chOff x="0" y="0"/>
          <a:chExt cx="0" cy="0"/>
        </a:xfrm>
      </p:grpSpPr>
      <p:sp>
        <p:nvSpPr>
          <p:cNvPr id="363" name="Google Shape;363;g107a3637e0a_1_95"/>
          <p:cNvSpPr txBox="1">
            <a:spLocks noGrp="1"/>
          </p:cNvSpPr>
          <p:nvPr>
            <p:ph type="sldNum" idx="12"/>
          </p:nvPr>
        </p:nvSpPr>
        <p:spPr>
          <a:xfrm>
            <a:off x="1105230" y="6359608"/>
            <a:ext cx="7410000" cy="365100"/>
          </a:xfrm>
          <a:prstGeom prst="rect">
            <a:avLst/>
          </a:prstGeom>
        </p:spPr>
        <p:txBody>
          <a:bodyPr spcFirstLastPara="1" wrap="square" lIns="91425" tIns="45700" rIns="91425" bIns="45700" anchor="ctr" anchorCtr="0">
            <a:noAutofit/>
          </a:bodyPr>
          <a:lstStyle/>
          <a:p>
            <a:pPr marL="0" lvl="0" indent="0" algn="ctr" rtl="0">
              <a:spcBef>
                <a:spcPts val="0"/>
              </a:spcBef>
              <a:spcAft>
                <a:spcPts val="0"/>
              </a:spcAft>
              <a:buNone/>
            </a:pPr>
            <a:fld id="{00000000-1234-1234-1234-123412341234}" type="slidenum">
              <a:rPr lang="en-US"/>
              <a:t>45</a:t>
            </a:fld>
            <a:endParaRPr/>
          </a:p>
        </p:txBody>
      </p:sp>
      <p:pic>
        <p:nvPicPr>
          <p:cNvPr id="364" name="Google Shape;364;g107a3637e0a_1_95"/>
          <p:cNvPicPr preferRelativeResize="0"/>
          <p:nvPr/>
        </p:nvPicPr>
        <p:blipFill>
          <a:blip r:embed="rId3">
            <a:alphaModFix/>
          </a:blip>
          <a:stretch>
            <a:fillRect/>
          </a:stretch>
        </p:blipFill>
        <p:spPr>
          <a:xfrm>
            <a:off x="1021338" y="1147000"/>
            <a:ext cx="7101325" cy="4303825"/>
          </a:xfrm>
          <a:prstGeom prst="rect">
            <a:avLst/>
          </a:prstGeom>
          <a:noFill/>
          <a:ln>
            <a:noFill/>
          </a:ln>
        </p:spPr>
      </p:pic>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369"/>
        <p:cNvGrpSpPr/>
        <p:nvPr/>
      </p:nvGrpSpPr>
      <p:grpSpPr>
        <a:xfrm>
          <a:off x="0" y="0"/>
          <a:ext cx="0" cy="0"/>
          <a:chOff x="0" y="0"/>
          <a:chExt cx="0" cy="0"/>
        </a:xfrm>
      </p:grpSpPr>
      <p:sp>
        <p:nvSpPr>
          <p:cNvPr id="370" name="Google Shape;370;g107a3637e0a_1_108"/>
          <p:cNvSpPr txBox="1">
            <a:spLocks noGrp="1"/>
          </p:cNvSpPr>
          <p:nvPr>
            <p:ph type="title"/>
          </p:nvPr>
        </p:nvSpPr>
        <p:spPr>
          <a:xfrm>
            <a:off x="1105230" y="268076"/>
            <a:ext cx="7410000" cy="1325700"/>
          </a:xfrm>
          <a:prstGeom prst="rect">
            <a:avLst/>
          </a:prstGeom>
        </p:spPr>
        <p:txBody>
          <a:bodyPr spcFirstLastPara="1" wrap="square" lIns="91425" tIns="45700" rIns="91425" bIns="45700" anchor="ctr" anchorCtr="0">
            <a:normAutofit/>
          </a:bodyPr>
          <a:lstStyle/>
          <a:p>
            <a:pPr marL="0" lvl="0" indent="0" algn="l" rtl="0">
              <a:spcBef>
                <a:spcPts val="0"/>
              </a:spcBef>
              <a:spcAft>
                <a:spcPts val="0"/>
              </a:spcAft>
              <a:buNone/>
            </a:pPr>
            <a:r>
              <a:rPr lang="en-US"/>
              <a:t>Ideational Determinants of RCD</a:t>
            </a:r>
            <a:endParaRPr/>
          </a:p>
        </p:txBody>
      </p:sp>
      <p:sp>
        <p:nvSpPr>
          <p:cNvPr id="371" name="Google Shape;371;g107a3637e0a_1_108"/>
          <p:cNvSpPr txBox="1">
            <a:spLocks noGrp="1"/>
          </p:cNvSpPr>
          <p:nvPr>
            <p:ph type="sldNum" idx="12"/>
          </p:nvPr>
        </p:nvSpPr>
        <p:spPr>
          <a:xfrm>
            <a:off x="1105230" y="6359608"/>
            <a:ext cx="7410000" cy="365100"/>
          </a:xfrm>
          <a:prstGeom prst="rect">
            <a:avLst/>
          </a:prstGeom>
        </p:spPr>
        <p:txBody>
          <a:bodyPr spcFirstLastPara="1" wrap="square" lIns="91425" tIns="45700" rIns="91425" bIns="45700" anchor="ctr" anchorCtr="0">
            <a:noAutofit/>
          </a:bodyPr>
          <a:lstStyle/>
          <a:p>
            <a:pPr marL="0" lvl="0" indent="0" algn="ctr" rtl="0">
              <a:spcBef>
                <a:spcPts val="0"/>
              </a:spcBef>
              <a:spcAft>
                <a:spcPts val="0"/>
              </a:spcAft>
              <a:buNone/>
            </a:pPr>
            <a:fld id="{00000000-1234-1234-1234-123412341234}" type="slidenum">
              <a:rPr lang="en-US"/>
              <a:t>46</a:t>
            </a:fld>
            <a:endParaRPr/>
          </a:p>
        </p:txBody>
      </p:sp>
      <p:pic>
        <p:nvPicPr>
          <p:cNvPr id="372" name="Google Shape;372;g107a3637e0a_1_108"/>
          <p:cNvPicPr preferRelativeResize="0"/>
          <p:nvPr/>
        </p:nvPicPr>
        <p:blipFill>
          <a:blip r:embed="rId3">
            <a:alphaModFix/>
          </a:blip>
          <a:stretch>
            <a:fillRect/>
          </a:stretch>
        </p:blipFill>
        <p:spPr>
          <a:xfrm>
            <a:off x="992763" y="1324425"/>
            <a:ext cx="7158477" cy="4890002"/>
          </a:xfrm>
          <a:prstGeom prst="rect">
            <a:avLst/>
          </a:prstGeom>
          <a:noFill/>
          <a:ln>
            <a:noFill/>
          </a:ln>
        </p:spPr>
      </p:pic>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377"/>
        <p:cNvGrpSpPr/>
        <p:nvPr/>
      </p:nvGrpSpPr>
      <p:grpSpPr>
        <a:xfrm>
          <a:off x="0" y="0"/>
          <a:ext cx="0" cy="0"/>
          <a:chOff x="0" y="0"/>
          <a:chExt cx="0" cy="0"/>
        </a:xfrm>
      </p:grpSpPr>
      <p:sp>
        <p:nvSpPr>
          <p:cNvPr id="378" name="Google Shape;378;g107d85dcbfc_2_1"/>
          <p:cNvSpPr txBox="1">
            <a:spLocks noGrp="1"/>
          </p:cNvSpPr>
          <p:nvPr>
            <p:ph type="title"/>
          </p:nvPr>
        </p:nvSpPr>
        <p:spPr>
          <a:xfrm>
            <a:off x="1105230" y="365126"/>
            <a:ext cx="7410000" cy="1325700"/>
          </a:xfrm>
          <a:prstGeom prst="rect">
            <a:avLst/>
          </a:prstGeom>
        </p:spPr>
        <p:txBody>
          <a:bodyPr spcFirstLastPara="1" wrap="square" lIns="91425" tIns="45700" rIns="91425" bIns="45700" anchor="ctr" anchorCtr="0">
            <a:normAutofit/>
          </a:bodyPr>
          <a:lstStyle/>
          <a:p>
            <a:pPr marL="0" lvl="0" indent="0" algn="l" rtl="0">
              <a:spcBef>
                <a:spcPts val="0"/>
              </a:spcBef>
              <a:spcAft>
                <a:spcPts val="0"/>
              </a:spcAft>
              <a:buNone/>
            </a:pPr>
            <a:r>
              <a:rPr lang="en-US"/>
              <a:t>Reactive Case Detection Coverage</a:t>
            </a:r>
            <a:endParaRPr/>
          </a:p>
        </p:txBody>
      </p:sp>
      <p:sp>
        <p:nvSpPr>
          <p:cNvPr id="379" name="Google Shape;379;g107d85dcbfc_2_1"/>
          <p:cNvSpPr txBox="1">
            <a:spLocks noGrp="1"/>
          </p:cNvSpPr>
          <p:nvPr>
            <p:ph type="sldNum" idx="12"/>
          </p:nvPr>
        </p:nvSpPr>
        <p:spPr>
          <a:xfrm>
            <a:off x="1105230" y="6359608"/>
            <a:ext cx="7410000" cy="365100"/>
          </a:xfrm>
          <a:prstGeom prst="rect">
            <a:avLst/>
          </a:prstGeom>
        </p:spPr>
        <p:txBody>
          <a:bodyPr spcFirstLastPara="1" wrap="square" lIns="91425" tIns="45700" rIns="91425" bIns="45700" anchor="ctr" anchorCtr="0">
            <a:noAutofit/>
          </a:bodyPr>
          <a:lstStyle/>
          <a:p>
            <a:pPr marL="0" lvl="0" indent="0" algn="ctr" rtl="0">
              <a:spcBef>
                <a:spcPts val="0"/>
              </a:spcBef>
              <a:spcAft>
                <a:spcPts val="0"/>
              </a:spcAft>
              <a:buClr>
                <a:srgbClr val="000000"/>
              </a:buClr>
              <a:buFont typeface="Arial"/>
              <a:buNone/>
            </a:pPr>
            <a:fld id="{00000000-1234-1234-1234-123412341234}" type="slidenum">
              <a:rPr lang="en-US"/>
              <a:t>47</a:t>
            </a:fld>
            <a:endParaRPr/>
          </a:p>
        </p:txBody>
      </p:sp>
      <p:pic>
        <p:nvPicPr>
          <p:cNvPr id="380" name="Google Shape;380;g107d85dcbfc_2_1"/>
          <p:cNvPicPr preferRelativeResize="0"/>
          <p:nvPr/>
        </p:nvPicPr>
        <p:blipFill>
          <a:blip r:embed="rId3">
            <a:alphaModFix/>
          </a:blip>
          <a:stretch>
            <a:fillRect/>
          </a:stretch>
        </p:blipFill>
        <p:spPr>
          <a:xfrm>
            <a:off x="152400" y="1487376"/>
            <a:ext cx="8839201" cy="3011876"/>
          </a:xfrm>
          <a:prstGeom prst="rect">
            <a:avLst/>
          </a:prstGeom>
          <a:noFill/>
          <a:ln>
            <a:noFill/>
          </a:ln>
        </p:spPr>
      </p:pic>
      <p:sp>
        <p:nvSpPr>
          <p:cNvPr id="381" name="Google Shape;381;g107d85dcbfc_2_1"/>
          <p:cNvSpPr txBox="1"/>
          <p:nvPr/>
        </p:nvSpPr>
        <p:spPr>
          <a:xfrm>
            <a:off x="3380475" y="4499250"/>
            <a:ext cx="2517900" cy="14931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US" sz="1700" b="1">
                <a:latin typeface="Calibri"/>
                <a:ea typeface="Calibri"/>
                <a:cs typeface="Calibri"/>
                <a:sym typeface="Calibri"/>
              </a:rPr>
              <a:t>Zone</a:t>
            </a:r>
            <a:r>
              <a:rPr lang="en-US" sz="1700">
                <a:latin typeface="Calibri"/>
                <a:ea typeface="Calibri"/>
                <a:cs typeface="Calibri"/>
                <a:sym typeface="Calibri"/>
              </a:rPr>
              <a:t>***:</a:t>
            </a:r>
            <a:endParaRPr sz="1700">
              <a:latin typeface="Calibri"/>
              <a:ea typeface="Calibri"/>
              <a:cs typeface="Calibri"/>
              <a:sym typeface="Calibri"/>
            </a:endParaRPr>
          </a:p>
          <a:p>
            <a:pPr marL="0" lvl="0" indent="0" algn="ctr" rtl="0">
              <a:spcBef>
                <a:spcPts val="0"/>
              </a:spcBef>
              <a:spcAft>
                <a:spcPts val="0"/>
              </a:spcAft>
              <a:buNone/>
            </a:pPr>
            <a:r>
              <a:rPr lang="en-US" sz="1700">
                <a:latin typeface="Calibri"/>
                <a:ea typeface="Calibri"/>
                <a:cs typeface="Calibri"/>
                <a:sym typeface="Calibri"/>
              </a:rPr>
              <a:t>Unguja: 31%   Pemba: 46%</a:t>
            </a:r>
            <a:endParaRPr sz="1700">
              <a:latin typeface="Calibri"/>
              <a:ea typeface="Calibri"/>
              <a:cs typeface="Calibri"/>
              <a:sym typeface="Calibri"/>
            </a:endParaRPr>
          </a:p>
          <a:p>
            <a:pPr marL="0" lvl="0" indent="0" algn="ctr" rtl="0">
              <a:spcBef>
                <a:spcPts val="0"/>
              </a:spcBef>
              <a:spcAft>
                <a:spcPts val="0"/>
              </a:spcAft>
              <a:buNone/>
            </a:pPr>
            <a:endParaRPr sz="1700">
              <a:latin typeface="Calibri"/>
              <a:ea typeface="Calibri"/>
              <a:cs typeface="Calibri"/>
              <a:sym typeface="Calibri"/>
            </a:endParaRPr>
          </a:p>
          <a:p>
            <a:pPr marL="0" lvl="0" indent="0" algn="ctr" rtl="0">
              <a:spcBef>
                <a:spcPts val="0"/>
              </a:spcBef>
              <a:spcAft>
                <a:spcPts val="0"/>
              </a:spcAft>
              <a:buNone/>
            </a:pPr>
            <a:r>
              <a:rPr lang="en-US" sz="1700" b="1">
                <a:latin typeface="Calibri"/>
                <a:ea typeface="Calibri"/>
                <a:cs typeface="Calibri"/>
                <a:sym typeface="Calibri"/>
              </a:rPr>
              <a:t>Transmission Risk</a:t>
            </a:r>
            <a:r>
              <a:rPr lang="en-US" sz="1700">
                <a:latin typeface="Calibri"/>
                <a:ea typeface="Calibri"/>
                <a:cs typeface="Calibri"/>
                <a:sym typeface="Calibri"/>
              </a:rPr>
              <a:t>***:</a:t>
            </a:r>
            <a:endParaRPr sz="1700">
              <a:latin typeface="Calibri"/>
              <a:ea typeface="Calibri"/>
              <a:cs typeface="Calibri"/>
              <a:sym typeface="Calibri"/>
            </a:endParaRPr>
          </a:p>
          <a:p>
            <a:pPr marL="0" lvl="0" indent="0" algn="ctr" rtl="0">
              <a:spcBef>
                <a:spcPts val="0"/>
              </a:spcBef>
              <a:spcAft>
                <a:spcPts val="0"/>
              </a:spcAft>
              <a:buNone/>
            </a:pPr>
            <a:r>
              <a:rPr lang="en-US" sz="1700">
                <a:latin typeface="Calibri"/>
                <a:ea typeface="Calibri"/>
                <a:cs typeface="Calibri"/>
                <a:sym typeface="Calibri"/>
              </a:rPr>
              <a:t>Higher: 48%     Lower: 24%</a:t>
            </a:r>
            <a:endParaRPr sz="1700">
              <a:latin typeface="Calibri"/>
              <a:ea typeface="Calibri"/>
              <a:cs typeface="Calibri"/>
              <a:sym typeface="Calibri"/>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Shape 386"/>
        <p:cNvGrpSpPr/>
        <p:nvPr/>
      </p:nvGrpSpPr>
      <p:grpSpPr>
        <a:xfrm>
          <a:off x="0" y="0"/>
          <a:ext cx="0" cy="0"/>
          <a:chOff x="0" y="0"/>
          <a:chExt cx="0" cy="0"/>
        </a:xfrm>
      </p:grpSpPr>
      <p:sp>
        <p:nvSpPr>
          <p:cNvPr id="387" name="Google Shape;387;g107a3637e0a_1_102"/>
          <p:cNvSpPr txBox="1">
            <a:spLocks noGrp="1"/>
          </p:cNvSpPr>
          <p:nvPr>
            <p:ph type="title"/>
          </p:nvPr>
        </p:nvSpPr>
        <p:spPr>
          <a:xfrm>
            <a:off x="623888" y="1709739"/>
            <a:ext cx="7886700" cy="2852700"/>
          </a:xfrm>
          <a:prstGeom prst="rect">
            <a:avLst/>
          </a:prstGeom>
        </p:spPr>
        <p:txBody>
          <a:bodyPr spcFirstLastPara="1" wrap="square" lIns="91425" tIns="45700" rIns="91425" bIns="45700" anchor="b" anchorCtr="0">
            <a:normAutofit/>
          </a:bodyPr>
          <a:lstStyle/>
          <a:p>
            <a:pPr marL="0" lvl="0" indent="0" algn="l" rtl="0">
              <a:spcBef>
                <a:spcPts val="0"/>
              </a:spcBef>
              <a:spcAft>
                <a:spcPts val="0"/>
              </a:spcAft>
              <a:buNone/>
            </a:pPr>
            <a:r>
              <a:rPr lang="en-US"/>
              <a:t>Mass Drug Administration (MDA)</a:t>
            </a:r>
            <a:endParaRPr/>
          </a:p>
        </p:txBody>
      </p:sp>
      <p:sp>
        <p:nvSpPr>
          <p:cNvPr id="388" name="Google Shape;388;g107a3637e0a_1_102"/>
          <p:cNvSpPr txBox="1">
            <a:spLocks noGrp="1"/>
          </p:cNvSpPr>
          <p:nvPr>
            <p:ph type="body" idx="1"/>
          </p:nvPr>
        </p:nvSpPr>
        <p:spPr>
          <a:xfrm>
            <a:off x="623888" y="4589464"/>
            <a:ext cx="7886700" cy="1500300"/>
          </a:xfrm>
          <a:prstGeom prst="rect">
            <a:avLst/>
          </a:prstGeom>
        </p:spPr>
        <p:txBody>
          <a:bodyPr spcFirstLastPara="1" wrap="square" lIns="91425" tIns="45700" rIns="91425" bIns="45700" anchor="t" anchorCtr="0">
            <a:normAutofit/>
          </a:bodyPr>
          <a:lstStyle/>
          <a:p>
            <a:pPr marL="0" lvl="0" indent="0" algn="l" rtl="0">
              <a:spcBef>
                <a:spcPts val="1000"/>
              </a:spcBef>
              <a:spcAft>
                <a:spcPts val="0"/>
              </a:spcAft>
              <a:buNone/>
            </a:pPr>
            <a:endParaRP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Shape 393"/>
        <p:cNvGrpSpPr/>
        <p:nvPr/>
      </p:nvGrpSpPr>
      <p:grpSpPr>
        <a:xfrm>
          <a:off x="0" y="0"/>
          <a:ext cx="0" cy="0"/>
          <a:chOff x="0" y="0"/>
          <a:chExt cx="0" cy="0"/>
        </a:xfrm>
      </p:grpSpPr>
      <p:sp>
        <p:nvSpPr>
          <p:cNvPr id="394" name="Google Shape;394;g107a3637e0a_1_132"/>
          <p:cNvSpPr txBox="1">
            <a:spLocks noGrp="1"/>
          </p:cNvSpPr>
          <p:nvPr>
            <p:ph type="sldNum" idx="12"/>
          </p:nvPr>
        </p:nvSpPr>
        <p:spPr>
          <a:xfrm>
            <a:off x="1105230" y="6359608"/>
            <a:ext cx="7410000" cy="365100"/>
          </a:xfrm>
          <a:prstGeom prst="rect">
            <a:avLst/>
          </a:prstGeom>
        </p:spPr>
        <p:txBody>
          <a:bodyPr spcFirstLastPara="1" wrap="square" lIns="91425" tIns="45700" rIns="91425" bIns="45700" anchor="ctr" anchorCtr="0">
            <a:noAutofit/>
          </a:bodyPr>
          <a:lstStyle/>
          <a:p>
            <a:pPr marL="0" lvl="0" indent="0" algn="ctr" rtl="0">
              <a:spcBef>
                <a:spcPts val="0"/>
              </a:spcBef>
              <a:spcAft>
                <a:spcPts val="0"/>
              </a:spcAft>
              <a:buClr>
                <a:srgbClr val="000000"/>
              </a:buClr>
              <a:buFont typeface="Arial"/>
              <a:buNone/>
            </a:pPr>
            <a:fld id="{00000000-1234-1234-1234-123412341234}" type="slidenum">
              <a:rPr lang="en-US"/>
              <a:t>49</a:t>
            </a:fld>
            <a:endParaRPr/>
          </a:p>
        </p:txBody>
      </p:sp>
      <p:pic>
        <p:nvPicPr>
          <p:cNvPr id="395" name="Google Shape;395;g107a3637e0a_1_132"/>
          <p:cNvPicPr preferRelativeResize="0"/>
          <p:nvPr/>
        </p:nvPicPr>
        <p:blipFill>
          <a:blip r:embed="rId3">
            <a:alphaModFix/>
          </a:blip>
          <a:stretch>
            <a:fillRect/>
          </a:stretch>
        </p:blipFill>
        <p:spPr>
          <a:xfrm>
            <a:off x="733975" y="815425"/>
            <a:ext cx="7676050" cy="3097350"/>
          </a:xfrm>
          <a:prstGeom prst="rect">
            <a:avLst/>
          </a:prstGeom>
          <a:noFill/>
          <a:ln>
            <a:noFill/>
          </a:ln>
        </p:spPr>
      </p:pic>
      <p:sp>
        <p:nvSpPr>
          <p:cNvPr id="396" name="Google Shape;396;g107a3637e0a_1_132"/>
          <p:cNvSpPr txBox="1"/>
          <p:nvPr/>
        </p:nvSpPr>
        <p:spPr>
          <a:xfrm>
            <a:off x="733950" y="4140675"/>
            <a:ext cx="7676100" cy="1647000"/>
          </a:xfrm>
          <a:prstGeom prst="rect">
            <a:avLst/>
          </a:prstGeom>
          <a:noFill/>
          <a:ln>
            <a:noFill/>
          </a:ln>
        </p:spPr>
        <p:txBody>
          <a:bodyPr spcFirstLastPara="1" wrap="square" lIns="91425" tIns="91425" rIns="91425" bIns="91425" anchor="t" anchorCtr="0">
            <a:spAutoFit/>
          </a:bodyPr>
          <a:lstStyle/>
          <a:p>
            <a:pPr marL="457200" lvl="0" indent="-349250" algn="l" rtl="0">
              <a:spcBef>
                <a:spcPts val="0"/>
              </a:spcBef>
              <a:spcAft>
                <a:spcPts val="0"/>
              </a:spcAft>
              <a:buSzPts val="1900"/>
              <a:buFont typeface="Calibri"/>
              <a:buChar char="-"/>
            </a:pPr>
            <a:r>
              <a:rPr lang="en-US" sz="1900">
                <a:latin typeface="Calibri"/>
                <a:ea typeface="Calibri"/>
                <a:cs typeface="Calibri"/>
                <a:sym typeface="Calibri"/>
              </a:rPr>
              <a:t>Awareness of MDA programs was </a:t>
            </a:r>
            <a:r>
              <a:rPr lang="en-US" sz="1900" u="sng">
                <a:latin typeface="Calibri"/>
                <a:ea typeface="Calibri"/>
                <a:cs typeface="Calibri"/>
                <a:sym typeface="Calibri"/>
              </a:rPr>
              <a:t>slightly higher</a:t>
            </a:r>
            <a:r>
              <a:rPr lang="en-US" sz="1900">
                <a:latin typeface="Calibri"/>
                <a:ea typeface="Calibri"/>
                <a:cs typeface="Calibri"/>
                <a:sym typeface="Calibri"/>
              </a:rPr>
              <a:t> in respondents with </a:t>
            </a:r>
            <a:r>
              <a:rPr lang="en-US" sz="1900" b="1">
                <a:latin typeface="Calibri"/>
                <a:ea typeface="Calibri"/>
                <a:cs typeface="Calibri"/>
                <a:sym typeface="Calibri"/>
              </a:rPr>
              <a:t>higher levels of education</a:t>
            </a:r>
            <a:r>
              <a:rPr lang="en-US" sz="1900">
                <a:latin typeface="Calibri"/>
                <a:ea typeface="Calibri"/>
                <a:cs typeface="Calibri"/>
                <a:sym typeface="Calibri"/>
              </a:rPr>
              <a:t>, in </a:t>
            </a:r>
            <a:r>
              <a:rPr lang="en-US" sz="1900" b="1">
                <a:latin typeface="Calibri"/>
                <a:ea typeface="Calibri"/>
                <a:cs typeface="Calibri"/>
                <a:sym typeface="Calibri"/>
              </a:rPr>
              <a:t>older</a:t>
            </a:r>
            <a:r>
              <a:rPr lang="en-US" sz="1900">
                <a:latin typeface="Calibri"/>
                <a:ea typeface="Calibri"/>
                <a:cs typeface="Calibri"/>
                <a:sym typeface="Calibri"/>
              </a:rPr>
              <a:t> respondents, and among </a:t>
            </a:r>
            <a:r>
              <a:rPr lang="en-US" sz="1900" b="1">
                <a:latin typeface="Calibri"/>
                <a:ea typeface="Calibri"/>
                <a:cs typeface="Calibri"/>
                <a:sym typeface="Calibri"/>
              </a:rPr>
              <a:t>male</a:t>
            </a:r>
            <a:r>
              <a:rPr lang="en-US" sz="1900">
                <a:latin typeface="Calibri"/>
                <a:ea typeface="Calibri"/>
                <a:cs typeface="Calibri"/>
                <a:sym typeface="Calibri"/>
              </a:rPr>
              <a:t> respondents.</a:t>
            </a:r>
            <a:endParaRPr sz="1900">
              <a:latin typeface="Calibri"/>
              <a:ea typeface="Calibri"/>
              <a:cs typeface="Calibri"/>
              <a:sym typeface="Calibri"/>
            </a:endParaRPr>
          </a:p>
          <a:p>
            <a:pPr marL="457200" lvl="0" indent="-349250" algn="l" rtl="0">
              <a:spcBef>
                <a:spcPts val="0"/>
              </a:spcBef>
              <a:spcAft>
                <a:spcPts val="0"/>
              </a:spcAft>
              <a:buSzPts val="1900"/>
              <a:buFont typeface="Calibri"/>
              <a:buChar char="-"/>
            </a:pPr>
            <a:r>
              <a:rPr lang="en-US" sz="1900" b="1">
                <a:latin typeface="Calibri"/>
                <a:ea typeface="Calibri"/>
                <a:cs typeface="Calibri"/>
                <a:sym typeface="Calibri"/>
              </a:rPr>
              <a:t>Urban respondents (75%) more likely to accept</a:t>
            </a:r>
            <a:r>
              <a:rPr lang="en-US" sz="1900">
                <a:latin typeface="Calibri"/>
                <a:ea typeface="Calibri"/>
                <a:cs typeface="Calibri"/>
                <a:sym typeface="Calibri"/>
              </a:rPr>
              <a:t> antimalarials from MDA than rural respondents (64%), even when not feeling sick.</a:t>
            </a:r>
            <a:endParaRPr sz="1900">
              <a:latin typeface="Calibri"/>
              <a:ea typeface="Calibri"/>
              <a:cs typeface="Calibri"/>
              <a:sym typeface="Calibri"/>
            </a:endParaRP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Shape 401"/>
        <p:cNvGrpSpPr/>
        <p:nvPr/>
      </p:nvGrpSpPr>
      <p:grpSpPr>
        <a:xfrm>
          <a:off x="0" y="0"/>
          <a:ext cx="0" cy="0"/>
          <a:chOff x="0" y="0"/>
          <a:chExt cx="0" cy="0"/>
        </a:xfrm>
      </p:grpSpPr>
      <p:sp>
        <p:nvSpPr>
          <p:cNvPr id="402" name="Google Shape;402;g107a3637e0a_1_141"/>
          <p:cNvSpPr txBox="1">
            <a:spLocks noGrp="1"/>
          </p:cNvSpPr>
          <p:nvPr>
            <p:ph type="title"/>
          </p:nvPr>
        </p:nvSpPr>
        <p:spPr>
          <a:xfrm>
            <a:off x="1105230" y="365126"/>
            <a:ext cx="7410000" cy="1325700"/>
          </a:xfrm>
          <a:prstGeom prst="rect">
            <a:avLst/>
          </a:prstGeom>
        </p:spPr>
        <p:txBody>
          <a:bodyPr spcFirstLastPara="1" wrap="square" lIns="91425" tIns="45700" rIns="91425" bIns="45700" anchor="ctr" anchorCtr="0">
            <a:normAutofit/>
          </a:bodyPr>
          <a:lstStyle/>
          <a:p>
            <a:pPr marL="0" lvl="0" indent="0" algn="l" rtl="0">
              <a:spcBef>
                <a:spcPts val="0"/>
              </a:spcBef>
              <a:spcAft>
                <a:spcPts val="0"/>
              </a:spcAft>
              <a:buNone/>
            </a:pPr>
            <a:r>
              <a:rPr lang="en-US"/>
              <a:t>MDA Coverage</a:t>
            </a:r>
            <a:endParaRPr/>
          </a:p>
        </p:txBody>
      </p:sp>
      <p:sp>
        <p:nvSpPr>
          <p:cNvPr id="403" name="Google Shape;403;g107a3637e0a_1_141"/>
          <p:cNvSpPr txBox="1">
            <a:spLocks noGrp="1"/>
          </p:cNvSpPr>
          <p:nvPr>
            <p:ph type="sldNum" idx="12"/>
          </p:nvPr>
        </p:nvSpPr>
        <p:spPr>
          <a:xfrm>
            <a:off x="1105230" y="6359608"/>
            <a:ext cx="7410000" cy="365100"/>
          </a:xfrm>
          <a:prstGeom prst="rect">
            <a:avLst/>
          </a:prstGeom>
        </p:spPr>
        <p:txBody>
          <a:bodyPr spcFirstLastPara="1" wrap="square" lIns="91425" tIns="45700" rIns="91425" bIns="45700" anchor="ctr" anchorCtr="0">
            <a:noAutofit/>
          </a:bodyPr>
          <a:lstStyle/>
          <a:p>
            <a:pPr marL="0" lvl="0" indent="0" algn="ctr" rtl="0">
              <a:spcBef>
                <a:spcPts val="0"/>
              </a:spcBef>
              <a:spcAft>
                <a:spcPts val="0"/>
              </a:spcAft>
              <a:buClr>
                <a:srgbClr val="000000"/>
              </a:buClr>
              <a:buFont typeface="Arial"/>
              <a:buNone/>
            </a:pPr>
            <a:fld id="{00000000-1234-1234-1234-123412341234}" type="slidenum">
              <a:rPr lang="en-US"/>
              <a:t>50</a:t>
            </a:fld>
            <a:endParaRPr/>
          </a:p>
        </p:txBody>
      </p:sp>
      <p:pic>
        <p:nvPicPr>
          <p:cNvPr id="404" name="Google Shape;404;g107a3637e0a_1_141"/>
          <p:cNvPicPr preferRelativeResize="0"/>
          <p:nvPr/>
        </p:nvPicPr>
        <p:blipFill>
          <a:blip r:embed="rId3">
            <a:alphaModFix/>
          </a:blip>
          <a:stretch>
            <a:fillRect/>
          </a:stretch>
        </p:blipFill>
        <p:spPr>
          <a:xfrm>
            <a:off x="609175" y="1843225"/>
            <a:ext cx="7757025" cy="3350075"/>
          </a:xfrm>
          <a:prstGeom prst="rect">
            <a:avLst/>
          </a:prstGeom>
          <a:noFill/>
          <a:ln>
            <a:noFill/>
          </a:ln>
        </p:spPr>
      </p:pic>
      <p:sp>
        <p:nvSpPr>
          <p:cNvPr id="405" name="Google Shape;405;g107a3637e0a_1_141"/>
          <p:cNvSpPr txBox="1"/>
          <p:nvPr/>
        </p:nvSpPr>
        <p:spPr>
          <a:xfrm>
            <a:off x="4628925" y="5193300"/>
            <a:ext cx="3367200" cy="923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Clr>
                <a:schemeClr val="dk1"/>
              </a:buClr>
              <a:buSzPts val="1100"/>
              <a:buFont typeface="Arial"/>
              <a:buNone/>
            </a:pPr>
            <a:r>
              <a:rPr lang="en-US" sz="1700">
                <a:solidFill>
                  <a:schemeClr val="dk1"/>
                </a:solidFill>
                <a:latin typeface="Calibri"/>
                <a:ea typeface="Calibri"/>
                <a:cs typeface="Calibri"/>
                <a:sym typeface="Calibri"/>
              </a:rPr>
              <a:t>Statistically significant difference by zone:  Unguja: 42%; Pemba: 21%</a:t>
            </a:r>
            <a:endParaRPr sz="1700">
              <a:solidFill>
                <a:schemeClr val="dk1"/>
              </a:solidFill>
              <a:latin typeface="Calibri"/>
              <a:ea typeface="Calibri"/>
              <a:cs typeface="Calibri"/>
              <a:sym typeface="Calibri"/>
            </a:endParaRPr>
          </a:p>
          <a:p>
            <a:pPr marL="0" lvl="0" indent="0" algn="l" rtl="0">
              <a:spcBef>
                <a:spcPts val="0"/>
              </a:spcBef>
              <a:spcAft>
                <a:spcPts val="0"/>
              </a:spcAft>
              <a:buNone/>
            </a:pPr>
            <a:endParaRPr>
              <a:latin typeface="Calibri"/>
              <a:ea typeface="Calibri"/>
              <a:cs typeface="Calibri"/>
              <a:sym typeface="Calibri"/>
            </a:endParaRP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Shape 410"/>
        <p:cNvGrpSpPr/>
        <p:nvPr/>
      </p:nvGrpSpPr>
      <p:grpSpPr>
        <a:xfrm>
          <a:off x="0" y="0"/>
          <a:ext cx="0" cy="0"/>
          <a:chOff x="0" y="0"/>
          <a:chExt cx="0" cy="0"/>
        </a:xfrm>
      </p:grpSpPr>
      <p:sp>
        <p:nvSpPr>
          <p:cNvPr id="411" name="Google Shape;411;p23"/>
          <p:cNvSpPr txBox="1">
            <a:spLocks noGrp="1"/>
          </p:cNvSpPr>
          <p:nvPr>
            <p:ph type="title"/>
          </p:nvPr>
        </p:nvSpPr>
        <p:spPr>
          <a:xfrm>
            <a:off x="623888" y="1709739"/>
            <a:ext cx="7886700" cy="28527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08A6E2"/>
              </a:buClr>
              <a:buSzPts val="3600"/>
              <a:buFont typeface="Calibri"/>
              <a:buNone/>
            </a:pPr>
            <a:r>
              <a:rPr lang="en-US" sz="3600"/>
              <a:t>Questions, Comments, Suggestions </a:t>
            </a:r>
            <a:endParaRPr/>
          </a:p>
        </p:txBody>
      </p:sp>
      <p:sp>
        <p:nvSpPr>
          <p:cNvPr id="412" name="Google Shape;412;p23"/>
          <p:cNvSpPr txBox="1">
            <a:spLocks noGrp="1"/>
          </p:cNvSpPr>
          <p:nvPr>
            <p:ph type="body" idx="1"/>
          </p:nvPr>
        </p:nvSpPr>
        <p:spPr>
          <a:xfrm>
            <a:off x="623888" y="4589464"/>
            <a:ext cx="7886700" cy="1500300"/>
          </a:xfrm>
          <a:prstGeom prst="rect">
            <a:avLst/>
          </a:prstGeom>
        </p:spPr>
        <p:txBody>
          <a:bodyPr spcFirstLastPara="1" wrap="square" lIns="91425" tIns="45700" rIns="91425" bIns="45700" anchor="t" anchorCtr="0">
            <a:normAutofit/>
          </a:bodyPr>
          <a:lstStyle/>
          <a:p>
            <a:pPr marL="0" lvl="0" indent="0" algn="l" rtl="0">
              <a:spcBef>
                <a:spcPts val="1000"/>
              </a:spcBef>
              <a:spcAft>
                <a:spcPts val="0"/>
              </a:spcAft>
              <a:buNone/>
            </a:pPr>
            <a:endParaRPr/>
          </a:p>
        </p:txBody>
      </p:sp>
    </p:spTree>
  </p:cSld>
  <p:clrMapOvr>
    <a:masterClrMapping/>
  </p:clrMapOvr>
</p:sld>
</file>

<file path=ppt/theme/theme1.xml><?xml version="1.0" encoding="utf-8"?>
<a:theme xmlns:a="http://schemas.openxmlformats.org/drawingml/2006/main" name="Office Theme">
  <a:themeElements>
    <a:clrScheme name="Office Them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TotalTime>
  <Words>2035</Words>
  <Application>Microsoft Office PowerPoint</Application>
  <PresentationFormat>On-screen Show (4:3)</PresentationFormat>
  <Paragraphs>240</Paragraphs>
  <Slides>51</Slides>
  <Notes>51</Notes>
  <HiddenSlides>2</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51</vt:i4>
      </vt:variant>
    </vt:vector>
  </HeadingPairs>
  <TitlesOfParts>
    <vt:vector size="57" baseType="lpstr">
      <vt:lpstr>Arial</vt:lpstr>
      <vt:lpstr>Calibri</vt:lpstr>
      <vt:lpstr>Courier New</vt:lpstr>
      <vt:lpstr>Noto Sans Symbols</vt:lpstr>
      <vt:lpstr>Times New Roman</vt:lpstr>
      <vt:lpstr>Office Theme</vt:lpstr>
      <vt:lpstr>Zanzibar Low-Transmission Malaria Behavior Survey (MBS): Key Findings</vt:lpstr>
      <vt:lpstr>Zanzibar Low-Transmission Malaria Behavior Survey (MBS): Key Findings</vt:lpstr>
      <vt:lpstr>MBS Study Objectives, Methods, Design</vt:lpstr>
      <vt:lpstr>MBS Objectives</vt:lpstr>
      <vt:lpstr>Conceptual Framework</vt:lpstr>
      <vt:lpstr>Methodology: Sample size</vt:lpstr>
      <vt:lpstr>PowerPoint Presentation</vt:lpstr>
      <vt:lpstr>Methodology: Sampling strategy</vt:lpstr>
      <vt:lpstr>PowerPoint Presentation</vt:lpstr>
      <vt:lpstr>Respondent Characteristics</vt:lpstr>
      <vt:lpstr>PowerPoint Presentation</vt:lpstr>
      <vt:lpstr>PowerPoint Presentation</vt:lpstr>
      <vt:lpstr>Cross-cutting Ideational Factors</vt:lpstr>
      <vt:lpstr>PowerPoint Presentation</vt:lpstr>
      <vt:lpstr>Ideational Factors: Malaria</vt:lpstr>
      <vt:lpstr>Ideational Factors</vt:lpstr>
      <vt:lpstr>Attitudes towards health providers and workers</vt:lpstr>
      <vt:lpstr>Malaria Case Management</vt:lpstr>
      <vt:lpstr>Knowledge: Care-seeking &amp; Treatment</vt:lpstr>
      <vt:lpstr>Ideational Factors: Malaria Case Management</vt:lpstr>
      <vt:lpstr>PowerPoint Presentation</vt:lpstr>
      <vt:lpstr>Mosquito Net/ Insecticide-Treated Net Use</vt:lpstr>
      <vt:lpstr>Ideational Factors Associated with Mosquito Nets</vt:lpstr>
      <vt:lpstr>Ideational Determinants of Net Use</vt:lpstr>
      <vt:lpstr>Key UNfavorable Attitudes towards Mosquito Nets</vt:lpstr>
      <vt:lpstr>Ideational Determinants of Net Use</vt:lpstr>
      <vt:lpstr>Household Net and ITN Access</vt:lpstr>
      <vt:lpstr>Use of Available Nets (n=1289)</vt:lpstr>
      <vt:lpstr>PowerPoint Presentation</vt:lpstr>
      <vt:lpstr>PowerPoint Presentation</vt:lpstr>
      <vt:lpstr>Indoor Residual Spraying (IRS)</vt:lpstr>
      <vt:lpstr>IRS Awareness</vt:lpstr>
      <vt:lpstr>PowerPoint Presentation</vt:lpstr>
      <vt:lpstr>Ideational Determinants of IRS </vt:lpstr>
      <vt:lpstr>PowerPoint Presentation</vt:lpstr>
      <vt:lpstr>PowerPoint Presentation</vt:lpstr>
      <vt:lpstr>Larval Source Management:  Larviciding</vt:lpstr>
      <vt:lpstr>PowerPoint Presentation</vt:lpstr>
      <vt:lpstr>Ideational Determinants of Larviciding </vt:lpstr>
      <vt:lpstr>Larviciding coverage</vt:lpstr>
      <vt:lpstr>Media Consumption &amp;  Message Recall</vt:lpstr>
      <vt:lpstr>Media Access &amp; Consumption (from Individual Questionnaire; N=1745)</vt:lpstr>
      <vt:lpstr>Malaria Message Recall</vt:lpstr>
      <vt:lpstr>Reactive Case Detection (RCD)</vt:lpstr>
      <vt:lpstr>PowerPoint Presentation</vt:lpstr>
      <vt:lpstr>Ideational Determinants of RCD</vt:lpstr>
      <vt:lpstr>Reactive Case Detection Coverage</vt:lpstr>
      <vt:lpstr>Mass Drug Administration (MDA)</vt:lpstr>
      <vt:lpstr>PowerPoint Presentation</vt:lpstr>
      <vt:lpstr>MDA Coverage</vt:lpstr>
      <vt:lpstr>Questions, Comments, Suggestions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Zanzibar Low-Transmission Malaria Behavior Survey (MBS): Key Findings</dc:title>
  <dc:creator>CCP</dc:creator>
  <cp:lastModifiedBy>DAWA</cp:lastModifiedBy>
  <cp:revision>2</cp:revision>
  <dcterms:created xsi:type="dcterms:W3CDTF">2018-01-23T22:41:11Z</dcterms:created>
  <dcterms:modified xsi:type="dcterms:W3CDTF">2024-10-15T06:56:08Z</dcterms:modified>
</cp:coreProperties>
</file>